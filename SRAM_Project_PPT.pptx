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7" r:id="rId3"/>
    <p:sldId id="259" r:id="rId5"/>
    <p:sldId id="260" r:id="rId6"/>
    <p:sldId id="310" r:id="rId7"/>
    <p:sldId id="301" r:id="rId8"/>
    <p:sldId id="302" r:id="rId9"/>
    <p:sldId id="311" r:id="rId10"/>
    <p:sldId id="314" r:id="rId11"/>
    <p:sldId id="324" r:id="rId12"/>
    <p:sldId id="320" r:id="rId13"/>
    <p:sldId id="315" r:id="rId14"/>
    <p:sldId id="328" r:id="rId15"/>
    <p:sldId id="329" r:id="rId16"/>
    <p:sldId id="330" r:id="rId17"/>
    <p:sldId id="331" r:id="rId18"/>
    <p:sldId id="326" r:id="rId19"/>
    <p:sldId id="332" r:id="rId20"/>
    <p:sldId id="327" r:id="rId21"/>
    <p:sldId id="308" r:id="rId22"/>
    <p:sldId id="309"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6" Type="http://schemas.openxmlformats.org/officeDocument/2006/relationships/tableStyles" Target="tableStyles.xml"/><Relationship Id="rId25" Type="http://schemas.openxmlformats.org/officeDocument/2006/relationships/viewProps" Target="viewProps.xml"/><Relationship Id="rId24" Type="http://schemas.openxmlformats.org/officeDocument/2006/relationships/presProps" Target="presProps.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C8A3565-0DD8-4A86-B185-F179E641CDB0}" type="slidenum">
              <a:rPr lang="en-US" smtClean="0"/>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GB"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696000" y="394405"/>
            <a:ext cx="10800000" cy="792000"/>
          </a:xfrm>
        </p:spPr>
        <p:txBody>
          <a:bodyPr lIns="0" tIns="0" rIns="0" bIns="0"/>
          <a:lstStyle>
            <a:lvl1pPr algn="ctr" fontAlgn="base">
              <a:defRPr sz="3200">
                <a:solidFill>
                  <a:schemeClr val="tx1">
                    <a:lumMod val="85000"/>
                    <a:lumOff val="15000"/>
                  </a:schemeClr>
                </a:solidFill>
                <a:latin typeface="+mj-lt"/>
              </a:defRPr>
            </a:lvl1pPr>
          </a:lstStyle>
          <a:p>
            <a:r>
              <a:rPr lang="en-US" dirty="0"/>
              <a:t>Click to add title</a:t>
            </a:r>
            <a:endParaRPr lang="en-US" dirty="0"/>
          </a:p>
        </p:txBody>
      </p:sp>
      <p:sp>
        <p:nvSpPr>
          <p:cNvPr id="3" name="日期占位符 2"/>
          <p:cNvSpPr>
            <a:spLocks noGrp="1"/>
          </p:cNvSpPr>
          <p:nvPr>
            <p:ph type="dt" sz="half" idx="10"/>
            <p:custDataLst>
              <p:tags r:id="rId3"/>
            </p:custDataLst>
          </p:nvPr>
        </p:nvSpPr>
        <p:spPr/>
        <p:txBody>
          <a:bodyPr/>
          <a:lstStyle>
            <a:lvl1pPr>
              <a:defRPr>
                <a:latin typeface="Arial" panose="020B0604020202020204" pitchFamily="34" charset="0"/>
                <a:sym typeface="Arial" panose="020B0604020202020204" pitchFamily="34" charset="0"/>
              </a:defRPr>
            </a:lvl1pPr>
          </a:lstStyle>
          <a:p>
            <a:r>
              <a:rPr lang="en-US"/>
              <a:t>Date Area</a:t>
            </a:r>
            <a:endParaRPr lang="en-US"/>
          </a:p>
        </p:txBody>
      </p:sp>
      <p:sp>
        <p:nvSpPr>
          <p:cNvPr id="4" name="页脚占位符 3"/>
          <p:cNvSpPr>
            <a:spLocks noGrp="1"/>
          </p:cNvSpPr>
          <p:nvPr>
            <p:ph type="ftr" sz="quarter" idx="11"/>
            <p:custDataLst>
              <p:tags r:id="rId4"/>
            </p:custDataLst>
          </p:nvPr>
        </p:nvSpPr>
        <p:spPr/>
        <p:txBody>
          <a:bodyPr/>
          <a:lstStyle>
            <a:lvl1pPr>
              <a:defRPr>
                <a:latin typeface="Arial" panose="020B0604020202020204" pitchFamily="34" charset="0"/>
                <a:sym typeface="Arial" panose="020B0604020202020204" pitchFamily="34" charset="0"/>
              </a:defRPr>
            </a:lvl1pPr>
          </a:lstStyle>
          <a:p>
            <a:endParaRPr lang="en-US" dirty="0"/>
          </a:p>
        </p:txBody>
      </p:sp>
      <p:sp>
        <p:nvSpPr>
          <p:cNvPr id="5" name="灯片编号占位符 4"/>
          <p:cNvSpPr>
            <a:spLocks noGrp="1"/>
          </p:cNvSpPr>
          <p:nvPr>
            <p:ph type="sldNum" sz="quarter" idx="12"/>
            <p:custDataLst>
              <p:tags r:id="rId5"/>
            </p:custDataLst>
          </p:nvPr>
        </p:nvSpPr>
        <p:spPr/>
        <p:txBody>
          <a:bodyPr/>
          <a:lstStyle>
            <a:lvl1pPr>
              <a:defRPr>
                <a:latin typeface="Arial" panose="020B0604020202020204" pitchFamily="34" charset="0"/>
                <a:sym typeface="Arial" panose="020B0604020202020204" pitchFamily="34" charset="0"/>
              </a:defRPr>
            </a:lvl1pPr>
          </a:lstStyle>
          <a:p>
            <a:fld id="{49AE70B2-8BF9-45C0-BB95-33D1B9D3A854}" type="slidenum">
              <a:rPr lang="en-US" smtClean="0"/>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2.xml"/><Relationship Id="rId3" Type="http://schemas.openxmlformats.org/officeDocument/2006/relationships/tags" Target="../tags/tag5.xml"/><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6.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png"/><Relationship Id="rId1" Type="http://schemas.openxmlformats.org/officeDocument/2006/relationships/tags" Target="../tags/tag7.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6" Type="http://schemas.openxmlformats.org/officeDocument/2006/relationships/notesSlide" Target="../notesSlides/notesSlide2.xml"/><Relationship Id="rId5" Type="http://schemas.openxmlformats.org/officeDocument/2006/relationships/slideLayout" Target="../slideLayouts/slideLayout7.xml"/><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2.png"/></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2.png"/></Relationships>
</file>

<file path=ppt/slides/_rels/slide15.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12.png"/><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2.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9.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0.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1.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p:cNvPicPr>
            <a:picLocks noGrp="1" noChangeAspect="1"/>
          </p:cNvPicPr>
          <p:nvPr>
            <p:ph idx="1"/>
          </p:nvPr>
        </p:nvPicPr>
        <p:blipFill>
          <a:blip r:embed="rId1"/>
          <a:stretch>
            <a:fillRect/>
          </a:stretch>
        </p:blipFill>
        <p:spPr>
          <a:xfrm>
            <a:off x="839657" y="1825624"/>
            <a:ext cx="10512686" cy="4351338"/>
          </a:xfrm>
          <a:prstGeom prst="rect">
            <a:avLst/>
          </a:prstGeom>
        </p:spPr>
      </p:pic>
      <p:sp>
        <p:nvSpPr>
          <p:cNvPr id="8" name="AutoShape 4" descr="C:\Users\EC\Desktop\cropped-cddfv-1024x112.webp"/>
          <p:cNvSpPr>
            <a:spLocks noChangeAspect="1" noChangeArrowheads="1"/>
          </p:cNvSpPr>
          <p:nvPr/>
        </p:nvSpPr>
        <p:spPr bwMode="auto">
          <a:xfrm>
            <a:off x="1612900" y="1673224"/>
            <a:ext cx="44831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9" name="AutoShape 6" descr="C:\Users\EC\Desktop\cropped-cddfv-1024x112.webp"/>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10" name="AutoShape 8" descr="C:\Users\EC\Desktop\cropped-cddfv-1024x112.webp"/>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pic>
        <p:nvPicPr>
          <p:cNvPr id="11" name="Picture 10"/>
          <p:cNvPicPr>
            <a:picLocks noChangeAspect="1"/>
          </p:cNvPicPr>
          <p:nvPr/>
        </p:nvPicPr>
        <p:blipFill>
          <a:blip r:embed="rId2"/>
          <a:stretch>
            <a:fillRect/>
          </a:stretch>
        </p:blipFill>
        <p:spPr>
          <a:xfrm>
            <a:off x="765175" y="160337"/>
            <a:ext cx="9753600" cy="1066800"/>
          </a:xfrm>
          <a:prstGeom prst="rect">
            <a:avLst/>
          </a:prstGeom>
        </p:spPr>
      </p:pic>
      <p:sp>
        <p:nvSpPr>
          <p:cNvPr id="12" name="TextBox 11"/>
          <p:cNvSpPr txBox="1"/>
          <p:nvPr/>
        </p:nvSpPr>
        <p:spPr>
          <a:xfrm>
            <a:off x="2381250" y="2592070"/>
            <a:ext cx="8138160" cy="600075"/>
          </a:xfrm>
          <a:prstGeom prst="rect">
            <a:avLst/>
          </a:prstGeom>
          <a:noFill/>
        </p:spPr>
        <p:txBody>
          <a:bodyPr wrap="square" rtlCol="0">
            <a:noAutofit/>
          </a:bodyPr>
          <a:lstStyle/>
          <a:p>
            <a:pPr algn="ctr"/>
            <a:r>
              <a:rPr lang="en-US" altLang="en-US" sz="2000" b="1" dirty="0">
                <a:latin typeface="Times New Roman" panose="02020603050405020304" charset="0"/>
                <a:cs typeface="Times New Roman" panose="02020603050405020304" charset="0"/>
              </a:rPr>
              <a:t>“ Design And Analysis of a Low-Power 6T SRAM Cell ” </a:t>
            </a:r>
            <a:endParaRPr lang="en-US" altLang="en-US" sz="2000" b="1" dirty="0">
              <a:latin typeface="Times New Roman" panose="02020603050405020304" charset="0"/>
              <a:cs typeface="Times New Roman" panose="02020603050405020304" charset="0"/>
            </a:endParaRPr>
          </a:p>
        </p:txBody>
      </p:sp>
      <p:sp>
        <p:nvSpPr>
          <p:cNvPr id="14" name="TextBox 13"/>
          <p:cNvSpPr txBox="1"/>
          <p:nvPr/>
        </p:nvSpPr>
        <p:spPr>
          <a:xfrm>
            <a:off x="4594225" y="5130165"/>
            <a:ext cx="3002915" cy="1198880"/>
          </a:xfrm>
          <a:prstGeom prst="rect">
            <a:avLst/>
          </a:prstGeom>
          <a:noFill/>
        </p:spPr>
        <p:txBody>
          <a:bodyPr wrap="square" rtlCol="0">
            <a:spAutoFit/>
          </a:bodyPr>
          <a:lstStyle/>
          <a:p>
            <a:pPr algn="ctr"/>
            <a:r>
              <a:rPr lang="en-US" dirty="0">
                <a:latin typeface="Times New Roman" panose="02020603050405020304" charset="0"/>
                <a:cs typeface="Times New Roman" panose="02020603050405020304" charset="0"/>
              </a:rPr>
              <a:t>Under the Guidance of</a:t>
            </a:r>
            <a:endParaRPr lang="en-US" dirty="0">
              <a:latin typeface="Times New Roman" panose="02020603050405020304" charset="0"/>
              <a:cs typeface="Times New Roman" panose="02020603050405020304" charset="0"/>
            </a:endParaRPr>
          </a:p>
          <a:p>
            <a:pPr algn="ctr"/>
            <a:r>
              <a:rPr lang="en-US" dirty="0">
                <a:latin typeface="Times New Roman" panose="02020603050405020304" charset="0"/>
                <a:cs typeface="Times New Roman" panose="02020603050405020304" charset="0"/>
              </a:rPr>
              <a:t>Prof : Rashmi </a:t>
            </a:r>
            <a:r>
              <a:rPr lang="en-GB" altLang="en-US" dirty="0">
                <a:latin typeface="Times New Roman" panose="02020603050405020304" charset="0"/>
                <a:cs typeface="Times New Roman" panose="02020603050405020304" charset="0"/>
              </a:rPr>
              <a:t>P</a:t>
            </a:r>
            <a:endParaRPr lang="en-IN" altLang="en-GB" dirty="0">
              <a:latin typeface="Times New Roman" panose="02020603050405020304" charset="0"/>
              <a:cs typeface="Times New Roman" panose="02020603050405020304" charset="0"/>
            </a:endParaRPr>
          </a:p>
          <a:p>
            <a:pPr algn="ctr"/>
            <a:r>
              <a:rPr lang="en-US" altLang="en-IN" dirty="0">
                <a:latin typeface="Times New Roman" panose="02020603050405020304" charset="0"/>
                <a:cs typeface="Times New Roman" panose="02020603050405020304" charset="0"/>
              </a:rPr>
              <a:t>Dr : Swati M</a:t>
            </a:r>
            <a:endParaRPr lang="en-US" dirty="0">
              <a:latin typeface="Times New Roman" panose="02020603050405020304" charset="0"/>
              <a:cs typeface="Times New Roman" panose="02020603050405020304" charset="0"/>
            </a:endParaRPr>
          </a:p>
          <a:p>
            <a:pPr algn="ctr"/>
            <a:endParaRPr lang="en-US" dirty="0">
              <a:latin typeface="Times New Roman" panose="02020603050405020304" charset="0"/>
              <a:cs typeface="Times New Roman" panose="02020603050405020304" charset="0"/>
            </a:endParaRPr>
          </a:p>
        </p:txBody>
      </p:sp>
      <p:sp>
        <p:nvSpPr>
          <p:cNvPr id="15" name="Footer Placeholder 14"/>
          <p:cNvSpPr>
            <a:spLocks noGrp="1"/>
          </p:cNvSpPr>
          <p:nvPr>
            <p:ph type="ftr" sz="quarter" idx="11"/>
          </p:nvPr>
        </p:nvSpPr>
        <p:spPr/>
        <p:txBody>
          <a:bodyPr/>
          <a:lstStyle/>
          <a:p>
            <a:r>
              <a:rPr lang="en-US"/>
              <a:t>Dept. of ECE</a:t>
            </a:r>
            <a:endParaRPr lang="en-US"/>
          </a:p>
        </p:txBody>
      </p:sp>
      <p:sp>
        <p:nvSpPr>
          <p:cNvPr id="16" name="Slide Number Placeholder 15"/>
          <p:cNvSpPr>
            <a:spLocks noGrp="1"/>
          </p:cNvSpPr>
          <p:nvPr>
            <p:ph type="sldNum" sz="quarter" idx="12"/>
          </p:nvPr>
        </p:nvSpPr>
        <p:spPr/>
        <p:txBody>
          <a:bodyPr/>
          <a:lstStyle/>
          <a:p>
            <a:fld id="{14664CE2-A199-492D-95BF-8BD1FF457610}" type="slidenum">
              <a:rPr lang="en-US" smtClean="0"/>
            </a:fld>
            <a:endParaRPr lang="en-US"/>
          </a:p>
        </p:txBody>
      </p:sp>
      <p:sp>
        <p:nvSpPr>
          <p:cNvPr id="17" name="TextBox 16"/>
          <p:cNvSpPr txBox="1"/>
          <p:nvPr/>
        </p:nvSpPr>
        <p:spPr>
          <a:xfrm>
            <a:off x="2696026" y="1510782"/>
            <a:ext cx="7594600" cy="460375"/>
          </a:xfrm>
          <a:prstGeom prst="rect">
            <a:avLst/>
          </a:prstGeom>
          <a:noFill/>
        </p:spPr>
        <p:txBody>
          <a:bodyPr wrap="none" rtlCol="0">
            <a:spAutoFit/>
          </a:bodyPr>
          <a:lstStyle/>
          <a:p>
            <a:r>
              <a:rPr lang="en-US" sz="2400" dirty="0">
                <a:latin typeface="Times New Roman" panose="02020603050405020304" charset="0"/>
                <a:cs typeface="Times New Roman" panose="02020603050405020304" charset="0"/>
              </a:rPr>
              <a:t>Department of Electronics and Communication Engineering </a:t>
            </a:r>
            <a:endParaRPr lang="en-US" sz="2400" dirty="0">
              <a:latin typeface="Times New Roman" panose="02020603050405020304" charset="0"/>
              <a:cs typeface="Times New Roman" panose="02020603050405020304" charset="0"/>
            </a:endParaRPr>
          </a:p>
        </p:txBody>
      </p:sp>
      <p:sp>
        <p:nvSpPr>
          <p:cNvPr id="3" name="Text Box 2"/>
          <p:cNvSpPr txBox="1"/>
          <p:nvPr/>
        </p:nvSpPr>
        <p:spPr>
          <a:xfrm>
            <a:off x="4146550" y="2223770"/>
            <a:ext cx="4064000" cy="368300"/>
          </a:xfrm>
          <a:prstGeom prst="rect">
            <a:avLst/>
          </a:prstGeom>
          <a:noFill/>
        </p:spPr>
        <p:txBody>
          <a:bodyPr wrap="square" rtlCol="0">
            <a:spAutoFit/>
          </a:bodyPr>
          <a:p>
            <a:pPr algn="ctr">
              <a:defRPr lang="en-US"/>
            </a:pPr>
            <a:r>
              <a:rPr lang="en-US">
                <a:latin typeface="Times New Roman" panose="02020603050405020304" charset="0"/>
                <a:cs typeface="Times New Roman" panose="02020603050405020304" charset="0"/>
              </a:rPr>
              <a:t>SENIOR DESIGN PROJECT</a:t>
            </a:r>
            <a:endParaRPr lang="en-US">
              <a:latin typeface="Times New Roman" panose="02020603050405020304" charset="0"/>
              <a:cs typeface="Times New Roman" panose="02020603050405020304" charset="0"/>
            </a:endParaRPr>
          </a:p>
        </p:txBody>
      </p:sp>
      <p:graphicFrame>
        <p:nvGraphicFramePr>
          <p:cNvPr id="4" name="Table1"/>
          <p:cNvGraphicFramePr>
            <a:graphicFrameLocks noGrp="1"/>
          </p:cNvGraphicFramePr>
          <p:nvPr>
            <p:custDataLst>
              <p:tags r:id="rId3"/>
            </p:custDataLst>
          </p:nvPr>
        </p:nvGraphicFramePr>
        <p:xfrm>
          <a:off x="4146550" y="3239770"/>
          <a:ext cx="4064000" cy="1670050"/>
        </p:xfrm>
        <a:graphic>
          <a:graphicData uri="http://schemas.openxmlformats.org/drawingml/2006/table">
            <a:tbl>
              <a:tblPr>
                <a:noFill/>
              </a:tblPr>
              <a:tblGrid>
                <a:gridCol w="935355"/>
                <a:gridCol w="3128645"/>
              </a:tblGrid>
              <a:tr h="334010">
                <a:tc>
                  <a:txBody>
                    <a:bodyPr/>
                    <a:p>
                      <a:pPr marL="0" marR="0" indent="0" algn="ctr">
                        <a:buNone/>
                        <a:defRPr lang="en-US" b="1" cap="none">
                          <a:solidFill>
                            <a:srgbClr val="FFFFFF"/>
                          </a:solidFill>
                        </a:defRPr>
                      </a:pPr>
                      <a:r>
                        <a:rPr lang="en-US" sz="1600" cap="none">
                          <a:solidFill>
                            <a:schemeClr val="tx1">
                              <a:lumMod val="85000"/>
                              <a:lumOff val="15000"/>
                            </a:schemeClr>
                          </a:solidFill>
                          <a:latin typeface="Times New Roman" panose="02020603050405020304" charset="0"/>
                          <a:cs typeface="Times New Roman" panose="02020603050405020304" charset="0"/>
                        </a:rPr>
                        <a:t>SL.NO.</a:t>
                      </a:r>
                      <a:endParaRPr lang="en-US" sz="1600" cap="none">
                        <a:solidFill>
                          <a:schemeClr val="tx1">
                            <a:lumMod val="85000"/>
                            <a:lumOff val="15000"/>
                          </a:schemeClr>
                        </a:solidFill>
                        <a:latin typeface="Times New Roman" panose="02020603050405020304" charset="0"/>
                        <a:cs typeface="Times New Roman" panose="02020603050405020304" charset="0"/>
                      </a:endParaRPr>
                    </a:p>
                  </a:txBody>
                  <a:tcPr marL="90170" marR="90170" marT="45085" marB="45085">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38100" cap="flat" cmpd="sng" algn="ctr">
                      <a:solidFill>
                        <a:srgbClr val="FFFFFF"/>
                      </a:solidFill>
                      <a:prstDash val="solid"/>
                      <a:headEnd type="none"/>
                      <a:tailEnd type="none"/>
                    </a:lnB>
                    <a:lnTlToBr>
                      <a:noFill/>
                    </a:lnTlToBr>
                    <a:lnBlToTr>
                      <a:noFill/>
                    </a:lnBlToTr>
                    <a:solidFill>
                      <a:schemeClr val="accent1"/>
                    </a:solidFill>
                  </a:tcPr>
                </a:tc>
                <a:tc>
                  <a:txBody>
                    <a:bodyPr/>
                    <a:p>
                      <a:pPr marL="0" marR="0" indent="0" algn="ctr">
                        <a:buNone/>
                        <a:defRPr lang="en-US" b="1" cap="none">
                          <a:solidFill>
                            <a:srgbClr val="FFFFFF"/>
                          </a:solidFill>
                        </a:defRPr>
                      </a:pPr>
                      <a:r>
                        <a:rPr lang="en-US" sz="1600" cap="none">
                          <a:solidFill>
                            <a:schemeClr val="tx1">
                              <a:lumMod val="85000"/>
                              <a:lumOff val="15000"/>
                            </a:schemeClr>
                          </a:solidFill>
                          <a:latin typeface="Times New Roman" panose="02020603050405020304" charset="0"/>
                          <a:cs typeface="Times New Roman" panose="02020603050405020304" charset="0"/>
                        </a:rPr>
                        <a:t>NAME</a:t>
                      </a:r>
                      <a:endParaRPr lang="en-US" sz="1600" cap="none">
                        <a:solidFill>
                          <a:schemeClr val="tx1">
                            <a:lumMod val="85000"/>
                            <a:lumOff val="15000"/>
                          </a:schemeClr>
                        </a:solidFill>
                        <a:latin typeface="Times New Roman" panose="02020603050405020304" charset="0"/>
                        <a:cs typeface="Times New Roman" panose="02020603050405020304" charset="0"/>
                      </a:endParaRPr>
                    </a:p>
                  </a:txBody>
                  <a:tcPr marL="90170" marR="90170" marT="45085" marB="45085">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38100" cap="flat" cmpd="sng" algn="ctr">
                      <a:solidFill>
                        <a:srgbClr val="FFFFFF"/>
                      </a:solidFill>
                      <a:prstDash val="solid"/>
                      <a:headEnd type="none"/>
                      <a:tailEnd type="none"/>
                    </a:lnB>
                    <a:lnTlToBr>
                      <a:noFill/>
                    </a:lnTlToBr>
                    <a:lnBlToTr>
                      <a:noFill/>
                    </a:lnBlToTr>
                    <a:solidFill>
                      <a:schemeClr val="accent1"/>
                    </a:solidFill>
                  </a:tcPr>
                </a:tc>
              </a:tr>
              <a:tr h="334010">
                <a:tc>
                  <a:txBody>
                    <a:bodyPr/>
                    <a:p>
                      <a:pPr marL="0" marR="0" indent="0" algn="ctr">
                        <a:buNone/>
                        <a:defRPr lang="en-US" cap="none">
                          <a:solidFill>
                            <a:srgbClr val="000000"/>
                          </a:solidFill>
                        </a:defRPr>
                      </a:pPr>
                      <a:r>
                        <a:rPr lang="en-US" sz="1600" cap="none">
                          <a:latin typeface="Times New Roman" panose="02020603050405020304" charset="0"/>
                          <a:cs typeface="Times New Roman" panose="02020603050405020304" charset="0"/>
                        </a:rPr>
                        <a:t>01</a:t>
                      </a:r>
                      <a:endParaRPr lang="en-US" sz="1600" cap="none">
                        <a:latin typeface="Times New Roman" panose="02020603050405020304" charset="0"/>
                        <a:cs typeface="Times New Roman" panose="02020603050405020304" charset="0"/>
                      </a:endParaRPr>
                    </a:p>
                  </a:txBody>
                  <a:tcPr marL="90170" marR="90170" marT="45085" marB="45085">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38100" cap="flat" cmpd="sng" algn="ctr">
                      <a:solidFill>
                        <a:srgbClr val="FFFFFF"/>
                      </a:solidFill>
                      <a:prstDash val="solid"/>
                      <a:round/>
                      <a:headEnd type="none" w="med" len="med"/>
                      <a:tailEnd type="none" w="med" len="med"/>
                    </a:lnT>
                    <a:lnB w="12700" cap="flat" cmpd="sng" algn="ctr">
                      <a:solidFill>
                        <a:srgbClr val="FFFFFF"/>
                      </a:solidFill>
                      <a:prstDash val="solid"/>
                      <a:headEnd type="none"/>
                      <a:tailEnd type="none"/>
                    </a:lnB>
                    <a:lnTlToBr>
                      <a:noFill/>
                    </a:lnTlToBr>
                    <a:lnBlToTr>
                      <a:noFill/>
                    </a:lnBlToTr>
                    <a:solidFill>
                      <a:schemeClr val="accent1">
                        <a:lumMod val="40000"/>
                        <a:lumOff val="60000"/>
                      </a:schemeClr>
                    </a:solidFill>
                  </a:tcPr>
                </a:tc>
                <a:tc>
                  <a:txBody>
                    <a:bodyPr/>
                    <a:p>
                      <a:pPr marL="0" marR="0" indent="0" algn="ctr">
                        <a:buNone/>
                        <a:defRPr lang="en-US" cap="none">
                          <a:solidFill>
                            <a:srgbClr val="000000"/>
                          </a:solidFill>
                        </a:defRPr>
                      </a:pPr>
                      <a:r>
                        <a:rPr sz="1600" dirty="0">
                          <a:latin typeface="Times New Roman" panose="02020603050405020304" charset="0"/>
                          <a:cs typeface="Times New Roman" panose="02020603050405020304" charset="0"/>
                          <a:sym typeface="+mn-ea"/>
                        </a:rPr>
                        <a:t>Sakshi More</a:t>
                      </a:r>
                      <a:endParaRPr sz="1600" dirty="0">
                        <a:latin typeface="Times New Roman" panose="02020603050405020304" charset="0"/>
                        <a:cs typeface="Times New Roman" panose="02020603050405020304" charset="0"/>
                        <a:sym typeface="+mn-ea"/>
                      </a:endParaRPr>
                    </a:p>
                  </a:txBody>
                  <a:tcPr marL="90170" marR="90170" marT="45085" marB="45085">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38100" cap="flat" cmpd="sng" algn="ctr">
                      <a:solidFill>
                        <a:srgbClr val="FFFFFF"/>
                      </a:solidFill>
                      <a:prstDash val="solid"/>
                      <a:round/>
                      <a:headEnd type="none" w="med" len="med"/>
                      <a:tailEnd type="none" w="med" len="med"/>
                    </a:lnT>
                    <a:lnB w="12700" cap="flat" cmpd="sng" algn="ctr">
                      <a:solidFill>
                        <a:srgbClr val="FFFFFF"/>
                      </a:solidFill>
                      <a:prstDash val="solid"/>
                      <a:headEnd type="none"/>
                      <a:tailEnd type="none"/>
                    </a:lnB>
                    <a:lnTlToBr>
                      <a:noFill/>
                    </a:lnTlToBr>
                    <a:lnBlToTr>
                      <a:noFill/>
                    </a:lnBlToTr>
                    <a:solidFill>
                      <a:schemeClr val="accent1">
                        <a:lumMod val="40000"/>
                        <a:lumOff val="60000"/>
                      </a:schemeClr>
                    </a:solidFill>
                  </a:tcPr>
                </a:tc>
              </a:tr>
              <a:tr h="334010">
                <a:tc>
                  <a:txBody>
                    <a:bodyPr/>
                    <a:p>
                      <a:pPr marL="0" marR="0" indent="0" algn="ctr">
                        <a:buNone/>
                        <a:defRPr lang="en-US" cap="none">
                          <a:solidFill>
                            <a:srgbClr val="000000"/>
                          </a:solidFill>
                        </a:defRPr>
                      </a:pPr>
                      <a:r>
                        <a:rPr lang="en-US" sz="1600" cap="none">
                          <a:latin typeface="Times New Roman" panose="02020603050405020304" charset="0"/>
                          <a:cs typeface="Times New Roman" panose="02020603050405020304" charset="0"/>
                        </a:rPr>
                        <a:t>02</a:t>
                      </a:r>
                      <a:endParaRPr lang="en-US" sz="1600" cap="none">
                        <a:latin typeface="Times New Roman" panose="02020603050405020304" charset="0"/>
                        <a:cs typeface="Times New Roman" panose="02020603050405020304" charset="0"/>
                      </a:endParaRPr>
                    </a:p>
                  </a:txBody>
                  <a:tcPr marL="90170" marR="90170" marT="45085" marB="45085">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chemeClr val="accent1">
                        <a:lumMod val="40000"/>
                        <a:lumOff val="60000"/>
                      </a:schemeClr>
                    </a:solidFill>
                  </a:tcPr>
                </a:tc>
                <a:tc>
                  <a:txBody>
                    <a:bodyPr/>
                    <a:p>
                      <a:pPr marL="0" marR="0" indent="0" algn="ctr">
                        <a:buNone/>
                        <a:defRPr lang="en-US" cap="none">
                          <a:solidFill>
                            <a:srgbClr val="000000"/>
                          </a:solidFill>
                        </a:defRPr>
                      </a:pPr>
                      <a:r>
                        <a:rPr sz="1600" dirty="0">
                          <a:latin typeface="Times New Roman" panose="02020603050405020304" charset="0"/>
                          <a:cs typeface="Times New Roman" panose="02020603050405020304" charset="0"/>
                          <a:sym typeface="+mn-ea"/>
                        </a:rPr>
                        <a:t>Sejal Jadhav      </a:t>
                      </a:r>
                      <a:endParaRPr sz="1600" dirty="0">
                        <a:latin typeface="Times New Roman" panose="02020603050405020304" charset="0"/>
                        <a:cs typeface="Times New Roman" panose="02020603050405020304" charset="0"/>
                        <a:sym typeface="+mn-ea"/>
                      </a:endParaRPr>
                    </a:p>
                  </a:txBody>
                  <a:tcPr marL="90170" marR="90170" marT="45085" marB="45085">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chemeClr val="accent1">
                        <a:lumMod val="40000"/>
                        <a:lumOff val="60000"/>
                      </a:schemeClr>
                    </a:solidFill>
                  </a:tcPr>
                </a:tc>
              </a:tr>
              <a:tr h="334010">
                <a:tc>
                  <a:txBody>
                    <a:bodyPr/>
                    <a:p>
                      <a:pPr marL="0" marR="0" indent="0" algn="ctr">
                        <a:buNone/>
                        <a:defRPr lang="en-US" cap="none">
                          <a:solidFill>
                            <a:srgbClr val="000000"/>
                          </a:solidFill>
                        </a:defRPr>
                      </a:pPr>
                      <a:r>
                        <a:rPr lang="en-US" sz="1600" cap="none">
                          <a:latin typeface="Times New Roman" panose="02020603050405020304" charset="0"/>
                          <a:cs typeface="Times New Roman" panose="02020603050405020304" charset="0"/>
                        </a:rPr>
                        <a:t>03</a:t>
                      </a:r>
                      <a:endParaRPr lang="en-US" sz="1600" cap="none">
                        <a:latin typeface="Times New Roman" panose="02020603050405020304" charset="0"/>
                        <a:cs typeface="Times New Roman" panose="02020603050405020304" charset="0"/>
                      </a:endParaRPr>
                    </a:p>
                  </a:txBody>
                  <a:tcPr marL="90170" marR="90170" marT="45085" marB="45085">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chemeClr val="accent1">
                        <a:lumMod val="40000"/>
                        <a:lumOff val="60000"/>
                      </a:schemeClr>
                    </a:solidFill>
                  </a:tcPr>
                </a:tc>
                <a:tc>
                  <a:txBody>
                    <a:bodyPr/>
                    <a:p>
                      <a:pPr marL="0" marR="0" indent="0" algn="ctr">
                        <a:buNone/>
                        <a:defRPr lang="en-US" cap="none">
                          <a:solidFill>
                            <a:srgbClr val="000000"/>
                          </a:solidFill>
                        </a:defRPr>
                      </a:pPr>
                      <a:r>
                        <a:rPr sz="1600" dirty="0" err="1">
                          <a:latin typeface="Times New Roman" panose="02020603050405020304" charset="0"/>
                          <a:cs typeface="Times New Roman" panose="02020603050405020304" charset="0"/>
                          <a:sym typeface="+mn-ea"/>
                        </a:rPr>
                        <a:t>Sanket</a:t>
                      </a:r>
                      <a:r>
                        <a:rPr sz="1600" dirty="0">
                          <a:latin typeface="Times New Roman" panose="02020603050405020304" charset="0"/>
                          <a:cs typeface="Times New Roman" panose="02020603050405020304" charset="0"/>
                          <a:sym typeface="+mn-ea"/>
                        </a:rPr>
                        <a:t> </a:t>
                      </a:r>
                      <a:r>
                        <a:rPr sz="1600" dirty="0" err="1">
                          <a:latin typeface="Times New Roman" panose="02020603050405020304" charset="0"/>
                          <a:cs typeface="Times New Roman" panose="02020603050405020304" charset="0"/>
                          <a:sym typeface="+mn-ea"/>
                        </a:rPr>
                        <a:t>Kammar</a:t>
                      </a:r>
                      <a:endParaRPr sz="1600" dirty="0" err="1">
                        <a:latin typeface="Times New Roman" panose="02020603050405020304" charset="0"/>
                        <a:cs typeface="Times New Roman" panose="02020603050405020304" charset="0"/>
                        <a:sym typeface="+mn-ea"/>
                      </a:endParaRPr>
                    </a:p>
                  </a:txBody>
                  <a:tcPr marL="90170" marR="90170" marT="45085" marB="45085">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chemeClr val="accent1">
                        <a:lumMod val="40000"/>
                        <a:lumOff val="60000"/>
                      </a:schemeClr>
                    </a:solidFill>
                  </a:tcPr>
                </a:tc>
              </a:tr>
              <a:tr h="334010">
                <a:tc>
                  <a:txBody>
                    <a:bodyPr/>
                    <a:p>
                      <a:pPr marL="0" marR="0" indent="0" algn="ctr">
                        <a:buNone/>
                        <a:defRPr lang="en-US" cap="none">
                          <a:solidFill>
                            <a:srgbClr val="000000"/>
                          </a:solidFill>
                        </a:defRPr>
                      </a:pPr>
                      <a:r>
                        <a:rPr lang="en-US" sz="1600" cap="none">
                          <a:latin typeface="Times New Roman" panose="02020603050405020304" charset="0"/>
                          <a:cs typeface="Times New Roman" panose="02020603050405020304" charset="0"/>
                        </a:rPr>
                        <a:t>04</a:t>
                      </a:r>
                      <a:endParaRPr lang="en-US" sz="1600" cap="none">
                        <a:latin typeface="Times New Roman" panose="02020603050405020304" charset="0"/>
                        <a:cs typeface="Times New Roman" panose="02020603050405020304" charset="0"/>
                      </a:endParaRPr>
                    </a:p>
                  </a:txBody>
                  <a:tcPr marL="90170" marR="90170" marT="45085" marB="45085">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chemeClr val="accent1">
                        <a:lumMod val="40000"/>
                        <a:lumOff val="60000"/>
                      </a:schemeClr>
                    </a:solidFill>
                  </a:tcPr>
                </a:tc>
                <a:tc>
                  <a:txBody>
                    <a:bodyPr/>
                    <a:p>
                      <a:pPr marL="0" marR="0" indent="0" algn="ctr">
                        <a:buNone/>
                        <a:defRPr lang="en-US" cap="none">
                          <a:solidFill>
                            <a:srgbClr val="000000"/>
                          </a:solidFill>
                        </a:defRPr>
                      </a:pPr>
                      <a:r>
                        <a:rPr sz="1600" dirty="0">
                          <a:latin typeface="Times New Roman" panose="02020603050405020304" charset="0"/>
                          <a:cs typeface="Times New Roman" panose="02020603050405020304" charset="0"/>
                          <a:sym typeface="+mn-ea"/>
                        </a:rPr>
                        <a:t>Aditya Donk     </a:t>
                      </a:r>
                      <a:endParaRPr sz="1600" dirty="0">
                        <a:latin typeface="Times New Roman" panose="02020603050405020304" charset="0"/>
                        <a:cs typeface="Times New Roman" panose="02020603050405020304" charset="0"/>
                        <a:sym typeface="+mn-ea"/>
                      </a:endParaRPr>
                    </a:p>
                  </a:txBody>
                  <a:tcPr marL="90170" marR="90170" marT="45085" marB="45085">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chemeClr val="accent1">
                        <a:lumMod val="40000"/>
                        <a:lumOff val="60000"/>
                      </a:schemeClr>
                    </a:solidFill>
                  </a:tcPr>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9160" y="235585"/>
            <a:ext cx="5197475" cy="1010920"/>
          </a:xfrm>
        </p:spPr>
        <p:txBody>
          <a:bodyPr/>
          <a:lstStyle/>
          <a:p>
            <a:pPr algn="l"/>
            <a:r>
              <a:rPr lang="en-US" sz="2800" b="1" dirty="0">
                <a:latin typeface="Times New Roman" panose="02020603050405020304" charset="0"/>
                <a:cs typeface="Times New Roman" panose="02020603050405020304" charset="0"/>
              </a:rPr>
              <a:t>Problem Statement</a:t>
            </a:r>
            <a:endParaRPr lang="en-US" sz="2800" b="1" dirty="0">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899160" y="1246505"/>
            <a:ext cx="10515600" cy="1015365"/>
          </a:xfrm>
        </p:spPr>
        <p:txBody>
          <a:bodyPr/>
          <a:lstStyle/>
          <a:p>
            <a:pPr marL="0" indent="0" algn="just">
              <a:buNone/>
            </a:pPr>
            <a:r>
              <a:rPr lang="en-US" altLang="en-US" sz="2000" dirty="0">
                <a:latin typeface="Times New Roman" panose="02020603050405020304" charset="0"/>
                <a:cs typeface="Times New Roman" panose="02020603050405020304" charset="0"/>
                <a:sym typeface="+mn-ea"/>
              </a:rPr>
              <a:t>Modern VLSI systems require fast, low-power, and area-efficient memory with stable performance across PVT variations. An optimized 6T SRAM cell can meet these requirements by ensuring reliable operation and reduced power consumption in advanced CMOS technologies.</a:t>
            </a:r>
            <a:endParaRPr lang="en-US" altLang="en-US" sz="2000" dirty="0">
              <a:latin typeface="Times New Roman" panose="02020603050405020304" charset="0"/>
              <a:cs typeface="Times New Roman" panose="02020603050405020304" charset="0"/>
              <a:sym typeface="+mn-ea"/>
            </a:endParaRPr>
          </a:p>
          <a:p>
            <a:pPr marL="0" indent="0" algn="just">
              <a:buNone/>
            </a:pPr>
            <a:endParaRPr lang="en-US" altLang="en-US" sz="2000" dirty="0">
              <a:latin typeface="Times New Roman" panose="02020603050405020304" charset="0"/>
              <a:cs typeface="Times New Roman" panose="02020603050405020304" charset="0"/>
              <a:sym typeface="+mn-ea"/>
            </a:endParaRPr>
          </a:p>
        </p:txBody>
      </p:sp>
      <p:sp>
        <p:nvSpPr>
          <p:cNvPr id="4" name="Footer Placeholder 3"/>
          <p:cNvSpPr>
            <a:spLocks noGrp="1"/>
          </p:cNvSpPr>
          <p:nvPr>
            <p:ph type="ftr" sz="quarter" idx="11"/>
          </p:nvPr>
        </p:nvSpPr>
        <p:spPr/>
        <p:txBody>
          <a:bodyPr/>
          <a:lstStyle/>
          <a:p>
            <a:r>
              <a:rPr lang="en-US"/>
              <a:t>Dept. of ECE</a:t>
            </a:r>
            <a:endParaRPr lang="en-US"/>
          </a:p>
        </p:txBody>
      </p:sp>
      <p:sp>
        <p:nvSpPr>
          <p:cNvPr id="5" name="Slide Number Placeholder 4"/>
          <p:cNvSpPr>
            <a:spLocks noGrp="1"/>
          </p:cNvSpPr>
          <p:nvPr>
            <p:ph type="sldNum" sz="quarter" idx="12"/>
          </p:nvPr>
        </p:nvSpPr>
        <p:spPr/>
        <p:txBody>
          <a:bodyPr/>
          <a:lstStyle/>
          <a:p>
            <a:fld id="{14664CE2-A199-492D-95BF-8BD1FF457610}" type="slidenum">
              <a:rPr lang="en-US" smtClean="0"/>
            </a:fld>
            <a:endParaRPr lang="en-US"/>
          </a:p>
        </p:txBody>
      </p:sp>
      <p:sp>
        <p:nvSpPr>
          <p:cNvPr id="7" name="Content Placeholder 2"/>
          <p:cNvSpPr>
            <a:spLocks noGrp="1"/>
          </p:cNvSpPr>
          <p:nvPr/>
        </p:nvSpPr>
        <p:spPr>
          <a:xfrm>
            <a:off x="899160" y="3192780"/>
            <a:ext cx="10515600" cy="28327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buNone/>
            </a:pPr>
            <a:r>
              <a:rPr lang="en-US" altLang="en-GB" sz="2000" dirty="0">
                <a:latin typeface="Times New Roman" panose="02020603050405020304" charset="0"/>
                <a:cs typeface="Times New Roman" panose="02020603050405020304" charset="0"/>
              </a:rPr>
              <a:t>Modern portable and embedded electronic systems demand on-chip memories that consume extremely low power without sacrificing data stability. There is a critical need to design a low-power 6T SRAM cell that can reduce both leakage power during standby and dynamic power during read/write operations, while ensuring sufficient noise margins, reliable operation across PVT variations, and minimal impact on silicon area.</a:t>
            </a:r>
            <a:endParaRPr lang="en-US" altLang="en-GB" sz="2000" dirty="0">
              <a:latin typeface="Times New Roman" panose="02020603050405020304" charset="0"/>
              <a:cs typeface="Times New Roman" panose="02020603050405020304" charset="0"/>
            </a:endParaRPr>
          </a:p>
        </p:txBody>
      </p:sp>
      <p:sp>
        <p:nvSpPr>
          <p:cNvPr id="8" name="Text Box 7"/>
          <p:cNvSpPr txBox="1"/>
          <p:nvPr/>
        </p:nvSpPr>
        <p:spPr>
          <a:xfrm>
            <a:off x="4664075" y="5939790"/>
            <a:ext cx="4064000" cy="368300"/>
          </a:xfrm>
          <a:prstGeom prst="rect">
            <a:avLst/>
          </a:prstGeom>
          <a:noFill/>
        </p:spPr>
        <p:txBody>
          <a:bodyPr wrap="square" rtlCol="0">
            <a:spAutoFit/>
          </a:bodyPr>
          <a:p>
            <a:endParaRPr lang="en-US"/>
          </a:p>
        </p:txBody>
      </p:sp>
      <p:sp>
        <p:nvSpPr>
          <p:cNvPr id="15" name="Title 1"/>
          <p:cNvSpPr>
            <a:spLocks noGrp="1"/>
          </p:cNvSpPr>
          <p:nvPr/>
        </p:nvSpPr>
        <p:spPr>
          <a:xfrm>
            <a:off x="899160" y="2112645"/>
            <a:ext cx="5197475" cy="101092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l"/>
            <a:endParaRPr lang="en-IN" altLang="en-US" sz="2800" b="1" dirty="0">
              <a:latin typeface="Times New Roman" panose="02020603050405020304" charset="0"/>
              <a:cs typeface="Times New Roman" panose="02020603050405020304" charset="0"/>
            </a:endParaRPr>
          </a:p>
          <a:p>
            <a:pPr algn="l"/>
            <a:r>
              <a:rPr lang="en-IN" altLang="en-US" sz="2800" b="1" dirty="0">
                <a:latin typeface="Times New Roman" panose="02020603050405020304" charset="0"/>
                <a:cs typeface="Times New Roman" panose="02020603050405020304" charset="0"/>
              </a:rPr>
              <a:t>Need</a:t>
            </a:r>
            <a:r>
              <a:rPr lang="en-US" sz="2800" b="1" dirty="0">
                <a:latin typeface="Times New Roman" panose="02020603050405020304" charset="0"/>
                <a:cs typeface="Times New Roman" panose="02020603050405020304" charset="0"/>
              </a:rPr>
              <a:t> Statement</a:t>
            </a:r>
            <a:endParaRPr lang="en-US" sz="2800" b="1" dirty="0">
              <a:latin typeface="Times New Roman" panose="02020603050405020304" charset="0"/>
              <a:cs typeface="Times New Roman" panose="02020603050405020304" charset="0"/>
            </a:endParaRPr>
          </a:p>
        </p:txBody>
      </p:sp>
      <p:pic>
        <p:nvPicPr>
          <p:cNvPr id="16" name="Picture 15"/>
          <p:cNvPicPr>
            <a:picLocks noChangeAspect="1"/>
          </p:cNvPicPr>
          <p:nvPr/>
        </p:nvPicPr>
        <p:blipFill>
          <a:blip r:embed="rId1"/>
          <a:stretch>
            <a:fillRect/>
          </a:stretch>
        </p:blipFill>
        <p:spPr>
          <a:xfrm>
            <a:off x="7590155" y="227965"/>
            <a:ext cx="4146550" cy="48069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10160"/>
            <a:ext cx="7321550" cy="1325880"/>
          </a:xfrm>
        </p:spPr>
        <p:txBody>
          <a:bodyPr/>
          <a:p>
            <a:r>
              <a:rPr lang="en-GB" altLang="en-US" sz="2800" b="1">
                <a:latin typeface="Times New Roman" panose="02020603050405020304" charset="0"/>
                <a:cs typeface="Times New Roman" panose="02020603050405020304" charset="0"/>
              </a:rPr>
              <a:t>Introduction</a:t>
            </a:r>
            <a:endParaRPr lang="en-GB" altLang="en-US" sz="2800"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838200" y="1336040"/>
            <a:ext cx="10515600" cy="4021455"/>
          </a:xfrm>
        </p:spPr>
        <p:txBody>
          <a:bodyPr>
            <a:noAutofit/>
          </a:bodyPr>
          <a:p>
            <a:pPr marL="0" indent="0" algn="just">
              <a:lnSpc>
                <a:spcPct val="90000"/>
              </a:lnSpc>
              <a:buNone/>
            </a:pPr>
            <a:r>
              <a:rPr lang="en-US" altLang="en-GB" sz="2400">
                <a:latin typeface="Times New Roman" panose="02020603050405020304" charset="0"/>
                <a:cs typeface="Times New Roman" panose="02020603050405020304" charset="0"/>
              </a:rPr>
              <a:t>This project focuses on the design and comparative analysis of a low-power 6T SRAM cell at 180nm, 90nm, and 45nm technology nodes using Cadence Virtuoso. The 6T SRAM cell is widely used in high-speed memory applications due to its simple structure, fast access time, and low power consumption. As technology scales down, transistors become smaller and faster, reducing dynamic power but introducing issues like increased leakage current, process variability, and reduced stability. Through simulation and analysis, this work evaluates how scaling affects SRAM performance parameters such as speed, power efficiency, and area, aiming to achieve an optimal balance between performance and reliability in advanced VLSI designs.</a:t>
            </a:r>
            <a:endParaRPr lang="en-US" altLang="en-GB" sz="2400">
              <a:latin typeface="Times New Roman" panose="02020603050405020304" charset="0"/>
              <a:cs typeface="Times New Roman" panose="02020603050405020304" charset="0"/>
            </a:endParaRPr>
          </a:p>
          <a:p>
            <a:pPr marL="0" indent="0" algn="just">
              <a:lnSpc>
                <a:spcPct val="90000"/>
              </a:lnSpc>
              <a:buNone/>
            </a:pPr>
            <a:endParaRPr lang="en-US" altLang="en-GB" sz="2400">
              <a:latin typeface="Times New Roman" panose="02020603050405020304" charset="0"/>
              <a:cs typeface="Times New Roman" panose="02020603050405020304" charset="0"/>
            </a:endParaRPr>
          </a:p>
        </p:txBody>
      </p:sp>
      <p:pic>
        <p:nvPicPr>
          <p:cNvPr id="16" name="Picture 15"/>
          <p:cNvPicPr>
            <a:picLocks noChangeAspect="1"/>
          </p:cNvPicPr>
          <p:nvPr/>
        </p:nvPicPr>
        <p:blipFill>
          <a:blip r:embed="rId1"/>
          <a:stretch>
            <a:fillRect/>
          </a:stretch>
        </p:blipFill>
        <p:spPr>
          <a:xfrm>
            <a:off x="7590155" y="227965"/>
            <a:ext cx="4146550" cy="48069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964565"/>
          </a:xfrm>
        </p:spPr>
        <p:txBody>
          <a:bodyPr/>
          <a:p>
            <a:r>
              <a:rPr lang="en-US" altLang="en-GB" sz="2800" b="1">
                <a:latin typeface="Times New Roman" panose="02020603050405020304" charset="0"/>
                <a:cs typeface="Times New Roman" panose="02020603050405020304" charset="0"/>
                <a:sym typeface="+mn-ea"/>
              </a:rPr>
              <a:t>Why Choose 6T SRAM?</a:t>
            </a:r>
            <a:endParaRPr lang="en-GB" altLang="en-US" sz="2800"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838200" y="1155065"/>
            <a:ext cx="10515600" cy="5022215"/>
          </a:xfrm>
        </p:spPr>
        <p:txBody>
          <a:bodyPr>
            <a:normAutofit/>
          </a:bodyPr>
          <a:p>
            <a:r>
              <a:rPr lang="en-US" altLang="en-GB" sz="2400">
                <a:latin typeface="Times New Roman" panose="02020603050405020304" charset="0"/>
                <a:cs typeface="Times New Roman" panose="02020603050405020304" charset="0"/>
              </a:rPr>
              <a:t>Compact Cell Size: Only 6 transistors per cell, saving area</a:t>
            </a:r>
            <a:endParaRPr lang="en-US" altLang="en-GB" sz="2400">
              <a:latin typeface="Times New Roman" panose="02020603050405020304" charset="0"/>
              <a:cs typeface="Times New Roman" panose="02020603050405020304" charset="0"/>
            </a:endParaRPr>
          </a:p>
          <a:p>
            <a:r>
              <a:rPr lang="en-US" altLang="en-GB" sz="2400">
                <a:latin typeface="Times New Roman" panose="02020603050405020304" charset="0"/>
                <a:cs typeface="Times New Roman" panose="02020603050405020304" charset="0"/>
              </a:rPr>
              <a:t>Low Power Consumption: Ideal for portable, battery-powered devices</a:t>
            </a:r>
            <a:endParaRPr lang="en-US" altLang="en-GB" sz="2400">
              <a:latin typeface="Times New Roman" panose="02020603050405020304" charset="0"/>
              <a:cs typeface="Times New Roman" panose="02020603050405020304" charset="0"/>
            </a:endParaRPr>
          </a:p>
          <a:p>
            <a:r>
              <a:rPr lang="en-US" altLang="en-GB" sz="2400">
                <a:latin typeface="Times New Roman" panose="02020603050405020304" charset="0"/>
                <a:cs typeface="Times New Roman" panose="02020603050405020304" charset="0"/>
              </a:rPr>
              <a:t>Fast Access: Quick read/write performance</a:t>
            </a:r>
            <a:endParaRPr lang="en-US" altLang="en-GB" sz="2400">
              <a:latin typeface="Times New Roman" panose="02020603050405020304" charset="0"/>
              <a:cs typeface="Times New Roman" panose="02020603050405020304" charset="0"/>
            </a:endParaRPr>
          </a:p>
          <a:p>
            <a:r>
              <a:rPr lang="en-US" altLang="en-GB" sz="2400">
                <a:latin typeface="Times New Roman" panose="02020603050405020304" charset="0"/>
                <a:cs typeface="Times New Roman" panose="02020603050405020304" charset="0"/>
              </a:rPr>
              <a:t>Stable &amp; Reliable: Good data retention and noise margins</a:t>
            </a:r>
            <a:endParaRPr lang="en-US" altLang="en-GB" sz="2400">
              <a:latin typeface="Times New Roman" panose="02020603050405020304" charset="0"/>
              <a:cs typeface="Times New Roman" panose="0202060305040502030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Text Box 5"/>
          <p:cNvSpPr txBox="1"/>
          <p:nvPr/>
        </p:nvSpPr>
        <p:spPr>
          <a:xfrm>
            <a:off x="817245" y="259080"/>
            <a:ext cx="4745355" cy="548005"/>
          </a:xfrm>
          <a:prstGeom prst="rect">
            <a:avLst/>
          </a:prstGeom>
          <a:noFill/>
        </p:spPr>
        <p:txBody>
          <a:bodyPr wrap="square" rtlCol="0">
            <a:noAutofit/>
          </a:bodyPr>
          <a:p>
            <a:r>
              <a:rPr lang="en-US" sz="2800" b="1" dirty="0">
                <a:latin typeface="Times New Roman" panose="02020603050405020304" charset="0"/>
                <a:cs typeface="Times New Roman" panose="02020603050405020304" charset="0"/>
                <a:sym typeface="+mn-ea"/>
              </a:rPr>
              <a:t>Literature Review</a:t>
            </a:r>
            <a:endParaRPr lang="en-US" sz="2800"/>
          </a:p>
        </p:txBody>
      </p:sp>
      <p:pic>
        <p:nvPicPr>
          <p:cNvPr id="7" name="Picture 6"/>
          <p:cNvPicPr>
            <a:picLocks noChangeAspect="1"/>
          </p:cNvPicPr>
          <p:nvPr/>
        </p:nvPicPr>
        <p:blipFill>
          <a:blip r:embed="rId1"/>
          <a:stretch>
            <a:fillRect/>
          </a:stretch>
        </p:blipFill>
        <p:spPr>
          <a:xfrm>
            <a:off x="7355840" y="153035"/>
            <a:ext cx="4146550" cy="480695"/>
          </a:xfrm>
          <a:prstGeom prst="rect">
            <a:avLst/>
          </a:prstGeom>
        </p:spPr>
      </p:pic>
      <p:graphicFrame>
        <p:nvGraphicFramePr>
          <p:cNvPr id="15" name="Table 14"/>
          <p:cNvGraphicFramePr/>
          <p:nvPr>
            <p:custDataLst>
              <p:tags r:id="rId2"/>
            </p:custDataLst>
          </p:nvPr>
        </p:nvGraphicFramePr>
        <p:xfrm>
          <a:off x="443230" y="956945"/>
          <a:ext cx="11290300" cy="5633720"/>
        </p:xfrm>
        <a:graphic>
          <a:graphicData uri="http://schemas.openxmlformats.org/drawingml/2006/table">
            <a:tbl>
              <a:tblPr firstRow="1" bandRow="1">
                <a:tableStyleId>{5C22544A-7EE6-4342-B048-85BDC9FD1C3A}</a:tableStyleId>
              </a:tblPr>
              <a:tblGrid>
                <a:gridCol w="988060"/>
                <a:gridCol w="2500630"/>
                <a:gridCol w="2846705"/>
                <a:gridCol w="2696845"/>
                <a:gridCol w="2258060"/>
              </a:tblGrid>
              <a:tr h="914400">
                <a:tc>
                  <a:txBody>
                    <a:bodyPr/>
                    <a:p>
                      <a:pPr>
                        <a:buNone/>
                      </a:pPr>
                      <a:r>
                        <a:rPr lang="en-GB" altLang="en-US" sz="1600">
                          <a:latin typeface="Times New Roman" panose="02020603050405020304" charset="0"/>
                          <a:cs typeface="Times New Roman" panose="02020603050405020304" charset="0"/>
                        </a:rPr>
                        <a:t>Sl No.</a:t>
                      </a:r>
                      <a:endParaRPr lang="en-GB" altLang="en-US" sz="1600">
                        <a:latin typeface="Times New Roman" panose="02020603050405020304" charset="0"/>
                        <a:cs typeface="Times New Roman" panose="02020603050405020304" charset="0"/>
                      </a:endParaRPr>
                    </a:p>
                  </a:txBody>
                  <a:tcPr/>
                </a:tc>
                <a:tc>
                  <a:txBody>
                    <a:bodyPr/>
                    <a:p>
                      <a:pPr>
                        <a:buNone/>
                      </a:pPr>
                      <a:r>
                        <a:rPr lang="en-GB" altLang="en-US" sz="1600">
                          <a:latin typeface="Times New Roman" panose="02020603050405020304" charset="0"/>
                          <a:cs typeface="Times New Roman" panose="02020603050405020304" charset="0"/>
                        </a:rPr>
                        <a:t>Paper title</a:t>
                      </a:r>
                      <a:endParaRPr lang="en-GB" altLang="en-US" sz="1600">
                        <a:latin typeface="Times New Roman" panose="02020603050405020304" charset="0"/>
                        <a:cs typeface="Times New Roman" panose="02020603050405020304" charset="0"/>
                      </a:endParaRPr>
                    </a:p>
                  </a:txBody>
                  <a:tcPr/>
                </a:tc>
                <a:tc>
                  <a:txBody>
                    <a:bodyPr/>
                    <a:p>
                      <a:pPr>
                        <a:buNone/>
                      </a:pPr>
                      <a:r>
                        <a:rPr lang="en-GB" altLang="en-US" sz="1600">
                          <a:latin typeface="Times New Roman" panose="02020603050405020304" charset="0"/>
                          <a:cs typeface="Times New Roman" panose="02020603050405020304" charset="0"/>
                        </a:rPr>
                        <a:t>Objectives</a:t>
                      </a:r>
                      <a:endParaRPr lang="en-GB" altLang="en-US" sz="1600">
                        <a:latin typeface="Times New Roman" panose="02020603050405020304" charset="0"/>
                        <a:cs typeface="Times New Roman" panose="02020603050405020304" charset="0"/>
                      </a:endParaRPr>
                    </a:p>
                  </a:txBody>
                  <a:tcPr/>
                </a:tc>
                <a:tc>
                  <a:txBody>
                    <a:bodyPr/>
                    <a:p>
                      <a:pPr>
                        <a:buNone/>
                      </a:pPr>
                      <a:r>
                        <a:rPr lang="en-US" sz="1600" dirty="0">
                          <a:latin typeface="Times New Roman" panose="02020603050405020304" charset="0"/>
                          <a:cs typeface="Times New Roman" panose="02020603050405020304" charset="0"/>
                          <a:sym typeface="+mn-ea"/>
                        </a:rPr>
                        <a:t>Methods/Techniques/Algorithm used</a:t>
                      </a:r>
                      <a:endParaRPr lang="en-US" sz="1600" dirty="0">
                        <a:latin typeface="Times New Roman" panose="02020603050405020304" charset="0"/>
                        <a:cs typeface="Times New Roman" panose="02020603050405020304" charset="0"/>
                      </a:endParaRPr>
                    </a:p>
                    <a:p>
                      <a:pPr>
                        <a:buNone/>
                      </a:pPr>
                      <a:endParaRPr lang="en-US" altLang="en-US" sz="1600" dirty="0">
                        <a:latin typeface="Times New Roman" panose="02020603050405020304" charset="0"/>
                        <a:cs typeface="Times New Roman" panose="02020603050405020304" charset="0"/>
                      </a:endParaRPr>
                    </a:p>
                  </a:txBody>
                  <a:tcPr/>
                </a:tc>
                <a:tc>
                  <a:txBody>
                    <a:bodyPr/>
                    <a:p>
                      <a:pPr algn="ctr"/>
                      <a:r>
                        <a:rPr lang="en-US" sz="1600" dirty="0">
                          <a:latin typeface="Times New Roman" panose="02020603050405020304" charset="0"/>
                          <a:cs typeface="Times New Roman" panose="02020603050405020304" charset="0"/>
                        </a:rPr>
                        <a:t>Limitations /Disadvantages</a:t>
                      </a:r>
                      <a:endParaRPr lang="en-US" sz="1600" dirty="0">
                        <a:latin typeface="Times New Roman" panose="02020603050405020304" charset="0"/>
                        <a:cs typeface="Times New Roman" panose="02020603050405020304" charset="0"/>
                      </a:endParaRPr>
                    </a:p>
                  </a:txBody>
                  <a:tcPr/>
                </a:tc>
              </a:tr>
              <a:tr h="1635125">
                <a:tc>
                  <a:txBody>
                    <a:bodyPr/>
                    <a:p>
                      <a:pPr>
                        <a:buNone/>
                      </a:pPr>
                      <a:r>
                        <a:rPr lang="en-GB" altLang="en-US" sz="1600">
                          <a:latin typeface="Times New Roman" panose="02020603050405020304" charset="0"/>
                          <a:cs typeface="Times New Roman" panose="02020603050405020304" charset="0"/>
                        </a:rPr>
                        <a:t>1.</a:t>
                      </a:r>
                      <a:endParaRPr lang="en-GB" altLang="en-US" sz="1600">
                        <a:latin typeface="Times New Roman" panose="02020603050405020304" charset="0"/>
                        <a:cs typeface="Times New Roman" panose="02020603050405020304" charset="0"/>
                      </a:endParaRPr>
                    </a:p>
                  </a:txBody>
                  <a:tcPr/>
                </a:tc>
                <a:tc>
                  <a:txBody>
                    <a:bodyPr/>
                    <a:p>
                      <a:pPr algn="l"/>
                      <a:r>
                        <a:rPr lang="en-US" altLang="en-US" sz="1600">
                          <a:latin typeface="Times New Roman" panose="02020603050405020304" charset="0"/>
                          <a:cs typeface="Times New Roman" panose="02020603050405020304" charset="0"/>
                        </a:rPr>
                        <a:t>Design and Optimization of 6T SRAM Cell at Different Technology Nodes using CMOS for Low Power and High Speed</a:t>
                      </a:r>
                      <a:endParaRPr lang="en-US" altLang="en-US" sz="1600">
                        <a:latin typeface="Times New Roman" panose="02020603050405020304" charset="0"/>
                        <a:cs typeface="Times New Roman" panose="02020603050405020304" charset="0"/>
                      </a:endParaRPr>
                    </a:p>
                  </a:txBody>
                  <a:tcPr anchor="t" anchorCtr="0"/>
                </a:tc>
                <a:tc>
                  <a:txBody>
                    <a:bodyPr/>
                    <a:p>
                      <a:pPr marL="171450" indent="-171450">
                        <a:buFont typeface="Arial" panose="020B0604020202020204" pitchFamily="34" charset="0"/>
                        <a:buChar char="•"/>
                      </a:pPr>
                      <a:r>
                        <a:rPr lang="en-US" altLang="en-US" sz="1600" dirty="0">
                          <a:latin typeface="Times New Roman" panose="02020603050405020304" charset="0"/>
                          <a:cs typeface="Times New Roman" panose="02020603050405020304" charset="0"/>
                        </a:rPr>
                        <a:t>To design and optimize 6T SRAM cells at various CMOS technology nodes (45 nm &amp; 22 nm) for reduced leakage, high stability, and low delay.</a:t>
                      </a:r>
                      <a:endParaRPr lang="en-US" altLang="en-US" sz="1600" dirty="0">
                        <a:latin typeface="Times New Roman" panose="02020603050405020304" charset="0"/>
                        <a:cs typeface="Times New Roman" panose="02020603050405020304" charset="0"/>
                      </a:endParaRPr>
                    </a:p>
                  </a:txBody>
                  <a:tcPr/>
                </a:tc>
                <a:tc>
                  <a:txBody>
                    <a:bodyPr/>
                    <a:p>
                      <a:pPr marL="171450" indent="-171450">
                        <a:buFont typeface="Arial" panose="020B0604020202020204" pitchFamily="34" charset="0"/>
                        <a:buChar char="•"/>
                      </a:pPr>
                      <a:r>
                        <a:rPr lang="en-US" altLang="en-US" sz="1600" dirty="0">
                          <a:latin typeface="Times New Roman" panose="02020603050405020304" charset="0"/>
                          <a:cs typeface="Times New Roman" panose="02020603050405020304" charset="0"/>
                        </a:rPr>
                        <a:t>Cadence Virtuoso design and simulation; transistor sizing optimization; supply voltage scaling; delay and leakage measurement under different node sizes.</a:t>
                      </a:r>
                      <a:endParaRPr lang="en-US" altLang="en-US" sz="1600" dirty="0">
                        <a:latin typeface="Times New Roman" panose="02020603050405020304" charset="0"/>
                        <a:cs typeface="Times New Roman" panose="02020603050405020304" charset="0"/>
                      </a:endParaRPr>
                    </a:p>
                  </a:txBody>
                  <a:tcPr/>
                </a:tc>
                <a:tc>
                  <a:txBody>
                    <a:bodyPr/>
                    <a:p>
                      <a:pPr marL="171450" indent="-171450">
                        <a:buFont typeface="Arial" panose="020B0604020202020204" pitchFamily="34" charset="0"/>
                        <a:buChar char="•"/>
                      </a:pPr>
                      <a:r>
                        <a:rPr lang="en-US" altLang="en-US" sz="1600" dirty="0">
                          <a:latin typeface="Times New Roman" panose="02020603050405020304" charset="0"/>
                          <a:cs typeface="Times New Roman" panose="02020603050405020304" charset="0"/>
                        </a:rPr>
                        <a:t>Requires precise sizing to maintain write stability; scaling reduces delay but increases leakage power.</a:t>
                      </a:r>
                      <a:endParaRPr lang="en-US" altLang="en-US" sz="1600" dirty="0">
                        <a:latin typeface="Times New Roman" panose="02020603050405020304" charset="0"/>
                        <a:cs typeface="Times New Roman" panose="02020603050405020304" charset="0"/>
                      </a:endParaRPr>
                    </a:p>
                  </a:txBody>
                  <a:tcPr/>
                </a:tc>
              </a:tr>
              <a:tr h="1111885">
                <a:tc>
                  <a:txBody>
                    <a:bodyPr/>
                    <a:p>
                      <a:pPr>
                        <a:buNone/>
                      </a:pPr>
                      <a:r>
                        <a:rPr lang="en-GB" altLang="en-US" sz="1600">
                          <a:latin typeface="Times New Roman" panose="02020603050405020304" charset="0"/>
                          <a:cs typeface="Times New Roman" panose="02020603050405020304" charset="0"/>
                        </a:rPr>
                        <a:t>2.</a:t>
                      </a:r>
                      <a:endParaRPr lang="en-GB" altLang="en-US" sz="1600">
                        <a:latin typeface="Times New Roman" panose="02020603050405020304" charset="0"/>
                        <a:cs typeface="Times New Roman" panose="02020603050405020304" charset="0"/>
                      </a:endParaRPr>
                    </a:p>
                  </a:txBody>
                  <a:tcPr/>
                </a:tc>
                <a:tc>
                  <a:txBody>
                    <a:bodyPr/>
                    <a:p>
                      <a:pPr algn="l">
                        <a:buNone/>
                      </a:pPr>
                      <a:r>
                        <a:rPr lang="en-US" altLang="en-US" sz="1600" dirty="0">
                          <a:latin typeface="Times New Roman" panose="02020603050405020304" charset="0"/>
                          <a:cs typeface="Times New Roman" panose="02020603050405020304" charset="0"/>
                          <a:sym typeface="+mn-ea"/>
                        </a:rPr>
                        <a:t>Design and Performance Analysis of 6T SRAM Cell on 90 nm Technology</a:t>
                      </a:r>
                      <a:endParaRPr lang="en-US" altLang="en-US" sz="1600" dirty="0">
                        <a:latin typeface="Times New Roman" panose="02020603050405020304" charset="0"/>
                        <a:cs typeface="Times New Roman" panose="02020603050405020304" charset="0"/>
                        <a:sym typeface="+mn-ea"/>
                      </a:endParaRPr>
                    </a:p>
                  </a:txBody>
                  <a:tcPr/>
                </a:tc>
                <a:tc>
                  <a:txBody>
                    <a:bodyPr/>
                    <a:p>
                      <a:pPr marL="171450" indent="-171450">
                        <a:buFont typeface="Arial" panose="020B0604020202020204" pitchFamily="34" charset="0"/>
                        <a:buChar char="•"/>
                      </a:pPr>
                      <a:r>
                        <a:rPr lang="en-US" altLang="en-US" sz="1600">
                          <a:latin typeface="Times New Roman" panose="02020603050405020304" charset="0"/>
                          <a:cs typeface="Times New Roman" panose="02020603050405020304" charset="0"/>
                        </a:rPr>
                        <a:t>To analyze read delay, write delay, power consumption, and RSNM of 6T SRAM at 90 nm.</a:t>
                      </a:r>
                      <a:endParaRPr lang="en-US" altLang="en-US" sz="1600">
                        <a:latin typeface="Times New Roman" panose="02020603050405020304" charset="0"/>
                        <a:cs typeface="Times New Roman" panose="02020603050405020304" charset="0"/>
                      </a:endParaRPr>
                    </a:p>
                  </a:txBody>
                  <a:tcPr/>
                </a:tc>
                <a:tc>
                  <a:txBody>
                    <a:bodyPr/>
                    <a:p>
                      <a:pPr marL="171450" indent="-171450">
                        <a:buFont typeface="Arial" panose="020B0604020202020204" pitchFamily="34" charset="0"/>
                        <a:buChar char="•"/>
                      </a:pPr>
                      <a:r>
                        <a:rPr lang="en-US" altLang="en-US" sz="1600" dirty="0">
                          <a:latin typeface="Times New Roman" panose="02020603050405020304" charset="0"/>
                          <a:cs typeface="Times New Roman" panose="02020603050405020304" charset="0"/>
                        </a:rPr>
                        <a:t>Cadence simulations for performance metrics.</a:t>
                      </a:r>
                      <a:endParaRPr lang="en-US" altLang="en-US" sz="1600" dirty="0">
                        <a:latin typeface="Times New Roman" panose="02020603050405020304" charset="0"/>
                        <a:cs typeface="Times New Roman" panose="02020603050405020304" charset="0"/>
                      </a:endParaRPr>
                    </a:p>
                  </a:txBody>
                  <a:tcPr/>
                </a:tc>
                <a:tc>
                  <a:txBody>
                    <a:bodyPr/>
                    <a:p>
                      <a:pPr marL="171450" indent="-171450">
                        <a:buFont typeface="Arial" panose="020B0604020202020204" pitchFamily="34" charset="0"/>
                        <a:buChar char="•"/>
                      </a:pPr>
                      <a:r>
                        <a:rPr lang="en-US" altLang="en-US" sz="1600" dirty="0">
                          <a:latin typeface="Times New Roman" panose="02020603050405020304" charset="0"/>
                          <a:cs typeface="Times New Roman" panose="02020603050405020304" charset="0"/>
                        </a:rPr>
                        <a:t>Area overhead due to extra circuitry; trade-off between power saving and access speed.</a:t>
                      </a:r>
                      <a:endParaRPr lang="en-US" altLang="en-US" sz="1600" dirty="0">
                        <a:latin typeface="Times New Roman" panose="02020603050405020304" charset="0"/>
                        <a:cs typeface="Times New Roman" panose="02020603050405020304" charset="0"/>
                      </a:endParaRPr>
                    </a:p>
                    <a:p>
                      <a:pPr>
                        <a:buNone/>
                      </a:pPr>
                      <a:endParaRPr lang="en-US" altLang="en-US" sz="1600" dirty="0">
                        <a:latin typeface="Times New Roman" panose="02020603050405020304" charset="0"/>
                        <a:cs typeface="Times New Roman" panose="02020603050405020304" charset="0"/>
                      </a:endParaRPr>
                    </a:p>
                  </a:txBody>
                  <a:tcPr/>
                </a:tc>
              </a:tr>
              <a:tr h="1529715">
                <a:tc>
                  <a:txBody>
                    <a:bodyPr/>
                    <a:p>
                      <a:pPr>
                        <a:buNone/>
                      </a:pPr>
                      <a:r>
                        <a:rPr lang="en-US" sz="1600">
                          <a:latin typeface="Times New Roman" panose="02020603050405020304" charset="0"/>
                          <a:cs typeface="Times New Roman" panose="02020603050405020304" charset="0"/>
                        </a:rPr>
                        <a:t>3.</a:t>
                      </a:r>
                      <a:endParaRPr lang="en-US" sz="1600">
                        <a:latin typeface="Times New Roman" panose="02020603050405020304" charset="0"/>
                        <a:cs typeface="Times New Roman" panose="02020603050405020304" charset="0"/>
                      </a:endParaRPr>
                    </a:p>
                  </a:txBody>
                  <a:tcPr/>
                </a:tc>
                <a:tc>
                  <a:txBody>
                    <a:bodyPr/>
                    <a:p>
                      <a:pPr>
                        <a:buNone/>
                      </a:pPr>
                      <a:r>
                        <a:rPr lang="en-US" altLang="en-US" sz="1600">
                          <a:latin typeface="Times New Roman" panose="02020603050405020304" charset="0"/>
                          <a:cs typeface="Times New Roman" panose="02020603050405020304" charset="0"/>
                        </a:rPr>
                        <a:t>Performance Analysis of Low Power 6T SRAM Cell in 180 nm and 90 nm</a:t>
                      </a:r>
                      <a:endParaRPr lang="en-US" altLang="en-US" sz="1600">
                        <a:latin typeface="Times New Roman" panose="02020603050405020304" charset="0"/>
                        <a:cs typeface="Times New Roman" panose="02020603050405020304" charset="0"/>
                      </a:endParaRPr>
                    </a:p>
                  </a:txBody>
                  <a:tcPr/>
                </a:tc>
                <a:tc>
                  <a:txBody>
                    <a:bodyPr/>
                    <a:p>
                      <a:pPr marL="171450" indent="-171450">
                        <a:buFont typeface="Arial" panose="020B0604020202020204" pitchFamily="34" charset="0"/>
                        <a:buChar char="•"/>
                      </a:pPr>
                      <a:r>
                        <a:rPr lang="en-US" altLang="en-US" sz="1600">
                          <a:latin typeface="Times New Roman" panose="02020603050405020304" charset="0"/>
                          <a:cs typeface="Times New Roman" panose="02020603050405020304" charset="0"/>
                        </a:rPr>
                        <a:t>To compare power, delay, and stability of 6T SRAM cells at 180 nm and 90 nm technology nodes.</a:t>
                      </a:r>
                      <a:endParaRPr lang="en-US" altLang="en-US" sz="1600">
                        <a:latin typeface="Times New Roman" panose="02020603050405020304" charset="0"/>
                        <a:cs typeface="Times New Roman" panose="02020603050405020304" charset="0"/>
                      </a:endParaRPr>
                    </a:p>
                  </a:txBody>
                  <a:tcPr/>
                </a:tc>
                <a:tc>
                  <a:txBody>
                    <a:bodyPr/>
                    <a:p>
                      <a:pPr marL="171450" indent="-171450">
                        <a:buFont typeface="Arial" panose="020B0604020202020204" pitchFamily="34" charset="0"/>
                        <a:buChar char="•"/>
                      </a:pPr>
                      <a:r>
                        <a:rPr lang="en-US" altLang="en-US" sz="1600">
                          <a:latin typeface="Times New Roman" panose="02020603050405020304" charset="0"/>
                          <a:cs typeface="Times New Roman" panose="02020603050405020304" charset="0"/>
                        </a:rPr>
                        <a:t>Cadence Virtuoso schematic &amp; layout; wordline and bitline capacitance extraction; DRC/LVS verification.</a:t>
                      </a:r>
                      <a:endParaRPr lang="en-US" altLang="en-US" sz="1600">
                        <a:latin typeface="Times New Roman" panose="02020603050405020304" charset="0"/>
                        <a:cs typeface="Times New Roman" panose="02020603050405020304" charset="0"/>
                      </a:endParaRPr>
                    </a:p>
                  </a:txBody>
                  <a:tcPr/>
                </a:tc>
                <a:tc>
                  <a:txBody>
                    <a:bodyPr/>
                    <a:p>
                      <a:pPr marL="171450" indent="-171450">
                        <a:buFont typeface="Arial" panose="020B0604020202020204" pitchFamily="34" charset="0"/>
                        <a:buChar char="•"/>
                      </a:pPr>
                      <a:r>
                        <a:rPr lang="en-US" altLang="en-US" sz="1600">
                          <a:latin typeface="Times New Roman" panose="02020603050405020304" charset="0"/>
                          <a:cs typeface="Times New Roman" panose="02020603050405020304" charset="0"/>
                        </a:rPr>
                        <a:t>Smaller node reduces power but may cause read stability issues under voltage fluctuations.</a:t>
                      </a:r>
                      <a:endParaRPr lang="en-US" altLang="en-US" sz="1600">
                        <a:latin typeface="Times New Roman" panose="02020603050405020304" charset="0"/>
                        <a:cs typeface="Times New Roman" panose="02020603050405020304" charset="0"/>
                      </a:endParaRPr>
                    </a:p>
                  </a:txBody>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4" name="Table 3"/>
          <p:cNvGraphicFramePr/>
          <p:nvPr>
            <p:custDataLst>
              <p:tags r:id="rId1"/>
            </p:custDataLst>
          </p:nvPr>
        </p:nvGraphicFramePr>
        <p:xfrm>
          <a:off x="101600" y="711200"/>
          <a:ext cx="12004675" cy="4233545"/>
        </p:xfrm>
        <a:graphic>
          <a:graphicData uri="http://schemas.openxmlformats.org/drawingml/2006/table">
            <a:tbl>
              <a:tblPr firstRow="1" bandRow="1">
                <a:tableStyleId>{5C22544A-7EE6-4342-B048-85BDC9FD1C3A}</a:tableStyleId>
              </a:tblPr>
              <a:tblGrid>
                <a:gridCol w="886460"/>
                <a:gridCol w="2610485"/>
                <a:gridCol w="2640965"/>
                <a:gridCol w="3015615"/>
                <a:gridCol w="2851150"/>
              </a:tblGrid>
              <a:tr h="823595">
                <a:tc>
                  <a:txBody>
                    <a:bodyPr/>
                    <a:p>
                      <a:pPr>
                        <a:buNone/>
                      </a:pPr>
                      <a:r>
                        <a:rPr lang="en-GB" altLang="en-US" sz="1600">
                          <a:latin typeface="Times New Roman" panose="02020603050405020304" charset="0"/>
                          <a:cs typeface="Times New Roman" panose="02020603050405020304" charset="0"/>
                        </a:rPr>
                        <a:t>Sl No.</a:t>
                      </a:r>
                      <a:endParaRPr lang="en-GB" altLang="en-US" sz="1600">
                        <a:latin typeface="Times New Roman" panose="02020603050405020304" charset="0"/>
                        <a:cs typeface="Times New Roman" panose="02020603050405020304" charset="0"/>
                      </a:endParaRPr>
                    </a:p>
                  </a:txBody>
                  <a:tcPr/>
                </a:tc>
                <a:tc>
                  <a:txBody>
                    <a:bodyPr/>
                    <a:p>
                      <a:pPr>
                        <a:buNone/>
                      </a:pPr>
                      <a:r>
                        <a:rPr lang="en-GB" altLang="en-US" sz="1600">
                          <a:latin typeface="Times New Roman" panose="02020603050405020304" charset="0"/>
                          <a:cs typeface="Times New Roman" panose="02020603050405020304" charset="0"/>
                        </a:rPr>
                        <a:t>Paper title</a:t>
                      </a:r>
                      <a:endParaRPr lang="en-GB" altLang="en-US" sz="1600">
                        <a:latin typeface="Times New Roman" panose="02020603050405020304" charset="0"/>
                        <a:cs typeface="Times New Roman" panose="02020603050405020304" charset="0"/>
                      </a:endParaRPr>
                    </a:p>
                  </a:txBody>
                  <a:tcPr/>
                </a:tc>
                <a:tc>
                  <a:txBody>
                    <a:bodyPr/>
                    <a:p>
                      <a:pPr>
                        <a:buNone/>
                      </a:pPr>
                      <a:r>
                        <a:rPr lang="en-GB" altLang="en-US" sz="1600">
                          <a:latin typeface="Times New Roman" panose="02020603050405020304" charset="0"/>
                          <a:cs typeface="Times New Roman" panose="02020603050405020304" charset="0"/>
                        </a:rPr>
                        <a:t>Objectives</a:t>
                      </a:r>
                      <a:endParaRPr lang="en-GB" altLang="en-US" sz="1600">
                        <a:latin typeface="Times New Roman" panose="02020603050405020304" charset="0"/>
                        <a:cs typeface="Times New Roman" panose="02020603050405020304" charset="0"/>
                      </a:endParaRPr>
                    </a:p>
                  </a:txBody>
                  <a:tcPr/>
                </a:tc>
                <a:tc>
                  <a:txBody>
                    <a:bodyPr/>
                    <a:p>
                      <a:pPr>
                        <a:buNone/>
                      </a:pPr>
                      <a:r>
                        <a:rPr lang="en-US" sz="1600" dirty="0">
                          <a:latin typeface="Times New Roman" panose="02020603050405020304" charset="0"/>
                          <a:cs typeface="Times New Roman" panose="02020603050405020304" charset="0"/>
                          <a:sym typeface="+mn-ea"/>
                        </a:rPr>
                        <a:t>Methods/Techniques/Algorithm used</a:t>
                      </a:r>
                      <a:endParaRPr lang="en-US" sz="1600" dirty="0">
                        <a:latin typeface="Times New Roman" panose="02020603050405020304" charset="0"/>
                        <a:cs typeface="Times New Roman" panose="02020603050405020304" charset="0"/>
                      </a:endParaRPr>
                    </a:p>
                    <a:p>
                      <a:pPr>
                        <a:buNone/>
                      </a:pPr>
                      <a:endParaRPr lang="en-US" altLang="en-US" sz="1600" dirty="0">
                        <a:latin typeface="Times New Roman" panose="02020603050405020304" charset="0"/>
                        <a:cs typeface="Times New Roman" panose="02020603050405020304" charset="0"/>
                      </a:endParaRPr>
                    </a:p>
                  </a:txBody>
                  <a:tcPr/>
                </a:tc>
                <a:tc>
                  <a:txBody>
                    <a:bodyPr/>
                    <a:p>
                      <a:pPr algn="ctr"/>
                      <a:r>
                        <a:rPr lang="en-US" sz="1600" dirty="0">
                          <a:latin typeface="Times New Roman" panose="02020603050405020304" charset="0"/>
                          <a:cs typeface="Times New Roman" panose="02020603050405020304" charset="0"/>
                        </a:rPr>
                        <a:t>Limitations /Disadvantages</a:t>
                      </a:r>
                      <a:endParaRPr lang="en-US" sz="1600" dirty="0">
                        <a:latin typeface="Times New Roman" panose="02020603050405020304" charset="0"/>
                        <a:cs typeface="Times New Roman" panose="02020603050405020304" charset="0"/>
                      </a:endParaRPr>
                    </a:p>
                  </a:txBody>
                  <a:tcPr/>
                </a:tc>
              </a:tr>
              <a:tr h="1645285">
                <a:tc>
                  <a:txBody>
                    <a:bodyPr/>
                    <a:p>
                      <a:pPr>
                        <a:buNone/>
                      </a:pPr>
                      <a:r>
                        <a:rPr lang="en-US" sz="1600">
                          <a:latin typeface="Times New Roman" panose="02020603050405020304" charset="0"/>
                          <a:cs typeface="Times New Roman" panose="02020603050405020304" charset="0"/>
                        </a:rPr>
                        <a:t>4.</a:t>
                      </a:r>
                      <a:endParaRPr lang="en-US" sz="1600">
                        <a:latin typeface="Times New Roman" panose="02020603050405020304" charset="0"/>
                        <a:cs typeface="Times New Roman" panose="02020603050405020304" charset="0"/>
                      </a:endParaRPr>
                    </a:p>
                  </a:txBody>
                  <a:tcPr/>
                </a:tc>
                <a:tc>
                  <a:txBody>
                    <a:bodyPr/>
                    <a:p>
                      <a:pPr>
                        <a:buNone/>
                      </a:pPr>
                      <a:r>
                        <a:rPr lang="en-US" altLang="en-US" sz="1600">
                          <a:latin typeface="Times New Roman" panose="02020603050405020304" charset="0"/>
                          <a:cs typeface="Times New Roman" panose="02020603050405020304" charset="0"/>
                        </a:rPr>
                        <a:t>Design and Performance Analysis of 6T SRAM Cell on Different CMOS Technologies</a:t>
                      </a:r>
                      <a:endParaRPr lang="en-US" altLang="en-US" sz="1600">
                        <a:latin typeface="Times New Roman" panose="02020603050405020304" charset="0"/>
                        <a:cs typeface="Times New Roman" panose="02020603050405020304" charset="0"/>
                      </a:endParaRPr>
                    </a:p>
                  </a:txBody>
                  <a:tcPr/>
                </a:tc>
                <a:tc>
                  <a:txBody>
                    <a:bodyPr/>
                    <a:p>
                      <a:pPr marL="171450" indent="-171450">
                        <a:buFont typeface="Arial" panose="020B0604020202020204" pitchFamily="34" charset="0"/>
                        <a:buChar char="•"/>
                      </a:pPr>
                      <a:r>
                        <a:rPr lang="en-US" altLang="en-US" sz="1600">
                          <a:latin typeface="Times New Roman" panose="02020603050405020304" charset="0"/>
                          <a:cs typeface="Times New Roman" panose="02020603050405020304" charset="0"/>
                        </a:rPr>
                        <a:t>To evaluate write delay, read delay, and power dissipation across multiple technology nodes (90 nm, 70 nm, 50 nm).</a:t>
                      </a:r>
                      <a:endParaRPr lang="en-US" altLang="en-US" sz="1600">
                        <a:latin typeface="Times New Roman" panose="02020603050405020304" charset="0"/>
                        <a:cs typeface="Times New Roman" panose="02020603050405020304" charset="0"/>
                      </a:endParaRPr>
                    </a:p>
                  </a:txBody>
                  <a:tcPr/>
                </a:tc>
                <a:tc>
                  <a:txBody>
                    <a:bodyPr/>
                    <a:p>
                      <a:pPr marL="171450" indent="-171450">
                        <a:buFont typeface="Arial" panose="020B0604020202020204" pitchFamily="34" charset="0"/>
                        <a:buChar char="•"/>
                      </a:pPr>
                      <a:r>
                        <a:rPr lang="en-US" altLang="en-US" sz="1600">
                          <a:latin typeface="Times New Roman" panose="02020603050405020304" charset="0"/>
                          <a:cs typeface="Times New Roman" panose="02020603050405020304" charset="0"/>
                        </a:rPr>
                        <a:t>Technology scaling analysis; Cadence simulation for timing and power,transistor sizing for stability.</a:t>
                      </a:r>
                      <a:endParaRPr lang="en-US" altLang="en-US" sz="1600">
                        <a:latin typeface="Times New Roman" panose="02020603050405020304" charset="0"/>
                        <a:cs typeface="Times New Roman" panose="02020603050405020304" charset="0"/>
                      </a:endParaRPr>
                    </a:p>
                  </a:txBody>
                  <a:tcPr/>
                </a:tc>
                <a:tc>
                  <a:txBody>
                    <a:bodyPr/>
                    <a:p>
                      <a:pPr marL="171450" indent="-171450">
                        <a:buFont typeface="Arial" panose="020B0604020202020204" pitchFamily="34" charset="0"/>
                        <a:buChar char="•"/>
                      </a:pPr>
                      <a:r>
                        <a:rPr lang="en-US" altLang="en-US" sz="1600">
                          <a:latin typeface="Times New Roman" panose="02020603050405020304" charset="0"/>
                          <a:cs typeface="Times New Roman" panose="02020603050405020304" charset="0"/>
                        </a:rPr>
                        <a:t>Scaling improves speed and reduces power but increases susceptibility to process variation.</a:t>
                      </a:r>
                      <a:endParaRPr lang="en-US" altLang="en-US" sz="1600">
                        <a:latin typeface="Times New Roman" panose="02020603050405020304" charset="0"/>
                        <a:cs typeface="Times New Roman" panose="02020603050405020304" charset="0"/>
                      </a:endParaRPr>
                    </a:p>
                  </a:txBody>
                  <a:tcPr/>
                </a:tc>
              </a:tr>
              <a:tr h="1764665">
                <a:tc>
                  <a:txBody>
                    <a:bodyPr/>
                    <a:p>
                      <a:pPr>
                        <a:buNone/>
                      </a:pPr>
                      <a:r>
                        <a:rPr lang="en-US" sz="1600">
                          <a:latin typeface="Times New Roman" panose="02020603050405020304" charset="0"/>
                          <a:cs typeface="Times New Roman" panose="02020603050405020304" charset="0"/>
                        </a:rPr>
                        <a:t>5.</a:t>
                      </a:r>
                      <a:endParaRPr lang="en-US" sz="1600">
                        <a:latin typeface="Times New Roman" panose="02020603050405020304" charset="0"/>
                        <a:cs typeface="Times New Roman" panose="02020603050405020304" charset="0"/>
                      </a:endParaRPr>
                    </a:p>
                  </a:txBody>
                  <a:tcPr/>
                </a:tc>
                <a:tc>
                  <a:txBody>
                    <a:bodyPr/>
                    <a:p>
                      <a:r>
                        <a:rPr lang="en-US" altLang="en-US" sz="1600">
                          <a:latin typeface="Times New Roman" panose="02020603050405020304" charset="0"/>
                          <a:cs typeface="Times New Roman" panose="02020603050405020304" charset="0"/>
                        </a:rPr>
                        <a:t>Design, Modeling and Comparative Analysis of SRAM Performance under Subthreshold Operation</a:t>
                      </a:r>
                      <a:endParaRPr lang="en-US" altLang="en-US" sz="1600">
                        <a:latin typeface="Times New Roman" panose="02020603050405020304" charset="0"/>
                        <a:cs typeface="Times New Roman" panose="02020603050405020304" charset="0"/>
                      </a:endParaRPr>
                    </a:p>
                  </a:txBody>
                  <a:tcPr marL="0" marR="0" marT="0" marB="0" anchor="t" anchorCtr="0"/>
                </a:tc>
                <a:tc>
                  <a:txBody>
                    <a:bodyPr/>
                    <a:p>
                      <a:pPr marL="171450" indent="-171450">
                        <a:buFont typeface="Arial" panose="020B0604020202020204" pitchFamily="34" charset="0"/>
                        <a:buChar char="•"/>
                      </a:pPr>
                      <a:r>
                        <a:rPr lang="en-US" altLang="en-US" sz="1600">
                          <a:latin typeface="Times New Roman" panose="02020603050405020304" charset="0"/>
                          <a:cs typeface="Times New Roman" panose="02020603050405020304" charset="0"/>
                        </a:rPr>
                        <a:t>To analyze 6T SRAM in 180 nm, 90 nm, and 45 nm under subthreshold regime for low-power operation.</a:t>
                      </a:r>
                      <a:endParaRPr lang="en-US" altLang="en-US" sz="1600">
                        <a:latin typeface="Times New Roman" panose="02020603050405020304" charset="0"/>
                        <a:cs typeface="Times New Roman" panose="02020603050405020304" charset="0"/>
                      </a:endParaRPr>
                    </a:p>
                  </a:txBody>
                  <a:tcPr/>
                </a:tc>
                <a:tc>
                  <a:txBody>
                    <a:bodyPr/>
                    <a:p>
                      <a:pPr marL="171450" indent="-171450">
                        <a:buFont typeface="Arial" panose="020B0604020202020204" pitchFamily="34" charset="0"/>
                        <a:buChar char="•"/>
                      </a:pPr>
                      <a:r>
                        <a:rPr lang="en-US" altLang="en-US" sz="1600">
                          <a:latin typeface="Times New Roman" panose="02020603050405020304" charset="0"/>
                          <a:cs typeface="Times New Roman" panose="02020603050405020304" charset="0"/>
                        </a:rPr>
                        <a:t>Cadence Virtuoso simulation; delay, leakage and stability analysis.</a:t>
                      </a:r>
                      <a:endParaRPr lang="en-US" altLang="en-US" sz="1600">
                        <a:latin typeface="Times New Roman" panose="02020603050405020304" charset="0"/>
                        <a:cs typeface="Times New Roman" panose="02020603050405020304" charset="0"/>
                      </a:endParaRPr>
                    </a:p>
                  </a:txBody>
                  <a:tcPr/>
                </a:tc>
                <a:tc>
                  <a:txBody>
                    <a:bodyPr/>
                    <a:p>
                      <a:pPr marL="171450" indent="-171450">
                        <a:buFont typeface="Arial" panose="020B0604020202020204" pitchFamily="34" charset="0"/>
                        <a:buChar char="•"/>
                      </a:pPr>
                      <a:r>
                        <a:rPr lang="en-US" altLang="en-US" sz="1600">
                          <a:latin typeface="Times New Roman" panose="02020603050405020304" charset="0"/>
                          <a:cs typeface="Times New Roman" panose="02020603050405020304" charset="0"/>
                        </a:rPr>
                        <a:t>Higher sensitivity to temperature and process variations; lower noise margin in subthreshold operation.</a:t>
                      </a:r>
                      <a:endParaRPr lang="en-US" altLang="en-US" sz="1600">
                        <a:latin typeface="Times New Roman" panose="02020603050405020304" charset="0"/>
                        <a:cs typeface="Times New Roman" panose="02020603050405020304" charset="0"/>
                      </a:endParaRPr>
                    </a:p>
                  </a:txBody>
                  <a:tcPr/>
                </a:tc>
              </a:tr>
            </a:tbl>
          </a:graphicData>
        </a:graphic>
      </p:graphicFrame>
      <p:pic>
        <p:nvPicPr>
          <p:cNvPr id="7" name="Picture 6"/>
          <p:cNvPicPr>
            <a:picLocks noChangeAspect="1"/>
          </p:cNvPicPr>
          <p:nvPr/>
        </p:nvPicPr>
        <p:blipFill>
          <a:blip r:embed="rId2"/>
          <a:stretch>
            <a:fillRect/>
          </a:stretch>
        </p:blipFill>
        <p:spPr>
          <a:xfrm>
            <a:off x="7355840" y="153035"/>
            <a:ext cx="4146550" cy="48069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8" name="Table 7"/>
          <p:cNvGraphicFramePr/>
          <p:nvPr>
            <p:custDataLst>
              <p:tags r:id="rId1"/>
            </p:custDataLst>
          </p:nvPr>
        </p:nvGraphicFramePr>
        <p:xfrm>
          <a:off x="102235" y="583565"/>
          <a:ext cx="11988165" cy="6050915"/>
        </p:xfrm>
        <a:graphic>
          <a:graphicData uri="http://schemas.openxmlformats.org/drawingml/2006/table">
            <a:tbl>
              <a:tblPr firstRow="1" bandRow="1">
                <a:tableStyleId>{5940675A-B579-460E-94D1-54222C63F5DA}</a:tableStyleId>
              </a:tblPr>
              <a:tblGrid>
                <a:gridCol w="1404000"/>
                <a:gridCol w="756000"/>
                <a:gridCol w="756000"/>
                <a:gridCol w="756000"/>
                <a:gridCol w="756000"/>
                <a:gridCol w="756000"/>
                <a:gridCol w="756000"/>
                <a:gridCol w="756000"/>
                <a:gridCol w="756000"/>
                <a:gridCol w="756000"/>
                <a:gridCol w="756000"/>
                <a:gridCol w="756000"/>
                <a:gridCol w="756000"/>
                <a:gridCol w="756000"/>
                <a:gridCol w="756000"/>
              </a:tblGrid>
              <a:tr h="396000">
                <a:tc>
                  <a:txBody>
                    <a:bodyPr/>
                    <a:p>
                      <a:pPr algn="l">
                        <a:buNone/>
                      </a:pPr>
                      <a:endParaRPr lang="en-GB" altLang="en-US">
                        <a:latin typeface="Times New Roman" panose="02020603050405020304" charset="0"/>
                        <a:cs typeface="Times New Roman" panose="02020603050405020304" charset="0"/>
                      </a:endParaRPr>
                    </a:p>
                  </a:txBody>
                  <a:tcPr/>
                </a:tc>
                <a:tc gridSpan="4">
                  <a:txBody>
                    <a:bodyPr/>
                    <a:p>
                      <a:pPr algn="ctr">
                        <a:buNone/>
                      </a:pPr>
                      <a:r>
                        <a:rPr lang="en-GB" altLang="en-US">
                          <a:ln>
                            <a:noFill/>
                          </a:ln>
                          <a:effectLst>
                            <a:outerShdw blurRad="38100" dist="19050" dir="2700000" algn="tl" rotWithShape="0">
                              <a:schemeClr val="dk1">
                                <a:alpha val="40000"/>
                              </a:schemeClr>
                            </a:outerShdw>
                          </a:effectLst>
                          <a:latin typeface="Times New Roman" panose="02020603050405020304" charset="0"/>
                          <a:cs typeface="Times New Roman" panose="02020603050405020304" charset="0"/>
                        </a:rPr>
                        <a:t>August</a:t>
                      </a:r>
                      <a:endParaRPr lang="en-GB" altLang="en-US">
                        <a:ln>
                          <a:noFill/>
                        </a:ln>
                        <a:effectLst>
                          <a:outerShdw blurRad="38100" dist="19050" dir="2700000" algn="tl" rotWithShape="0">
                            <a:schemeClr val="dk1">
                              <a:alpha val="40000"/>
                            </a:schemeClr>
                          </a:outerShdw>
                        </a:effectLst>
                        <a:latin typeface="Times New Roman" panose="02020603050405020304" charset="0"/>
                        <a:cs typeface="Times New Roman" panose="02020603050405020304" charset="0"/>
                      </a:endParaRPr>
                    </a:p>
                  </a:txBody>
                  <a:tcPr>
                    <a:solidFill>
                      <a:schemeClr val="accent1">
                        <a:lumMod val="40000"/>
                        <a:lumOff val="60000"/>
                      </a:schemeClr>
                    </a:solidFill>
                  </a:tcPr>
                </a:tc>
                <a:tc hMerge="1">
                  <a:tcPr/>
                </a:tc>
                <a:tc hMerge="1">
                  <a:tcPr/>
                </a:tc>
                <a:tc hMerge="1">
                  <a:tcPr/>
                </a:tc>
                <a:tc gridSpan="4">
                  <a:txBody>
                    <a:bodyPr/>
                    <a:p>
                      <a:pPr algn="ctr">
                        <a:buNone/>
                      </a:pPr>
                      <a:r>
                        <a:rPr lang="en-GB" altLang="en-US">
                          <a:latin typeface="Times New Roman" panose="02020603050405020304" charset="0"/>
                          <a:cs typeface="Times New Roman" panose="02020603050405020304" charset="0"/>
                        </a:rPr>
                        <a:t>September</a:t>
                      </a:r>
                      <a:endParaRPr lang="en-GB" altLang="en-US">
                        <a:latin typeface="Times New Roman" panose="02020603050405020304" charset="0"/>
                        <a:cs typeface="Times New Roman" panose="02020603050405020304" charset="0"/>
                      </a:endParaRPr>
                    </a:p>
                  </a:txBody>
                  <a:tcPr>
                    <a:solidFill>
                      <a:schemeClr val="accent1">
                        <a:lumMod val="40000"/>
                        <a:lumOff val="60000"/>
                      </a:schemeClr>
                    </a:solidFill>
                  </a:tcPr>
                </a:tc>
                <a:tc hMerge="1">
                  <a:tcPr/>
                </a:tc>
                <a:tc hMerge="1">
                  <a:tcPr/>
                </a:tc>
                <a:tc hMerge="1">
                  <a:tcPr/>
                </a:tc>
                <a:tc gridSpan="4">
                  <a:txBody>
                    <a:bodyPr/>
                    <a:p>
                      <a:pPr algn="ctr">
                        <a:buNone/>
                      </a:pPr>
                      <a:r>
                        <a:rPr lang="en-GB" altLang="en-US">
                          <a:latin typeface="Times New Roman" panose="02020603050405020304" charset="0"/>
                          <a:cs typeface="Times New Roman" panose="02020603050405020304" charset="0"/>
                        </a:rPr>
                        <a:t>October</a:t>
                      </a:r>
                      <a:endParaRPr lang="en-GB" altLang="en-US">
                        <a:latin typeface="Times New Roman" panose="02020603050405020304" charset="0"/>
                        <a:cs typeface="Times New Roman" panose="02020603050405020304" charset="0"/>
                      </a:endParaRPr>
                    </a:p>
                  </a:txBody>
                  <a:tcPr>
                    <a:solidFill>
                      <a:schemeClr val="accent1">
                        <a:lumMod val="40000"/>
                        <a:lumOff val="60000"/>
                      </a:schemeClr>
                    </a:solidFill>
                  </a:tcPr>
                </a:tc>
                <a:tc hMerge="1">
                  <a:tcPr/>
                </a:tc>
                <a:tc hMerge="1">
                  <a:tcPr/>
                </a:tc>
                <a:tc hMerge="1">
                  <a:tcPr/>
                </a:tc>
                <a:tc gridSpan="2">
                  <a:txBody>
                    <a:bodyPr/>
                    <a:p>
                      <a:pPr algn="ctr">
                        <a:buNone/>
                      </a:pPr>
                      <a:r>
                        <a:rPr lang="en-GB" altLang="en-US">
                          <a:latin typeface="Times New Roman" panose="02020603050405020304" charset="0"/>
                          <a:cs typeface="Times New Roman" panose="02020603050405020304" charset="0"/>
                        </a:rPr>
                        <a:t>November</a:t>
                      </a:r>
                      <a:endParaRPr lang="en-GB" altLang="en-US">
                        <a:latin typeface="Times New Roman" panose="02020603050405020304" charset="0"/>
                        <a:cs typeface="Times New Roman" panose="02020603050405020304" charset="0"/>
                      </a:endParaRPr>
                    </a:p>
                  </a:txBody>
                  <a:tcPr>
                    <a:solidFill>
                      <a:schemeClr val="accent1">
                        <a:lumMod val="40000"/>
                        <a:lumOff val="60000"/>
                      </a:schemeClr>
                    </a:solidFill>
                  </a:tcPr>
                </a:tc>
                <a:tc hMerge="1">
                  <a:tcPr/>
                </a:tc>
              </a:tr>
              <a:tr h="546735">
                <a:tc>
                  <a:txBody>
                    <a:bodyPr/>
                    <a:p>
                      <a:pPr algn="l">
                        <a:buNone/>
                      </a:pPr>
                      <a:r>
                        <a:rPr lang="en-GB" altLang="en-US" sz="1600">
                          <a:latin typeface="Times New Roman" panose="02020603050405020304" charset="0"/>
                          <a:cs typeface="Times New Roman" panose="02020603050405020304" charset="0"/>
                        </a:rPr>
                        <a:t>Task</a:t>
                      </a:r>
                      <a:endParaRPr lang="en-GB" altLang="en-US" sz="1600">
                        <a:latin typeface="Times New Roman" panose="02020603050405020304" charset="0"/>
                        <a:cs typeface="Times New Roman" panose="02020603050405020304" charset="0"/>
                      </a:endParaRPr>
                    </a:p>
                  </a:txBody>
                  <a:tcPr>
                    <a:solidFill>
                      <a:schemeClr val="accent1">
                        <a:lumMod val="40000"/>
                        <a:lumOff val="60000"/>
                      </a:schemeClr>
                    </a:solidFill>
                  </a:tcPr>
                </a:tc>
                <a:tc>
                  <a:txBody>
                    <a:bodyPr/>
                    <a:p>
                      <a:pPr algn="l">
                        <a:buNone/>
                      </a:pPr>
                      <a:r>
                        <a:rPr lang="en-GB" altLang="en-US" sz="1600">
                          <a:latin typeface="Times New Roman" panose="02020603050405020304" charset="0"/>
                          <a:cs typeface="Times New Roman" panose="02020603050405020304" charset="0"/>
                        </a:rPr>
                        <a:t>Week 01</a:t>
                      </a:r>
                      <a:endParaRPr lang="en-GB" altLang="en-US" sz="1600">
                        <a:latin typeface="Times New Roman" panose="02020603050405020304" charset="0"/>
                        <a:cs typeface="Times New Roman" panose="02020603050405020304" charset="0"/>
                      </a:endParaRPr>
                    </a:p>
                  </a:txBody>
                  <a:tcPr>
                    <a:lnB w="12700" cmpd="sng">
                      <a:solidFill>
                        <a:schemeClr val="tx1"/>
                      </a:solidFill>
                      <a:prstDash val="solid"/>
                    </a:lnB>
                  </a:tcPr>
                </a:tc>
                <a:tc>
                  <a:txBody>
                    <a:bodyPr/>
                    <a:p>
                      <a:pPr algn="l">
                        <a:buNone/>
                      </a:pPr>
                      <a:r>
                        <a:rPr lang="en-GB" altLang="en-US" sz="1600">
                          <a:latin typeface="Times New Roman" panose="02020603050405020304" charset="0"/>
                          <a:cs typeface="Times New Roman" panose="02020603050405020304" charset="0"/>
                        </a:rPr>
                        <a:t>Week 02</a:t>
                      </a:r>
                      <a:endParaRPr lang="en-GB" altLang="en-US" sz="1600">
                        <a:latin typeface="Times New Roman" panose="02020603050405020304" charset="0"/>
                        <a:cs typeface="Times New Roman" panose="02020603050405020304" charset="0"/>
                      </a:endParaRPr>
                    </a:p>
                  </a:txBody>
                  <a:tcPr>
                    <a:lnB w="12700" cmpd="sng">
                      <a:solidFill>
                        <a:schemeClr val="tx1"/>
                      </a:solidFill>
                      <a:prstDash val="solid"/>
                    </a:lnB>
                  </a:tcPr>
                </a:tc>
                <a:tc>
                  <a:txBody>
                    <a:bodyPr/>
                    <a:p>
                      <a:pPr algn="l">
                        <a:buNone/>
                      </a:pPr>
                      <a:r>
                        <a:rPr lang="en-GB" altLang="en-US" sz="1600">
                          <a:latin typeface="Times New Roman" panose="02020603050405020304" charset="0"/>
                          <a:cs typeface="Times New Roman" panose="02020603050405020304" charset="0"/>
                        </a:rPr>
                        <a:t>Week 03</a:t>
                      </a:r>
                      <a:endParaRPr lang="en-GB" altLang="en-US" sz="1600">
                        <a:latin typeface="Times New Roman" panose="02020603050405020304" charset="0"/>
                        <a:cs typeface="Times New Roman" panose="02020603050405020304" charset="0"/>
                      </a:endParaRPr>
                    </a:p>
                  </a:txBody>
                  <a:tcPr>
                    <a:lnB w="12700" cmpd="sng">
                      <a:solidFill>
                        <a:schemeClr val="tx1"/>
                      </a:solidFill>
                      <a:prstDash val="solid"/>
                    </a:lnB>
                  </a:tcPr>
                </a:tc>
                <a:tc>
                  <a:txBody>
                    <a:bodyPr/>
                    <a:p>
                      <a:pPr algn="l">
                        <a:buNone/>
                      </a:pPr>
                      <a:r>
                        <a:rPr lang="en-GB" altLang="en-US" sz="1600">
                          <a:latin typeface="Times New Roman" panose="02020603050405020304" charset="0"/>
                          <a:cs typeface="Times New Roman" panose="02020603050405020304" charset="0"/>
                        </a:rPr>
                        <a:t>Week 04</a:t>
                      </a:r>
                      <a:endParaRPr lang="en-GB" altLang="en-US" sz="1600">
                        <a:latin typeface="Times New Roman" panose="02020603050405020304" charset="0"/>
                        <a:cs typeface="Times New Roman" panose="02020603050405020304" charset="0"/>
                      </a:endParaRPr>
                    </a:p>
                  </a:txBody>
                  <a:tcPr>
                    <a:lnB w="12700" cmpd="sng">
                      <a:solidFill>
                        <a:schemeClr val="tx1"/>
                      </a:solidFill>
                      <a:prstDash val="solid"/>
                    </a:lnB>
                  </a:tcPr>
                </a:tc>
                <a:tc>
                  <a:txBody>
                    <a:bodyPr/>
                    <a:p>
                      <a:pPr algn="l">
                        <a:buNone/>
                      </a:pPr>
                      <a:r>
                        <a:rPr lang="en-GB" altLang="en-US" sz="1600">
                          <a:latin typeface="Times New Roman" panose="02020603050405020304" charset="0"/>
                          <a:cs typeface="Times New Roman" panose="02020603050405020304" charset="0"/>
                        </a:rPr>
                        <a:t>Week 01</a:t>
                      </a:r>
                      <a:endParaRPr lang="en-GB" altLang="en-US" sz="1600">
                        <a:latin typeface="Times New Roman" panose="02020603050405020304" charset="0"/>
                        <a:cs typeface="Times New Roman" panose="02020603050405020304" charset="0"/>
                      </a:endParaRPr>
                    </a:p>
                  </a:txBody>
                  <a:tcPr>
                    <a:lnB w="12700" cmpd="sng">
                      <a:solidFill>
                        <a:schemeClr val="tx1"/>
                      </a:solidFill>
                      <a:prstDash val="solid"/>
                    </a:lnB>
                  </a:tcPr>
                </a:tc>
                <a:tc>
                  <a:txBody>
                    <a:bodyPr/>
                    <a:p>
                      <a:pPr algn="l">
                        <a:buNone/>
                      </a:pPr>
                      <a:r>
                        <a:rPr lang="en-GB" altLang="en-US" sz="1600">
                          <a:latin typeface="Times New Roman" panose="02020603050405020304" charset="0"/>
                          <a:cs typeface="Times New Roman" panose="02020603050405020304" charset="0"/>
                        </a:rPr>
                        <a:t>Week 02</a:t>
                      </a:r>
                      <a:endParaRPr lang="en-GB" altLang="en-US" sz="1600">
                        <a:latin typeface="Times New Roman" panose="02020603050405020304" charset="0"/>
                        <a:cs typeface="Times New Roman" panose="02020603050405020304" charset="0"/>
                      </a:endParaRPr>
                    </a:p>
                  </a:txBody>
                  <a:tcPr>
                    <a:lnB w="12700" cmpd="sng">
                      <a:solidFill>
                        <a:schemeClr val="tx1"/>
                      </a:solidFill>
                      <a:prstDash val="solid"/>
                    </a:lnB>
                  </a:tcPr>
                </a:tc>
                <a:tc>
                  <a:txBody>
                    <a:bodyPr/>
                    <a:p>
                      <a:pPr algn="l">
                        <a:buNone/>
                      </a:pPr>
                      <a:r>
                        <a:rPr lang="en-GB" altLang="en-US" sz="1600">
                          <a:latin typeface="Times New Roman" panose="02020603050405020304" charset="0"/>
                          <a:cs typeface="Times New Roman" panose="02020603050405020304" charset="0"/>
                        </a:rPr>
                        <a:t>Week 03</a:t>
                      </a:r>
                      <a:endParaRPr lang="en-GB" altLang="en-US" sz="1600">
                        <a:latin typeface="Times New Roman" panose="02020603050405020304" charset="0"/>
                        <a:cs typeface="Times New Roman" panose="02020603050405020304" charset="0"/>
                      </a:endParaRPr>
                    </a:p>
                  </a:txBody>
                  <a:tcPr>
                    <a:lnB w="12700" cmpd="sng">
                      <a:solidFill>
                        <a:schemeClr val="tx1"/>
                      </a:solidFill>
                      <a:prstDash val="solid"/>
                    </a:lnB>
                  </a:tcPr>
                </a:tc>
                <a:tc>
                  <a:txBody>
                    <a:bodyPr/>
                    <a:p>
                      <a:pPr algn="l">
                        <a:buNone/>
                      </a:pPr>
                      <a:r>
                        <a:rPr lang="en-GB" altLang="en-US" sz="1600">
                          <a:latin typeface="Times New Roman" panose="02020603050405020304" charset="0"/>
                          <a:cs typeface="Times New Roman" panose="02020603050405020304" charset="0"/>
                        </a:rPr>
                        <a:t>Week 04</a:t>
                      </a:r>
                      <a:endParaRPr lang="en-GB" altLang="en-US" sz="1600">
                        <a:latin typeface="Times New Roman" panose="02020603050405020304" charset="0"/>
                        <a:cs typeface="Times New Roman" panose="02020603050405020304" charset="0"/>
                      </a:endParaRPr>
                    </a:p>
                  </a:txBody>
                  <a:tcPr>
                    <a:lnB w="12700" cmpd="sng">
                      <a:solidFill>
                        <a:schemeClr val="tx1"/>
                      </a:solidFill>
                      <a:prstDash val="solid"/>
                    </a:lnB>
                  </a:tcPr>
                </a:tc>
                <a:tc>
                  <a:txBody>
                    <a:bodyPr/>
                    <a:p>
                      <a:pPr algn="l">
                        <a:buNone/>
                      </a:pPr>
                      <a:r>
                        <a:rPr lang="en-GB" altLang="en-US" sz="1600">
                          <a:latin typeface="Times New Roman" panose="02020603050405020304" charset="0"/>
                          <a:cs typeface="Times New Roman" panose="02020603050405020304" charset="0"/>
                        </a:rPr>
                        <a:t>Week 01</a:t>
                      </a:r>
                      <a:endParaRPr lang="en-GB" altLang="en-US" sz="1600">
                        <a:latin typeface="Times New Roman" panose="02020603050405020304" charset="0"/>
                        <a:cs typeface="Times New Roman" panose="02020603050405020304" charset="0"/>
                      </a:endParaRPr>
                    </a:p>
                  </a:txBody>
                  <a:tcPr>
                    <a:lnB w="12700" cmpd="sng">
                      <a:solidFill>
                        <a:schemeClr val="tx1"/>
                      </a:solidFill>
                      <a:prstDash val="solid"/>
                    </a:lnB>
                  </a:tcPr>
                </a:tc>
                <a:tc>
                  <a:txBody>
                    <a:bodyPr/>
                    <a:p>
                      <a:pPr algn="l">
                        <a:buNone/>
                      </a:pPr>
                      <a:r>
                        <a:rPr lang="en-GB" altLang="en-US" sz="1600">
                          <a:latin typeface="Times New Roman" panose="02020603050405020304" charset="0"/>
                          <a:cs typeface="Times New Roman" panose="02020603050405020304" charset="0"/>
                        </a:rPr>
                        <a:t>Week 02</a:t>
                      </a:r>
                      <a:endParaRPr lang="en-GB" altLang="en-US" sz="1600">
                        <a:latin typeface="Times New Roman" panose="02020603050405020304" charset="0"/>
                        <a:cs typeface="Times New Roman" panose="02020603050405020304" charset="0"/>
                      </a:endParaRPr>
                    </a:p>
                  </a:txBody>
                  <a:tcPr>
                    <a:lnB w="12700" cmpd="sng">
                      <a:solidFill>
                        <a:schemeClr val="tx1"/>
                      </a:solidFill>
                      <a:prstDash val="solid"/>
                    </a:lnB>
                  </a:tcPr>
                </a:tc>
                <a:tc>
                  <a:txBody>
                    <a:bodyPr/>
                    <a:p>
                      <a:pPr algn="l">
                        <a:buNone/>
                      </a:pPr>
                      <a:r>
                        <a:rPr lang="en-GB" altLang="en-US" sz="1600">
                          <a:latin typeface="Times New Roman" panose="02020603050405020304" charset="0"/>
                          <a:cs typeface="Times New Roman" panose="02020603050405020304" charset="0"/>
                        </a:rPr>
                        <a:t>Week 03</a:t>
                      </a:r>
                      <a:endParaRPr lang="en-GB" altLang="en-US" sz="1600">
                        <a:latin typeface="Times New Roman" panose="02020603050405020304" charset="0"/>
                        <a:cs typeface="Times New Roman" panose="02020603050405020304" charset="0"/>
                      </a:endParaRPr>
                    </a:p>
                  </a:txBody>
                  <a:tcPr>
                    <a:lnB w="12700" cmpd="sng">
                      <a:solidFill>
                        <a:schemeClr val="tx1"/>
                      </a:solidFill>
                      <a:prstDash val="solid"/>
                    </a:lnB>
                  </a:tcPr>
                </a:tc>
                <a:tc>
                  <a:txBody>
                    <a:bodyPr/>
                    <a:p>
                      <a:pPr algn="l">
                        <a:buNone/>
                      </a:pPr>
                      <a:r>
                        <a:rPr lang="en-GB" altLang="en-US" sz="1600">
                          <a:latin typeface="Times New Roman" panose="02020603050405020304" charset="0"/>
                          <a:cs typeface="Times New Roman" panose="02020603050405020304" charset="0"/>
                        </a:rPr>
                        <a:t>Week</a:t>
                      </a:r>
                      <a:endParaRPr lang="en-GB" altLang="en-US" sz="1600">
                        <a:latin typeface="Times New Roman" panose="02020603050405020304" charset="0"/>
                        <a:cs typeface="Times New Roman" panose="02020603050405020304" charset="0"/>
                      </a:endParaRPr>
                    </a:p>
                    <a:p>
                      <a:pPr algn="l">
                        <a:buNone/>
                      </a:pPr>
                      <a:r>
                        <a:rPr lang="en-GB" altLang="en-US" sz="1600">
                          <a:latin typeface="Times New Roman" panose="02020603050405020304" charset="0"/>
                          <a:cs typeface="Times New Roman" panose="02020603050405020304" charset="0"/>
                        </a:rPr>
                        <a:t>04</a:t>
                      </a:r>
                      <a:endParaRPr lang="en-GB" altLang="en-US" sz="1600">
                        <a:latin typeface="Times New Roman" panose="02020603050405020304" charset="0"/>
                        <a:cs typeface="Times New Roman" panose="02020603050405020304" charset="0"/>
                      </a:endParaRPr>
                    </a:p>
                  </a:txBody>
                  <a:tcPr>
                    <a:lnB w="12700" cmpd="sng">
                      <a:solidFill>
                        <a:schemeClr val="tx1"/>
                      </a:solidFill>
                      <a:prstDash val="solid"/>
                    </a:lnB>
                  </a:tcPr>
                </a:tc>
                <a:tc>
                  <a:txBody>
                    <a:bodyPr/>
                    <a:p>
                      <a:pPr algn="l">
                        <a:buNone/>
                      </a:pPr>
                      <a:r>
                        <a:rPr lang="en-GB" altLang="en-US" sz="1600">
                          <a:latin typeface="Times New Roman" panose="02020603050405020304" charset="0"/>
                          <a:cs typeface="Times New Roman" panose="02020603050405020304" charset="0"/>
                        </a:rPr>
                        <a:t>Week 01</a:t>
                      </a:r>
                      <a:endParaRPr lang="en-GB" altLang="en-US" sz="1600">
                        <a:latin typeface="Times New Roman" panose="02020603050405020304" charset="0"/>
                        <a:cs typeface="Times New Roman" panose="02020603050405020304" charset="0"/>
                      </a:endParaRPr>
                    </a:p>
                  </a:txBody>
                  <a:tcPr>
                    <a:lnB w="12700" cmpd="sng">
                      <a:solidFill>
                        <a:schemeClr val="tx1"/>
                      </a:solidFill>
                      <a:prstDash val="solid"/>
                    </a:lnB>
                  </a:tcPr>
                </a:tc>
                <a:tc>
                  <a:txBody>
                    <a:bodyPr/>
                    <a:p>
                      <a:pPr algn="l">
                        <a:buNone/>
                      </a:pPr>
                      <a:r>
                        <a:rPr lang="en-GB" altLang="en-US" sz="1600">
                          <a:latin typeface="Times New Roman" panose="02020603050405020304" charset="0"/>
                          <a:cs typeface="Times New Roman" panose="02020603050405020304" charset="0"/>
                        </a:rPr>
                        <a:t>Week 02</a:t>
                      </a:r>
                      <a:endParaRPr lang="en-GB" altLang="en-US" sz="1600">
                        <a:latin typeface="Times New Roman" panose="02020603050405020304" charset="0"/>
                        <a:cs typeface="Times New Roman" panose="02020603050405020304" charset="0"/>
                      </a:endParaRPr>
                    </a:p>
                  </a:txBody>
                  <a:tcPr>
                    <a:lnB w="12700" cmpd="sng">
                      <a:solidFill>
                        <a:schemeClr val="tx1"/>
                      </a:solidFill>
                      <a:prstDash val="solid"/>
                    </a:lnB>
                  </a:tcPr>
                </a:tc>
              </a:tr>
              <a:tr h="540000">
                <a:tc>
                  <a:txBody>
                    <a:bodyPr/>
                    <a:p>
                      <a:pPr algn="l">
                        <a:buNone/>
                      </a:pPr>
                      <a:r>
                        <a:rPr lang="en-GB" altLang="en-US" sz="1600">
                          <a:latin typeface="Times New Roman" panose="02020603050405020304" charset="0"/>
                          <a:cs typeface="Times New Roman" panose="02020603050405020304" charset="0"/>
                          <a:sym typeface="+mn-ea"/>
                        </a:rPr>
                        <a:t>Lit</a:t>
                      </a:r>
                      <a:r>
                        <a:rPr lang="en-IN" altLang="en-GB" sz="1600">
                          <a:latin typeface="Times New Roman" panose="02020603050405020304" charset="0"/>
                          <a:cs typeface="Times New Roman" panose="02020603050405020304" charset="0"/>
                          <a:sym typeface="+mn-ea"/>
                        </a:rPr>
                        <a:t>era</a:t>
                      </a:r>
                      <a:r>
                        <a:rPr lang="en-GB" altLang="en-US" sz="1600">
                          <a:latin typeface="Times New Roman" panose="02020603050405020304" charset="0"/>
                          <a:cs typeface="Times New Roman" panose="02020603050405020304" charset="0"/>
                          <a:sym typeface="+mn-ea"/>
                        </a:rPr>
                        <a:t>ture </a:t>
                      </a:r>
                      <a:r>
                        <a:rPr lang="en-IN" altLang="en-GB" sz="1600">
                          <a:latin typeface="Times New Roman" panose="02020603050405020304" charset="0"/>
                          <a:cs typeface="Times New Roman" panose="02020603050405020304" charset="0"/>
                          <a:sym typeface="+mn-ea"/>
                        </a:rPr>
                        <a:t>Survey</a:t>
                      </a:r>
                      <a:endParaRPr lang="en-IN" altLang="en-GB" sz="1600">
                        <a:latin typeface="Times New Roman" panose="02020603050405020304" charset="0"/>
                        <a:cs typeface="Times New Roman" panose="02020603050405020304" charset="0"/>
                        <a:sym typeface="+mn-ea"/>
                      </a:endParaRPr>
                    </a:p>
                  </a:txBody>
                  <a:tcPr>
                    <a:lnR w="12700" cmpd="sng">
                      <a:solidFill>
                        <a:schemeClr val="tx1"/>
                      </a:solidFill>
                      <a:prstDash val="solid"/>
                    </a:lnR>
                    <a:solidFill>
                      <a:schemeClr val="accent1">
                        <a:lumMod val="40000"/>
                        <a:lumOff val="60000"/>
                      </a:schemeClr>
                    </a:solidFill>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640800">
                <a:tc>
                  <a:txBody>
                    <a:bodyPr/>
                    <a:p>
                      <a:pPr algn="l">
                        <a:buNone/>
                      </a:pPr>
                      <a:r>
                        <a:rPr lang="en-IN" altLang="en-GB" sz="1600">
                          <a:latin typeface="Times New Roman" panose="02020603050405020304" charset="0"/>
                          <a:cs typeface="Times New Roman" panose="02020603050405020304" charset="0"/>
                        </a:rPr>
                        <a:t>Problem &amp; Need Statemenr</a:t>
                      </a:r>
                      <a:endParaRPr lang="en-IN" altLang="en-GB" sz="1600">
                        <a:latin typeface="Times New Roman" panose="02020603050405020304" charset="0"/>
                        <a:cs typeface="Times New Roman" panose="02020603050405020304" charset="0"/>
                      </a:endParaRPr>
                    </a:p>
                  </a:txBody>
                  <a:tcPr>
                    <a:lnR w="12700" cmpd="sng">
                      <a:solidFill>
                        <a:schemeClr val="tx1"/>
                      </a:solidFill>
                      <a:prstDash val="solid"/>
                    </a:lnR>
                    <a:solidFill>
                      <a:schemeClr val="accent1">
                        <a:lumMod val="40000"/>
                        <a:lumOff val="60000"/>
                      </a:schemeClr>
                    </a:solidFill>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640800">
                <a:tc>
                  <a:txBody>
                    <a:bodyPr/>
                    <a:p>
                      <a:pPr algn="l">
                        <a:buNone/>
                      </a:pPr>
                      <a:r>
                        <a:rPr lang="en-GB" altLang="en-US" sz="1600">
                          <a:latin typeface="Times New Roman" panose="02020603050405020304" charset="0"/>
                          <a:cs typeface="Times New Roman" panose="02020603050405020304" charset="0"/>
                          <a:sym typeface="+mn-ea"/>
                        </a:rPr>
                        <a:t>Schematic </a:t>
                      </a:r>
                      <a:r>
                        <a:rPr lang="en-IN" altLang="en-GB" sz="1600">
                          <a:latin typeface="Times New Roman" panose="02020603050405020304" charset="0"/>
                          <a:cs typeface="Times New Roman" panose="02020603050405020304" charset="0"/>
                          <a:sym typeface="+mn-ea"/>
                        </a:rPr>
                        <a:t>Design</a:t>
                      </a:r>
                      <a:endParaRPr lang="en-IN" altLang="en-GB" sz="1600">
                        <a:latin typeface="Times New Roman" panose="02020603050405020304" charset="0"/>
                        <a:cs typeface="Times New Roman" panose="02020603050405020304" charset="0"/>
                        <a:sym typeface="+mn-ea"/>
                      </a:endParaRPr>
                    </a:p>
                  </a:txBody>
                  <a:tcPr>
                    <a:lnR w="12700" cmpd="sng">
                      <a:solidFill>
                        <a:schemeClr val="tx1"/>
                      </a:solidFill>
                      <a:prstDash val="solid"/>
                    </a:lnR>
                    <a:solidFill>
                      <a:schemeClr val="accent1">
                        <a:lumMod val="40000"/>
                        <a:lumOff val="60000"/>
                      </a:schemeClr>
                    </a:solidFill>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540000">
                <a:tc>
                  <a:txBody>
                    <a:bodyPr/>
                    <a:p>
                      <a:pPr algn="l">
                        <a:buNone/>
                      </a:pPr>
                      <a:r>
                        <a:rPr lang="en-US" altLang="en-GB" sz="1600">
                          <a:latin typeface="Times New Roman" panose="02020603050405020304" charset="0"/>
                          <a:cs typeface="Times New Roman" panose="02020603050405020304" charset="0"/>
                        </a:rPr>
                        <a:t>Simulation &amp; Analysis</a:t>
                      </a:r>
                      <a:endParaRPr lang="en-US" altLang="en-GB" sz="1600">
                        <a:latin typeface="Times New Roman" panose="02020603050405020304" charset="0"/>
                        <a:cs typeface="Times New Roman" panose="02020603050405020304" charset="0"/>
                      </a:endParaRPr>
                    </a:p>
                  </a:txBody>
                  <a:tcPr>
                    <a:lnR w="12700" cmpd="sng">
                      <a:solidFill>
                        <a:schemeClr val="tx1"/>
                      </a:solidFill>
                      <a:prstDash val="solid"/>
                    </a:lnR>
                    <a:solidFill>
                      <a:schemeClr val="accent1">
                        <a:lumMod val="40000"/>
                        <a:lumOff val="60000"/>
                      </a:schemeClr>
                    </a:solidFill>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540000">
                <a:tc>
                  <a:txBody>
                    <a:bodyPr/>
                    <a:p>
                      <a:pPr algn="l">
                        <a:buNone/>
                      </a:pPr>
                      <a:r>
                        <a:rPr lang="en-IN" altLang="en-GB" sz="1600">
                          <a:latin typeface="Times New Roman" panose="02020603050405020304" charset="0"/>
                          <a:cs typeface="Times New Roman" panose="02020603050405020304" charset="0"/>
                        </a:rPr>
                        <a:t>Layout Design</a:t>
                      </a:r>
                      <a:endParaRPr lang="en-IN" altLang="en-GB" sz="1600">
                        <a:latin typeface="Times New Roman" panose="02020603050405020304" charset="0"/>
                        <a:cs typeface="Times New Roman" panose="02020603050405020304" charset="0"/>
                      </a:endParaRPr>
                    </a:p>
                  </a:txBody>
                  <a:tcPr>
                    <a:lnR w="12700" cmpd="sng">
                      <a:solidFill>
                        <a:schemeClr val="tx1"/>
                      </a:solidFill>
                      <a:prstDash val="solid"/>
                    </a:lnR>
                    <a:solidFill>
                      <a:schemeClr val="accent1">
                        <a:lumMod val="40000"/>
                        <a:lumOff val="60000"/>
                      </a:schemeClr>
                    </a:solidFill>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443230">
                <a:tc>
                  <a:txBody>
                    <a:bodyPr/>
                    <a:p>
                      <a:pPr algn="l">
                        <a:buNone/>
                      </a:pPr>
                      <a:r>
                        <a:rPr lang="en-IN" altLang="en-GB" sz="1600">
                          <a:latin typeface="Times New Roman" panose="02020603050405020304" charset="0"/>
                          <a:cs typeface="Times New Roman" panose="02020603050405020304" charset="0"/>
                        </a:rPr>
                        <a:t>DRC</a:t>
                      </a:r>
                      <a:endParaRPr lang="en-IN" altLang="en-GB" sz="1600">
                        <a:latin typeface="Times New Roman" panose="02020603050405020304" charset="0"/>
                        <a:cs typeface="Times New Roman" panose="02020603050405020304" charset="0"/>
                      </a:endParaRPr>
                    </a:p>
                  </a:txBody>
                  <a:tcPr>
                    <a:lnR w="12700" cmpd="sng">
                      <a:solidFill>
                        <a:schemeClr val="tx1"/>
                      </a:solidFill>
                      <a:prstDash val="solid"/>
                    </a:lnR>
                    <a:solidFill>
                      <a:schemeClr val="accent1">
                        <a:lumMod val="40000"/>
                        <a:lumOff val="60000"/>
                      </a:schemeClr>
                    </a:solidFill>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389255">
                <a:tc>
                  <a:txBody>
                    <a:bodyPr/>
                    <a:p>
                      <a:pPr algn="l">
                        <a:buNone/>
                      </a:pPr>
                      <a:r>
                        <a:rPr lang="en-IN" altLang="en-GB" sz="1600">
                          <a:latin typeface="Times New Roman" panose="02020603050405020304" charset="0"/>
                          <a:cs typeface="Times New Roman" panose="02020603050405020304" charset="0"/>
                        </a:rPr>
                        <a:t>LVS</a:t>
                      </a:r>
                      <a:endParaRPr lang="en-IN" altLang="en-GB" sz="1600">
                        <a:latin typeface="Times New Roman" panose="02020603050405020304" charset="0"/>
                        <a:cs typeface="Times New Roman" panose="02020603050405020304" charset="0"/>
                      </a:endParaRPr>
                    </a:p>
                  </a:txBody>
                  <a:tcPr>
                    <a:lnR w="12700" cmpd="sng">
                      <a:solidFill>
                        <a:schemeClr val="tx1"/>
                      </a:solidFill>
                      <a:prstDash val="solid"/>
                    </a:lnR>
                    <a:solidFill>
                      <a:schemeClr val="accent1">
                        <a:lumMod val="40000"/>
                        <a:lumOff val="60000"/>
                      </a:schemeClr>
                    </a:solidFill>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502285">
                <a:tc>
                  <a:txBody>
                    <a:bodyPr/>
                    <a:p>
                      <a:pPr algn="l">
                        <a:buNone/>
                      </a:pPr>
                      <a:r>
                        <a:rPr lang="en-IN" altLang="en-GB" sz="1600">
                          <a:latin typeface="Times New Roman" panose="02020603050405020304" charset="0"/>
                          <a:cs typeface="Times New Roman" panose="02020603050405020304" charset="0"/>
                        </a:rPr>
                        <a:t>P-EX</a:t>
                      </a:r>
                      <a:endParaRPr lang="en-IN" altLang="en-GB" sz="1600">
                        <a:latin typeface="Times New Roman" panose="02020603050405020304" charset="0"/>
                        <a:cs typeface="Times New Roman" panose="02020603050405020304" charset="0"/>
                      </a:endParaRPr>
                    </a:p>
                  </a:txBody>
                  <a:tcPr>
                    <a:lnR w="12700" cmpd="sng">
                      <a:solidFill>
                        <a:schemeClr val="tx1"/>
                      </a:solidFill>
                      <a:prstDash val="solid"/>
                    </a:lnR>
                    <a:solidFill>
                      <a:schemeClr val="accent1">
                        <a:lumMod val="40000"/>
                        <a:lumOff val="60000"/>
                      </a:schemeClr>
                    </a:solidFill>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502285">
                <a:tc>
                  <a:txBody>
                    <a:bodyPr/>
                    <a:p>
                      <a:pPr algn="l">
                        <a:buNone/>
                      </a:pPr>
                      <a:r>
                        <a:rPr lang="en-IN" altLang="en-GB" sz="1600">
                          <a:latin typeface="Times New Roman" panose="02020603050405020304" charset="0"/>
                          <a:cs typeface="Times New Roman" panose="02020603050405020304" charset="0"/>
                        </a:rPr>
                        <a:t>Final Docum-entation</a:t>
                      </a:r>
                      <a:endParaRPr lang="en-IN" altLang="en-GB" sz="1600">
                        <a:latin typeface="Times New Roman" panose="02020603050405020304" charset="0"/>
                        <a:cs typeface="Times New Roman" panose="02020603050405020304" charset="0"/>
                      </a:endParaRPr>
                    </a:p>
                  </a:txBody>
                  <a:tcPr>
                    <a:lnR w="12700" cmpd="sng">
                      <a:solidFill>
                        <a:schemeClr val="tx1"/>
                      </a:solidFill>
                      <a:prstDash val="solid"/>
                    </a:lnR>
                    <a:solidFill>
                      <a:schemeClr val="accent1">
                        <a:lumMod val="40000"/>
                        <a:lumOff val="60000"/>
                      </a:schemeClr>
                    </a:solidFill>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bl>
          </a:graphicData>
        </a:graphic>
      </p:graphicFrame>
      <p:sp>
        <p:nvSpPr>
          <p:cNvPr id="10" name="Pentagon 9"/>
          <p:cNvSpPr/>
          <p:nvPr/>
        </p:nvSpPr>
        <p:spPr>
          <a:xfrm>
            <a:off x="1596390" y="1646555"/>
            <a:ext cx="2567305" cy="415290"/>
          </a:xfrm>
          <a:prstGeom prst="homePlat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GB" altLang="en-US"/>
          </a:p>
        </p:txBody>
      </p:sp>
      <p:sp>
        <p:nvSpPr>
          <p:cNvPr id="11" name="Pentagon 10"/>
          <p:cNvSpPr/>
          <p:nvPr/>
        </p:nvSpPr>
        <p:spPr>
          <a:xfrm>
            <a:off x="1596390" y="2292985"/>
            <a:ext cx="1386840" cy="436245"/>
          </a:xfrm>
          <a:prstGeom prst="homePlat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GB" altLang="en-US"/>
          </a:p>
        </p:txBody>
      </p:sp>
      <p:sp>
        <p:nvSpPr>
          <p:cNvPr id="12" name="Pentagon 11"/>
          <p:cNvSpPr/>
          <p:nvPr/>
        </p:nvSpPr>
        <p:spPr>
          <a:xfrm>
            <a:off x="4163695" y="3040380"/>
            <a:ext cx="1452245" cy="489585"/>
          </a:xfrm>
          <a:prstGeom prst="homePlat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GB" altLang="en-US"/>
          </a:p>
        </p:txBody>
      </p:sp>
      <p:sp>
        <p:nvSpPr>
          <p:cNvPr id="14" name="Text Box 13"/>
          <p:cNvSpPr txBox="1"/>
          <p:nvPr/>
        </p:nvSpPr>
        <p:spPr>
          <a:xfrm>
            <a:off x="560070" y="0"/>
            <a:ext cx="4064000" cy="460375"/>
          </a:xfrm>
          <a:prstGeom prst="rect">
            <a:avLst/>
          </a:prstGeom>
          <a:noFill/>
        </p:spPr>
        <p:txBody>
          <a:bodyPr wrap="square" rtlCol="0">
            <a:spAutoFit/>
          </a:bodyPr>
          <a:p>
            <a:r>
              <a:rPr lang="en-GB" altLang="en-US" sz="2400" b="1">
                <a:latin typeface="Times New Roman" panose="02020603050405020304" charset="0"/>
                <a:cs typeface="Times New Roman" panose="02020603050405020304" charset="0"/>
              </a:rPr>
              <a:t>Gantt Chart</a:t>
            </a:r>
            <a:endParaRPr lang="en-GB" altLang="en-US" sz="2400" b="1">
              <a:latin typeface="Times New Roman" panose="02020603050405020304" charset="0"/>
              <a:cs typeface="Times New Roman" panose="02020603050405020304" charset="0"/>
            </a:endParaRPr>
          </a:p>
        </p:txBody>
      </p:sp>
      <p:sp>
        <p:nvSpPr>
          <p:cNvPr id="2" name="Pentagon 1"/>
          <p:cNvSpPr/>
          <p:nvPr/>
        </p:nvSpPr>
        <p:spPr>
          <a:xfrm>
            <a:off x="5332730" y="3639820"/>
            <a:ext cx="729615" cy="489585"/>
          </a:xfrm>
          <a:prstGeom prst="homePlat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GB" altLang="en-US"/>
          </a:p>
        </p:txBody>
      </p:sp>
      <p:sp>
        <p:nvSpPr>
          <p:cNvPr id="3" name="Pentagon 2"/>
          <p:cNvSpPr/>
          <p:nvPr/>
        </p:nvSpPr>
        <p:spPr>
          <a:xfrm>
            <a:off x="6062345" y="4209415"/>
            <a:ext cx="2241550" cy="489585"/>
          </a:xfrm>
          <a:prstGeom prst="homePlat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GB" altLang="en-US"/>
          </a:p>
        </p:txBody>
      </p:sp>
      <p:sp>
        <p:nvSpPr>
          <p:cNvPr id="4" name="Pentagon 3"/>
          <p:cNvSpPr/>
          <p:nvPr/>
        </p:nvSpPr>
        <p:spPr>
          <a:xfrm>
            <a:off x="8118475" y="4779010"/>
            <a:ext cx="1011555" cy="340360"/>
          </a:xfrm>
          <a:prstGeom prst="homePlat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GB" altLang="en-US"/>
          </a:p>
        </p:txBody>
      </p:sp>
      <p:sp>
        <p:nvSpPr>
          <p:cNvPr id="5" name="Pentagon 4"/>
          <p:cNvSpPr/>
          <p:nvPr/>
        </p:nvSpPr>
        <p:spPr>
          <a:xfrm>
            <a:off x="8119745" y="5203190"/>
            <a:ext cx="1011555" cy="312420"/>
          </a:xfrm>
          <a:prstGeom prst="homePlat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GB" altLang="en-US"/>
          </a:p>
        </p:txBody>
      </p:sp>
      <p:sp>
        <p:nvSpPr>
          <p:cNvPr id="7" name="Pentagon 6"/>
          <p:cNvSpPr/>
          <p:nvPr/>
        </p:nvSpPr>
        <p:spPr>
          <a:xfrm>
            <a:off x="8115935" y="5591810"/>
            <a:ext cx="1011555" cy="405765"/>
          </a:xfrm>
          <a:prstGeom prst="homePlat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GB" altLang="en-US"/>
          </a:p>
        </p:txBody>
      </p:sp>
      <p:sp>
        <p:nvSpPr>
          <p:cNvPr id="9" name="Pentagon 8"/>
          <p:cNvSpPr/>
          <p:nvPr/>
        </p:nvSpPr>
        <p:spPr>
          <a:xfrm>
            <a:off x="9127490" y="6134735"/>
            <a:ext cx="2232025" cy="415290"/>
          </a:xfrm>
          <a:prstGeom prst="homePlat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GB"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p:cNvPicPr>
            <a:picLocks noChangeAspect="1"/>
          </p:cNvPicPr>
          <p:nvPr/>
        </p:nvPicPr>
        <p:blipFill>
          <a:blip r:embed="rId1"/>
          <a:stretch>
            <a:fillRect/>
          </a:stretch>
        </p:blipFill>
        <p:spPr>
          <a:xfrm>
            <a:off x="7590155" y="227965"/>
            <a:ext cx="4146550" cy="480695"/>
          </a:xfrm>
          <a:prstGeom prst="rect">
            <a:avLst/>
          </a:prstGeom>
        </p:spPr>
      </p:pic>
      <p:sp>
        <p:nvSpPr>
          <p:cNvPr id="3" name="Title 1"/>
          <p:cNvSpPr>
            <a:spLocks noGrp="1"/>
          </p:cNvSpPr>
          <p:nvPr/>
        </p:nvSpPr>
        <p:spPr>
          <a:xfrm>
            <a:off x="266065" y="183515"/>
            <a:ext cx="7536180" cy="73469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altLang="en-IN" sz="2800" b="1" dirty="0">
                <a:latin typeface="Times New Roman" panose="02020603050405020304" charset="0"/>
                <a:cs typeface="Times New Roman" panose="02020603050405020304" charset="0"/>
              </a:rPr>
              <a:t>Work Breakdown Structure</a:t>
            </a:r>
            <a:endParaRPr lang="en-GB" altLang="en-IN" sz="2800" b="1" dirty="0">
              <a:latin typeface="Times New Roman" panose="02020603050405020304" charset="0"/>
              <a:cs typeface="Times New Roman" panose="02020603050405020304" charset="0"/>
            </a:endParaRPr>
          </a:p>
        </p:txBody>
      </p:sp>
      <p:sp>
        <p:nvSpPr>
          <p:cNvPr id="4" name="Rectangles 3"/>
          <p:cNvSpPr/>
          <p:nvPr/>
        </p:nvSpPr>
        <p:spPr>
          <a:xfrm>
            <a:off x="2026920" y="918210"/>
            <a:ext cx="7901940" cy="542925"/>
          </a:xfrm>
          <a:prstGeom prst="rect">
            <a:avLst/>
          </a:prstGeom>
          <a:solidFill>
            <a:schemeClr val="accent6">
              <a:lumMod val="40000"/>
              <a:lumOff val="60000"/>
            </a:schemeClr>
          </a:solidFill>
          <a:ln>
            <a:solidFill>
              <a:schemeClr val="accent6">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US" b="1" dirty="0">
                <a:solidFill>
                  <a:schemeClr val="tx1"/>
                </a:solidFill>
                <a:latin typeface="Times New Roman" panose="02020603050405020304" charset="0"/>
                <a:cs typeface="Times New Roman" panose="02020603050405020304" charset="0"/>
                <a:sym typeface="+mn-ea"/>
              </a:rPr>
              <a:t>“ Design And Analysis of a Low-Power 6T SRAM Cell ” </a:t>
            </a:r>
            <a:endParaRPr lang="en-US" altLang="en-US" b="1" dirty="0">
              <a:solidFill>
                <a:schemeClr val="tx1"/>
              </a:solidFill>
              <a:latin typeface="Times New Roman" panose="02020603050405020304" charset="0"/>
              <a:cs typeface="Times New Roman" panose="02020603050405020304" charset="0"/>
              <a:sym typeface="+mn-ea"/>
            </a:endParaRPr>
          </a:p>
        </p:txBody>
      </p:sp>
      <p:sp>
        <p:nvSpPr>
          <p:cNvPr id="6" name="Rounded Rectangle 5"/>
          <p:cNvSpPr/>
          <p:nvPr/>
        </p:nvSpPr>
        <p:spPr>
          <a:xfrm>
            <a:off x="10260965" y="2106295"/>
            <a:ext cx="1739900" cy="682625"/>
          </a:xfrm>
          <a:prstGeom prst="roundRect">
            <a:avLst/>
          </a:prstGeom>
          <a:solidFill>
            <a:schemeClr val="accent5">
              <a:lumMod val="75000"/>
            </a:schemeClr>
          </a:solidFill>
          <a:ln>
            <a:solidFill>
              <a:schemeClr val="accent5">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latin typeface="Times New Roman" panose="02020603050405020304" charset="0"/>
                <a:cs typeface="Times New Roman" panose="02020603050405020304" charset="0"/>
              </a:rPr>
              <a:t>Documentation &amp; Presentation</a:t>
            </a:r>
            <a:endParaRPr lang="en-US" altLang="en-GB">
              <a:latin typeface="Times New Roman" panose="02020603050405020304" charset="0"/>
              <a:cs typeface="Times New Roman" panose="02020603050405020304" charset="0"/>
            </a:endParaRPr>
          </a:p>
        </p:txBody>
      </p:sp>
      <p:sp>
        <p:nvSpPr>
          <p:cNvPr id="17" name="Rounded Rectangle 16"/>
          <p:cNvSpPr/>
          <p:nvPr/>
        </p:nvSpPr>
        <p:spPr>
          <a:xfrm>
            <a:off x="8293735" y="2106295"/>
            <a:ext cx="1739900" cy="682625"/>
          </a:xfrm>
          <a:prstGeom prst="roundRect">
            <a:avLst/>
          </a:prstGeom>
          <a:solidFill>
            <a:schemeClr val="accent5">
              <a:lumMod val="75000"/>
            </a:schemeClr>
          </a:solidFill>
          <a:ln>
            <a:solidFill>
              <a:schemeClr val="accent5">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latin typeface="Times New Roman" panose="02020603050405020304" charset="0"/>
                <a:cs typeface="Times New Roman" panose="02020603050405020304" charset="0"/>
              </a:rPr>
              <a:t>Testing &amp; Optimization</a:t>
            </a:r>
            <a:endParaRPr lang="en-US" altLang="en-GB">
              <a:latin typeface="Times New Roman" panose="02020603050405020304" charset="0"/>
              <a:cs typeface="Times New Roman" panose="02020603050405020304" charset="0"/>
            </a:endParaRPr>
          </a:p>
        </p:txBody>
      </p:sp>
      <p:sp>
        <p:nvSpPr>
          <p:cNvPr id="19" name="Rounded Rectangle 18"/>
          <p:cNvSpPr/>
          <p:nvPr/>
        </p:nvSpPr>
        <p:spPr>
          <a:xfrm>
            <a:off x="6326505" y="2106295"/>
            <a:ext cx="1750695" cy="682625"/>
          </a:xfrm>
          <a:prstGeom prst="roundRect">
            <a:avLst/>
          </a:prstGeom>
          <a:solidFill>
            <a:schemeClr val="accent5">
              <a:lumMod val="75000"/>
            </a:schemeClr>
          </a:solidFill>
          <a:ln>
            <a:solidFill>
              <a:schemeClr val="accent5">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latin typeface="Times New Roman" panose="02020603050405020304" charset="0"/>
                <a:cs typeface="Times New Roman" panose="02020603050405020304" charset="0"/>
              </a:rPr>
              <a:t>Implementation</a:t>
            </a:r>
            <a:endParaRPr lang="en-US" altLang="en-GB">
              <a:latin typeface="Times New Roman" panose="02020603050405020304" charset="0"/>
              <a:cs typeface="Times New Roman" panose="02020603050405020304" charset="0"/>
            </a:endParaRPr>
          </a:p>
        </p:txBody>
      </p:sp>
      <p:sp>
        <p:nvSpPr>
          <p:cNvPr id="20" name="Rounded Rectangle 19"/>
          <p:cNvSpPr/>
          <p:nvPr/>
        </p:nvSpPr>
        <p:spPr>
          <a:xfrm>
            <a:off x="4359275" y="2106295"/>
            <a:ext cx="1739900" cy="682625"/>
          </a:xfrm>
          <a:prstGeom prst="roundRect">
            <a:avLst/>
          </a:prstGeom>
          <a:solidFill>
            <a:schemeClr val="accent5">
              <a:lumMod val="75000"/>
            </a:schemeClr>
          </a:solidFill>
          <a:ln>
            <a:solidFill>
              <a:schemeClr val="accent5">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latin typeface="Times New Roman" panose="02020603050405020304" charset="0"/>
                <a:cs typeface="Times New Roman" panose="02020603050405020304" charset="0"/>
              </a:rPr>
              <a:t>Design</a:t>
            </a:r>
            <a:endParaRPr lang="en-US" altLang="en-GB">
              <a:latin typeface="Times New Roman" panose="02020603050405020304" charset="0"/>
              <a:cs typeface="Times New Roman" panose="02020603050405020304" charset="0"/>
            </a:endParaRPr>
          </a:p>
        </p:txBody>
      </p:sp>
      <p:sp>
        <p:nvSpPr>
          <p:cNvPr id="22" name="Rounded Rectangle 21"/>
          <p:cNvSpPr/>
          <p:nvPr/>
        </p:nvSpPr>
        <p:spPr>
          <a:xfrm>
            <a:off x="2392045" y="2106295"/>
            <a:ext cx="1739900" cy="682625"/>
          </a:xfrm>
          <a:prstGeom prst="roundRect">
            <a:avLst/>
          </a:prstGeom>
          <a:solidFill>
            <a:schemeClr val="accent5">
              <a:lumMod val="75000"/>
            </a:schemeClr>
          </a:solidFill>
          <a:ln>
            <a:solidFill>
              <a:schemeClr val="accent5">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latin typeface="Times New Roman" panose="02020603050405020304" charset="0"/>
                <a:cs typeface="Times New Roman" panose="02020603050405020304" charset="0"/>
              </a:rPr>
              <a:t>Planning and Analysis</a:t>
            </a:r>
            <a:endParaRPr lang="en-US" altLang="en-GB">
              <a:latin typeface="Times New Roman" panose="02020603050405020304" charset="0"/>
              <a:cs typeface="Times New Roman" panose="02020603050405020304" charset="0"/>
            </a:endParaRPr>
          </a:p>
        </p:txBody>
      </p:sp>
      <p:sp>
        <p:nvSpPr>
          <p:cNvPr id="24" name="Rounded Rectangle 23"/>
          <p:cNvSpPr/>
          <p:nvPr/>
        </p:nvSpPr>
        <p:spPr>
          <a:xfrm>
            <a:off x="351155" y="2106295"/>
            <a:ext cx="1739900" cy="682625"/>
          </a:xfrm>
          <a:prstGeom prst="roundRect">
            <a:avLst/>
          </a:prstGeom>
          <a:solidFill>
            <a:schemeClr val="accent5">
              <a:lumMod val="75000"/>
            </a:schemeClr>
          </a:solidFill>
          <a:ln>
            <a:solidFill>
              <a:schemeClr val="accent5">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latin typeface="Times New Roman" panose="02020603050405020304" charset="0"/>
                <a:cs typeface="Times New Roman" panose="02020603050405020304" charset="0"/>
              </a:rPr>
              <a:t>Project Initiation</a:t>
            </a:r>
            <a:endParaRPr lang="en-US" altLang="en-GB">
              <a:latin typeface="Times New Roman" panose="02020603050405020304" charset="0"/>
              <a:cs typeface="Times New Roman" panose="02020603050405020304" charset="0"/>
            </a:endParaRPr>
          </a:p>
        </p:txBody>
      </p:sp>
      <p:sp>
        <p:nvSpPr>
          <p:cNvPr id="27" name="Rounded Rectangle 26"/>
          <p:cNvSpPr/>
          <p:nvPr/>
        </p:nvSpPr>
        <p:spPr>
          <a:xfrm>
            <a:off x="351155" y="3087370"/>
            <a:ext cx="1739900" cy="682625"/>
          </a:xfrm>
          <a:prstGeom prst="roundRect">
            <a:avLst/>
          </a:prstGeom>
          <a:solidFill>
            <a:schemeClr val="accent5">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solidFill>
                  <a:schemeClr val="tx1"/>
                </a:solidFill>
                <a:latin typeface="Times New Roman" panose="02020603050405020304" charset="0"/>
                <a:cs typeface="Times New Roman" panose="02020603050405020304" charset="0"/>
              </a:rPr>
              <a:t>Problem &amp; Objectives</a:t>
            </a:r>
            <a:endParaRPr lang="en-US" altLang="en-GB">
              <a:solidFill>
                <a:schemeClr val="tx1"/>
              </a:solidFill>
              <a:latin typeface="Times New Roman" panose="02020603050405020304" charset="0"/>
              <a:cs typeface="Times New Roman" panose="02020603050405020304" charset="0"/>
            </a:endParaRPr>
          </a:p>
        </p:txBody>
      </p:sp>
      <p:sp>
        <p:nvSpPr>
          <p:cNvPr id="29" name="Rounded Rectangle 28"/>
          <p:cNvSpPr/>
          <p:nvPr/>
        </p:nvSpPr>
        <p:spPr>
          <a:xfrm>
            <a:off x="351155" y="5939155"/>
            <a:ext cx="1739900" cy="745490"/>
          </a:xfrm>
          <a:prstGeom prst="roundRect">
            <a:avLst/>
          </a:prstGeom>
          <a:solidFill>
            <a:schemeClr val="accent5">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solidFill>
                  <a:schemeClr val="tx1"/>
                </a:solidFill>
                <a:latin typeface="Times New Roman" panose="02020603050405020304" charset="0"/>
                <a:cs typeface="Times New Roman" panose="02020603050405020304" charset="0"/>
              </a:rPr>
              <a:t>Identifying Software Deliverables</a:t>
            </a:r>
            <a:endParaRPr lang="en-US" altLang="en-GB">
              <a:solidFill>
                <a:schemeClr val="tx1"/>
              </a:solidFill>
              <a:latin typeface="Times New Roman" panose="02020603050405020304" charset="0"/>
              <a:cs typeface="Times New Roman" panose="02020603050405020304" charset="0"/>
            </a:endParaRPr>
          </a:p>
        </p:txBody>
      </p:sp>
      <p:sp>
        <p:nvSpPr>
          <p:cNvPr id="30" name="Rounded Rectangle 29"/>
          <p:cNvSpPr/>
          <p:nvPr/>
        </p:nvSpPr>
        <p:spPr>
          <a:xfrm>
            <a:off x="351155" y="5049520"/>
            <a:ext cx="1739900" cy="682625"/>
          </a:xfrm>
          <a:prstGeom prst="roundRect">
            <a:avLst/>
          </a:prstGeom>
          <a:solidFill>
            <a:schemeClr val="accent5">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solidFill>
                  <a:schemeClr val="tx1"/>
                </a:solidFill>
                <a:latin typeface="Times New Roman" panose="02020603050405020304" charset="0"/>
                <a:cs typeface="Times New Roman" panose="02020603050405020304" charset="0"/>
              </a:rPr>
              <a:t>Defining Software Scope</a:t>
            </a:r>
            <a:endParaRPr lang="en-US" altLang="en-GB">
              <a:solidFill>
                <a:schemeClr val="tx1"/>
              </a:solidFill>
              <a:latin typeface="Times New Roman" panose="02020603050405020304" charset="0"/>
              <a:cs typeface="Times New Roman" panose="02020603050405020304" charset="0"/>
            </a:endParaRPr>
          </a:p>
        </p:txBody>
      </p:sp>
      <p:sp>
        <p:nvSpPr>
          <p:cNvPr id="31" name="Rounded Rectangle 30"/>
          <p:cNvSpPr/>
          <p:nvPr/>
        </p:nvSpPr>
        <p:spPr>
          <a:xfrm>
            <a:off x="351155" y="4068445"/>
            <a:ext cx="1739900" cy="682625"/>
          </a:xfrm>
          <a:prstGeom prst="roundRect">
            <a:avLst/>
          </a:prstGeom>
          <a:solidFill>
            <a:schemeClr val="accent5">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solidFill>
                  <a:schemeClr val="tx1"/>
                </a:solidFill>
                <a:latin typeface="Times New Roman" panose="02020603050405020304" charset="0"/>
                <a:cs typeface="Times New Roman" panose="02020603050405020304" charset="0"/>
              </a:rPr>
              <a:t>Literature Survey</a:t>
            </a:r>
            <a:endParaRPr lang="en-US" altLang="en-GB">
              <a:solidFill>
                <a:schemeClr val="tx1"/>
              </a:solidFill>
              <a:latin typeface="Times New Roman" panose="02020603050405020304" charset="0"/>
              <a:cs typeface="Times New Roman" panose="02020603050405020304" charset="0"/>
            </a:endParaRPr>
          </a:p>
        </p:txBody>
      </p:sp>
      <p:sp>
        <p:nvSpPr>
          <p:cNvPr id="32" name="Rounded Rectangle 31"/>
          <p:cNvSpPr/>
          <p:nvPr/>
        </p:nvSpPr>
        <p:spPr>
          <a:xfrm>
            <a:off x="4359275" y="5049520"/>
            <a:ext cx="1739900" cy="682625"/>
          </a:xfrm>
          <a:prstGeom prst="roundRect">
            <a:avLst/>
          </a:prstGeom>
          <a:solidFill>
            <a:schemeClr val="accent5">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solidFill>
                  <a:schemeClr val="tx1"/>
                </a:solidFill>
                <a:latin typeface="Times New Roman" panose="02020603050405020304" charset="0"/>
                <a:cs typeface="Times New Roman" panose="02020603050405020304" charset="0"/>
              </a:rPr>
              <a:t>Design Optimization</a:t>
            </a:r>
            <a:endParaRPr lang="en-US" altLang="en-GB">
              <a:solidFill>
                <a:schemeClr val="tx1"/>
              </a:solidFill>
              <a:latin typeface="Times New Roman" panose="02020603050405020304" charset="0"/>
              <a:cs typeface="Times New Roman" panose="02020603050405020304" charset="0"/>
            </a:endParaRPr>
          </a:p>
        </p:txBody>
      </p:sp>
      <p:sp>
        <p:nvSpPr>
          <p:cNvPr id="33" name="Rounded Rectangle 32"/>
          <p:cNvSpPr/>
          <p:nvPr/>
        </p:nvSpPr>
        <p:spPr>
          <a:xfrm>
            <a:off x="4359275" y="4068445"/>
            <a:ext cx="1739900" cy="682625"/>
          </a:xfrm>
          <a:prstGeom prst="roundRect">
            <a:avLst/>
          </a:prstGeom>
          <a:solidFill>
            <a:schemeClr val="accent5">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solidFill>
                  <a:schemeClr val="tx1"/>
                </a:solidFill>
                <a:latin typeface="Times New Roman" panose="02020603050405020304" charset="0"/>
                <a:cs typeface="Times New Roman" panose="02020603050405020304" charset="0"/>
              </a:rPr>
              <a:t>Simulation Setup</a:t>
            </a:r>
            <a:endParaRPr lang="en-US" altLang="en-GB">
              <a:solidFill>
                <a:schemeClr val="tx1"/>
              </a:solidFill>
              <a:latin typeface="Times New Roman" panose="02020603050405020304" charset="0"/>
              <a:cs typeface="Times New Roman" panose="02020603050405020304" charset="0"/>
            </a:endParaRPr>
          </a:p>
        </p:txBody>
      </p:sp>
      <p:sp>
        <p:nvSpPr>
          <p:cNvPr id="34" name="Rounded Rectangle 33"/>
          <p:cNvSpPr/>
          <p:nvPr/>
        </p:nvSpPr>
        <p:spPr>
          <a:xfrm>
            <a:off x="6326505" y="5939155"/>
            <a:ext cx="1739900" cy="682625"/>
          </a:xfrm>
          <a:prstGeom prst="roundRect">
            <a:avLst/>
          </a:prstGeom>
          <a:solidFill>
            <a:schemeClr val="accent5">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solidFill>
                  <a:schemeClr val="tx1"/>
                </a:solidFill>
                <a:latin typeface="Times New Roman" panose="02020603050405020304" charset="0"/>
                <a:cs typeface="Times New Roman" panose="02020603050405020304" charset="0"/>
                <a:sym typeface="+mn-ea"/>
              </a:rPr>
              <a:t>LVS &amp; DRC Verification</a:t>
            </a:r>
            <a:endParaRPr lang="en-US" altLang="en-GB">
              <a:solidFill>
                <a:schemeClr val="tx1"/>
              </a:solidFill>
              <a:latin typeface="Times New Roman" panose="02020603050405020304" charset="0"/>
              <a:cs typeface="Times New Roman" panose="02020603050405020304" charset="0"/>
              <a:sym typeface="+mn-ea"/>
            </a:endParaRPr>
          </a:p>
        </p:txBody>
      </p:sp>
      <p:sp>
        <p:nvSpPr>
          <p:cNvPr id="35" name="Rounded Rectangle 34"/>
          <p:cNvSpPr/>
          <p:nvPr/>
        </p:nvSpPr>
        <p:spPr>
          <a:xfrm>
            <a:off x="6326505" y="5049520"/>
            <a:ext cx="1739900" cy="682625"/>
          </a:xfrm>
          <a:prstGeom prst="roundRect">
            <a:avLst/>
          </a:prstGeom>
          <a:solidFill>
            <a:schemeClr val="accent5">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solidFill>
                  <a:schemeClr val="tx1"/>
                </a:solidFill>
                <a:latin typeface="Times New Roman" panose="02020603050405020304" charset="0"/>
                <a:cs typeface="Times New Roman" panose="02020603050405020304" charset="0"/>
                <a:sym typeface="+mn-ea"/>
              </a:rPr>
              <a:t>Layout Design</a:t>
            </a:r>
            <a:endParaRPr lang="en-US" altLang="en-GB">
              <a:solidFill>
                <a:schemeClr val="tx1"/>
              </a:solidFill>
              <a:latin typeface="Times New Roman" panose="02020603050405020304" charset="0"/>
              <a:cs typeface="Times New Roman" panose="02020603050405020304" charset="0"/>
              <a:sym typeface="+mn-ea"/>
            </a:endParaRPr>
          </a:p>
        </p:txBody>
      </p:sp>
      <p:sp>
        <p:nvSpPr>
          <p:cNvPr id="36" name="Rounded Rectangle 35"/>
          <p:cNvSpPr/>
          <p:nvPr/>
        </p:nvSpPr>
        <p:spPr>
          <a:xfrm>
            <a:off x="6326505" y="4068445"/>
            <a:ext cx="1739900" cy="682625"/>
          </a:xfrm>
          <a:prstGeom prst="roundRect">
            <a:avLst/>
          </a:prstGeom>
          <a:solidFill>
            <a:schemeClr val="accent5">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solidFill>
                  <a:schemeClr val="tx1"/>
                </a:solidFill>
                <a:latin typeface="Times New Roman" panose="02020603050405020304" charset="0"/>
                <a:cs typeface="Times New Roman" panose="02020603050405020304" charset="0"/>
                <a:sym typeface="+mn-ea"/>
              </a:rPr>
              <a:t>Running Simulations</a:t>
            </a:r>
            <a:endParaRPr lang="en-US" altLang="en-GB">
              <a:solidFill>
                <a:schemeClr val="tx1"/>
              </a:solidFill>
              <a:latin typeface="Times New Roman" panose="02020603050405020304" charset="0"/>
              <a:cs typeface="Times New Roman" panose="02020603050405020304" charset="0"/>
              <a:sym typeface="+mn-ea"/>
            </a:endParaRPr>
          </a:p>
        </p:txBody>
      </p:sp>
      <p:sp>
        <p:nvSpPr>
          <p:cNvPr id="38" name="Rounded Rectangle 37"/>
          <p:cNvSpPr/>
          <p:nvPr/>
        </p:nvSpPr>
        <p:spPr>
          <a:xfrm>
            <a:off x="2392045" y="3087370"/>
            <a:ext cx="1739900" cy="682625"/>
          </a:xfrm>
          <a:prstGeom prst="roundRect">
            <a:avLst/>
          </a:prstGeom>
          <a:solidFill>
            <a:schemeClr val="accent5">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solidFill>
                  <a:schemeClr val="tx1"/>
                </a:solidFill>
                <a:latin typeface="Times New Roman" panose="02020603050405020304" charset="0"/>
                <a:cs typeface="Times New Roman" panose="02020603050405020304" charset="0"/>
              </a:rPr>
              <a:t>Technology &amp; Tool Selection</a:t>
            </a:r>
            <a:endParaRPr lang="en-US" altLang="en-GB">
              <a:solidFill>
                <a:schemeClr val="tx1"/>
              </a:solidFill>
              <a:latin typeface="Times New Roman" panose="02020603050405020304" charset="0"/>
              <a:cs typeface="Times New Roman" panose="02020603050405020304" charset="0"/>
            </a:endParaRPr>
          </a:p>
        </p:txBody>
      </p:sp>
      <p:sp>
        <p:nvSpPr>
          <p:cNvPr id="39" name="Rounded Rectangle 38"/>
          <p:cNvSpPr/>
          <p:nvPr/>
        </p:nvSpPr>
        <p:spPr>
          <a:xfrm>
            <a:off x="4359275" y="3087370"/>
            <a:ext cx="1739900" cy="682625"/>
          </a:xfrm>
          <a:prstGeom prst="roundRect">
            <a:avLst/>
          </a:prstGeom>
          <a:solidFill>
            <a:schemeClr val="accent5">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solidFill>
                  <a:schemeClr val="tx1"/>
                </a:solidFill>
                <a:latin typeface="Times New Roman" panose="02020603050405020304" charset="0"/>
                <a:cs typeface="Times New Roman" panose="02020603050405020304" charset="0"/>
              </a:rPr>
              <a:t>Schematic Design</a:t>
            </a:r>
            <a:endParaRPr lang="en-US" altLang="en-GB">
              <a:solidFill>
                <a:schemeClr val="tx1"/>
              </a:solidFill>
              <a:latin typeface="Times New Roman" panose="02020603050405020304" charset="0"/>
              <a:cs typeface="Times New Roman" panose="02020603050405020304" charset="0"/>
            </a:endParaRPr>
          </a:p>
        </p:txBody>
      </p:sp>
      <p:sp>
        <p:nvSpPr>
          <p:cNvPr id="40" name="Rounded Rectangle 39"/>
          <p:cNvSpPr/>
          <p:nvPr/>
        </p:nvSpPr>
        <p:spPr>
          <a:xfrm>
            <a:off x="6326505" y="3087370"/>
            <a:ext cx="1739900" cy="682625"/>
          </a:xfrm>
          <a:prstGeom prst="roundRect">
            <a:avLst/>
          </a:prstGeom>
          <a:solidFill>
            <a:schemeClr val="accent5">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solidFill>
                  <a:schemeClr val="tx1"/>
                </a:solidFill>
                <a:latin typeface="Times New Roman" panose="02020603050405020304" charset="0"/>
                <a:cs typeface="Times New Roman" panose="02020603050405020304" charset="0"/>
                <a:sym typeface="+mn-ea"/>
              </a:rPr>
              <a:t>Setting up EDA Tools</a:t>
            </a:r>
            <a:endParaRPr lang="en-US" altLang="en-GB">
              <a:solidFill>
                <a:schemeClr val="tx1"/>
              </a:solidFill>
              <a:latin typeface="Times New Roman" panose="02020603050405020304" charset="0"/>
              <a:cs typeface="Times New Roman" panose="02020603050405020304" charset="0"/>
              <a:sym typeface="+mn-ea"/>
            </a:endParaRPr>
          </a:p>
        </p:txBody>
      </p:sp>
      <p:sp>
        <p:nvSpPr>
          <p:cNvPr id="43" name="Rounded Rectangle 42"/>
          <p:cNvSpPr/>
          <p:nvPr/>
        </p:nvSpPr>
        <p:spPr>
          <a:xfrm>
            <a:off x="8293735" y="5939155"/>
            <a:ext cx="1739900" cy="682625"/>
          </a:xfrm>
          <a:prstGeom prst="roundRect">
            <a:avLst/>
          </a:prstGeom>
          <a:solidFill>
            <a:schemeClr val="accent5">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solidFill>
                  <a:schemeClr val="tx1"/>
                </a:solidFill>
                <a:latin typeface="Times New Roman" panose="02020603050405020304" charset="0"/>
                <a:cs typeface="Times New Roman" panose="02020603050405020304" charset="0"/>
              </a:rPr>
              <a:t>Parasitic Extraction</a:t>
            </a:r>
            <a:endParaRPr lang="en-US" altLang="en-GB">
              <a:solidFill>
                <a:schemeClr val="tx1"/>
              </a:solidFill>
              <a:latin typeface="Times New Roman" panose="02020603050405020304" charset="0"/>
              <a:cs typeface="Times New Roman" panose="02020603050405020304" charset="0"/>
            </a:endParaRPr>
          </a:p>
        </p:txBody>
      </p:sp>
      <p:sp>
        <p:nvSpPr>
          <p:cNvPr id="44" name="Rounded Rectangle 43"/>
          <p:cNvSpPr/>
          <p:nvPr/>
        </p:nvSpPr>
        <p:spPr>
          <a:xfrm>
            <a:off x="8293735" y="5049520"/>
            <a:ext cx="1739900" cy="725805"/>
          </a:xfrm>
          <a:prstGeom prst="roundRect">
            <a:avLst/>
          </a:prstGeom>
          <a:solidFill>
            <a:schemeClr val="accent5">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solidFill>
                  <a:schemeClr val="tx1"/>
                </a:solidFill>
                <a:latin typeface="Times New Roman" panose="02020603050405020304" charset="0"/>
                <a:cs typeface="Times New Roman" panose="02020603050405020304" charset="0"/>
              </a:rPr>
              <a:t>Layout vs Schematic Checks</a:t>
            </a:r>
            <a:endParaRPr lang="en-US" altLang="en-GB">
              <a:solidFill>
                <a:schemeClr val="tx1"/>
              </a:solidFill>
              <a:latin typeface="Times New Roman" panose="02020603050405020304" charset="0"/>
              <a:cs typeface="Times New Roman" panose="02020603050405020304" charset="0"/>
            </a:endParaRPr>
          </a:p>
        </p:txBody>
      </p:sp>
      <p:sp>
        <p:nvSpPr>
          <p:cNvPr id="45" name="Rounded Rectangle 44"/>
          <p:cNvSpPr/>
          <p:nvPr/>
        </p:nvSpPr>
        <p:spPr>
          <a:xfrm>
            <a:off x="8293735" y="4068445"/>
            <a:ext cx="1739900" cy="704215"/>
          </a:xfrm>
          <a:prstGeom prst="roundRect">
            <a:avLst/>
          </a:prstGeom>
          <a:solidFill>
            <a:schemeClr val="accent5">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solidFill>
                  <a:schemeClr val="tx1"/>
                </a:solidFill>
                <a:latin typeface="Times New Roman" panose="02020603050405020304" charset="0"/>
                <a:cs typeface="Times New Roman" panose="02020603050405020304" charset="0"/>
              </a:rPr>
              <a:t>Power &amp; Performance Analysis</a:t>
            </a:r>
            <a:endParaRPr lang="en-US" altLang="en-GB">
              <a:solidFill>
                <a:schemeClr val="tx1"/>
              </a:solidFill>
              <a:latin typeface="Times New Roman" panose="02020603050405020304" charset="0"/>
              <a:cs typeface="Times New Roman" panose="02020603050405020304" charset="0"/>
            </a:endParaRPr>
          </a:p>
        </p:txBody>
      </p:sp>
      <p:sp>
        <p:nvSpPr>
          <p:cNvPr id="46" name="Rounded Rectangle 45"/>
          <p:cNvSpPr/>
          <p:nvPr/>
        </p:nvSpPr>
        <p:spPr>
          <a:xfrm>
            <a:off x="8293735" y="3087370"/>
            <a:ext cx="1739900" cy="682625"/>
          </a:xfrm>
          <a:prstGeom prst="roundRect">
            <a:avLst/>
          </a:prstGeom>
          <a:solidFill>
            <a:schemeClr val="accent5">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solidFill>
                  <a:schemeClr val="tx1"/>
                </a:solidFill>
                <a:latin typeface="Times New Roman" panose="02020603050405020304" charset="0"/>
                <a:cs typeface="Times New Roman" panose="02020603050405020304" charset="0"/>
              </a:rPr>
              <a:t>Functional Simulation</a:t>
            </a:r>
            <a:endParaRPr lang="en-US" altLang="en-GB">
              <a:solidFill>
                <a:schemeClr val="tx1"/>
              </a:solidFill>
              <a:latin typeface="Times New Roman" panose="02020603050405020304" charset="0"/>
              <a:cs typeface="Times New Roman" panose="02020603050405020304" charset="0"/>
            </a:endParaRPr>
          </a:p>
        </p:txBody>
      </p:sp>
      <p:sp>
        <p:nvSpPr>
          <p:cNvPr id="47" name="Rounded Rectangle 46"/>
          <p:cNvSpPr/>
          <p:nvPr/>
        </p:nvSpPr>
        <p:spPr>
          <a:xfrm>
            <a:off x="10325735" y="5939155"/>
            <a:ext cx="1739900" cy="682625"/>
          </a:xfrm>
          <a:prstGeom prst="roundRect">
            <a:avLst/>
          </a:prstGeom>
          <a:solidFill>
            <a:schemeClr val="accent5">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GB" altLang="en-US">
                <a:solidFill>
                  <a:schemeClr val="tx1"/>
                </a:solidFill>
                <a:latin typeface="Times New Roman" panose="02020603050405020304" charset="0"/>
                <a:cs typeface="Times New Roman" panose="02020603050405020304" charset="0"/>
              </a:rPr>
              <a:t>Final Review</a:t>
            </a:r>
            <a:endParaRPr lang="en-GB" altLang="en-US">
              <a:solidFill>
                <a:schemeClr val="tx1"/>
              </a:solidFill>
              <a:latin typeface="Times New Roman" panose="02020603050405020304" charset="0"/>
              <a:cs typeface="Times New Roman" panose="02020603050405020304" charset="0"/>
            </a:endParaRPr>
          </a:p>
        </p:txBody>
      </p:sp>
      <p:sp>
        <p:nvSpPr>
          <p:cNvPr id="48" name="Rounded Rectangle 47"/>
          <p:cNvSpPr/>
          <p:nvPr/>
        </p:nvSpPr>
        <p:spPr>
          <a:xfrm>
            <a:off x="10325735" y="5049520"/>
            <a:ext cx="1739900" cy="682625"/>
          </a:xfrm>
          <a:prstGeom prst="roundRect">
            <a:avLst/>
          </a:prstGeom>
          <a:solidFill>
            <a:schemeClr val="accent5">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solidFill>
                  <a:schemeClr val="tx1"/>
                </a:solidFill>
                <a:latin typeface="Times New Roman" panose="02020603050405020304" charset="0"/>
                <a:cs typeface="Times New Roman" panose="02020603050405020304" charset="0"/>
                <a:sym typeface="+mn-ea"/>
              </a:rPr>
              <a:t>Documentation Compilation</a:t>
            </a:r>
            <a:endParaRPr lang="en-US" altLang="en-GB">
              <a:solidFill>
                <a:schemeClr val="tx1"/>
              </a:solidFill>
              <a:latin typeface="Times New Roman" panose="02020603050405020304" charset="0"/>
              <a:cs typeface="Times New Roman" panose="02020603050405020304" charset="0"/>
              <a:sym typeface="+mn-ea"/>
            </a:endParaRPr>
          </a:p>
        </p:txBody>
      </p:sp>
      <p:sp>
        <p:nvSpPr>
          <p:cNvPr id="49" name="Rounded Rectangle 48"/>
          <p:cNvSpPr/>
          <p:nvPr/>
        </p:nvSpPr>
        <p:spPr>
          <a:xfrm>
            <a:off x="10325735" y="4068445"/>
            <a:ext cx="1739900" cy="699135"/>
          </a:xfrm>
          <a:prstGeom prst="roundRect">
            <a:avLst/>
          </a:prstGeom>
          <a:solidFill>
            <a:schemeClr val="accent5">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solidFill>
                  <a:schemeClr val="tx1"/>
                </a:solidFill>
                <a:latin typeface="Times New Roman" panose="02020603050405020304" charset="0"/>
                <a:cs typeface="Times New Roman" panose="02020603050405020304" charset="0"/>
                <a:sym typeface="+mn-ea"/>
              </a:rPr>
              <a:t>Final Presentation Preparation</a:t>
            </a:r>
            <a:endParaRPr lang="en-US" altLang="en-GB">
              <a:solidFill>
                <a:schemeClr val="tx1"/>
              </a:solidFill>
              <a:latin typeface="Times New Roman" panose="02020603050405020304" charset="0"/>
              <a:cs typeface="Times New Roman" panose="02020603050405020304" charset="0"/>
              <a:sym typeface="+mn-ea"/>
            </a:endParaRPr>
          </a:p>
        </p:txBody>
      </p:sp>
      <p:sp>
        <p:nvSpPr>
          <p:cNvPr id="50" name="Rounded Rectangle 49"/>
          <p:cNvSpPr/>
          <p:nvPr/>
        </p:nvSpPr>
        <p:spPr>
          <a:xfrm>
            <a:off x="10325735" y="3087370"/>
            <a:ext cx="1739900" cy="682625"/>
          </a:xfrm>
          <a:prstGeom prst="roundRect">
            <a:avLst/>
          </a:prstGeom>
          <a:solidFill>
            <a:schemeClr val="accent5">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solidFill>
                  <a:schemeClr val="tx1"/>
                </a:solidFill>
                <a:latin typeface="Times New Roman" panose="02020603050405020304" charset="0"/>
                <a:cs typeface="Times New Roman" panose="02020603050405020304" charset="0"/>
              </a:rPr>
              <a:t>Report</a:t>
            </a:r>
            <a:r>
              <a:rPr lang="en-GB" altLang="en-US">
                <a:solidFill>
                  <a:schemeClr val="tx1"/>
                </a:solidFill>
                <a:latin typeface="Times New Roman" panose="02020603050405020304" charset="0"/>
                <a:cs typeface="Times New Roman" panose="02020603050405020304" charset="0"/>
              </a:rPr>
              <a:t> making</a:t>
            </a:r>
            <a:endParaRPr lang="en-GB" altLang="en-US">
              <a:solidFill>
                <a:schemeClr val="tx1"/>
              </a:solidFill>
              <a:latin typeface="Times New Roman" panose="02020603050405020304" charset="0"/>
              <a:cs typeface="Times New Roman" panose="02020603050405020304" charset="0"/>
            </a:endParaRPr>
          </a:p>
        </p:txBody>
      </p:sp>
      <p:sp>
        <p:nvSpPr>
          <p:cNvPr id="51" name="Rounded Rectangle 50"/>
          <p:cNvSpPr/>
          <p:nvPr/>
        </p:nvSpPr>
        <p:spPr>
          <a:xfrm>
            <a:off x="2355215" y="5939155"/>
            <a:ext cx="1739900" cy="682625"/>
          </a:xfrm>
          <a:prstGeom prst="roundRect">
            <a:avLst/>
          </a:prstGeom>
          <a:solidFill>
            <a:schemeClr val="accent5">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solidFill>
                  <a:schemeClr val="tx1"/>
                </a:solidFill>
                <a:latin typeface="Times New Roman" panose="02020603050405020304" charset="0"/>
                <a:cs typeface="Times New Roman" panose="02020603050405020304" charset="0"/>
              </a:rPr>
              <a:t>Prepare Gantt Chart &amp; WBS</a:t>
            </a:r>
            <a:endParaRPr lang="en-US" altLang="en-GB">
              <a:solidFill>
                <a:schemeClr val="tx1"/>
              </a:solidFill>
              <a:latin typeface="Times New Roman" panose="02020603050405020304" charset="0"/>
              <a:cs typeface="Times New Roman" panose="02020603050405020304" charset="0"/>
            </a:endParaRPr>
          </a:p>
        </p:txBody>
      </p:sp>
      <p:sp>
        <p:nvSpPr>
          <p:cNvPr id="52" name="Rounded Rectangle 51"/>
          <p:cNvSpPr/>
          <p:nvPr/>
        </p:nvSpPr>
        <p:spPr>
          <a:xfrm>
            <a:off x="2392045" y="4966335"/>
            <a:ext cx="1739900" cy="682625"/>
          </a:xfrm>
          <a:prstGeom prst="roundRect">
            <a:avLst/>
          </a:prstGeom>
          <a:solidFill>
            <a:schemeClr val="accent5">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solidFill>
                  <a:schemeClr val="tx1"/>
                </a:solidFill>
                <a:latin typeface="Times New Roman" panose="02020603050405020304" charset="0"/>
                <a:cs typeface="Times New Roman" panose="02020603050405020304" charset="0"/>
              </a:rPr>
              <a:t>Schedule &amp; Task Allocation</a:t>
            </a:r>
            <a:endParaRPr lang="en-US" altLang="en-GB">
              <a:solidFill>
                <a:schemeClr val="tx1"/>
              </a:solidFill>
              <a:latin typeface="Times New Roman" panose="02020603050405020304" charset="0"/>
              <a:cs typeface="Times New Roman" panose="02020603050405020304" charset="0"/>
            </a:endParaRPr>
          </a:p>
        </p:txBody>
      </p:sp>
      <p:sp>
        <p:nvSpPr>
          <p:cNvPr id="53" name="Rounded Rectangle 52"/>
          <p:cNvSpPr/>
          <p:nvPr/>
        </p:nvSpPr>
        <p:spPr>
          <a:xfrm>
            <a:off x="2392045" y="4068445"/>
            <a:ext cx="1739900" cy="682625"/>
          </a:xfrm>
          <a:prstGeom prst="roundRect">
            <a:avLst/>
          </a:prstGeom>
          <a:solidFill>
            <a:schemeClr val="accent5">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solidFill>
                  <a:schemeClr val="tx1"/>
                </a:solidFill>
                <a:latin typeface="Times New Roman" panose="02020603050405020304" charset="0"/>
                <a:cs typeface="Times New Roman" panose="02020603050405020304" charset="0"/>
              </a:rPr>
              <a:t>Requirement Analysis</a:t>
            </a:r>
            <a:endParaRPr lang="en-US" altLang="en-GB">
              <a:solidFill>
                <a:schemeClr val="tx1"/>
              </a:solidFill>
              <a:latin typeface="Times New Roman" panose="02020603050405020304" charset="0"/>
              <a:cs typeface="Times New Roman" panose="02020603050405020304" charset="0"/>
            </a:endParaRPr>
          </a:p>
        </p:txBody>
      </p:sp>
      <p:sp>
        <p:nvSpPr>
          <p:cNvPr id="54" name="Rounded Rectangle 53"/>
          <p:cNvSpPr/>
          <p:nvPr/>
        </p:nvSpPr>
        <p:spPr>
          <a:xfrm>
            <a:off x="4359275" y="5939155"/>
            <a:ext cx="1739900" cy="682625"/>
          </a:xfrm>
          <a:prstGeom prst="roundRect">
            <a:avLst/>
          </a:prstGeom>
          <a:solidFill>
            <a:schemeClr val="accent5">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solidFill>
                  <a:schemeClr val="tx1"/>
                </a:solidFill>
                <a:latin typeface="Times New Roman" panose="02020603050405020304" charset="0"/>
                <a:cs typeface="Times New Roman" panose="02020603050405020304" charset="0"/>
              </a:rPr>
              <a:t>Post-Layout Simulation</a:t>
            </a:r>
            <a:endParaRPr lang="en-US" altLang="en-GB">
              <a:solidFill>
                <a:schemeClr val="tx1"/>
              </a:solidFill>
              <a:latin typeface="Times New Roman" panose="02020603050405020304" charset="0"/>
              <a:cs typeface="Times New Roman" panose="02020603050405020304" charset="0"/>
            </a:endParaRPr>
          </a:p>
        </p:txBody>
      </p:sp>
      <p:cxnSp>
        <p:nvCxnSpPr>
          <p:cNvPr id="59" name="Straight Arrow Connector 58"/>
          <p:cNvCxnSpPr>
            <a:stCxn id="24" idx="2"/>
            <a:endCxn id="27" idx="0"/>
          </p:cNvCxnSpPr>
          <p:nvPr/>
        </p:nvCxnSpPr>
        <p:spPr>
          <a:xfrm>
            <a:off x="1221105" y="2788920"/>
            <a:ext cx="0" cy="298450"/>
          </a:xfrm>
          <a:prstGeom prst="straightConnector1">
            <a:avLst/>
          </a:prstGeom>
          <a:ln>
            <a:solidFill>
              <a:schemeClr val="tx1">
                <a:lumMod val="85000"/>
                <a:lumOff val="15000"/>
              </a:schemeClr>
            </a:solidFill>
            <a:tailEnd type="arrow"/>
          </a:ln>
        </p:spPr>
        <p:style>
          <a:lnRef idx="2">
            <a:schemeClr val="accent1"/>
          </a:lnRef>
          <a:fillRef idx="0">
            <a:srgbClr val="FFFFFF"/>
          </a:fillRef>
          <a:effectRef idx="0">
            <a:srgbClr val="FFFFFF"/>
          </a:effectRef>
          <a:fontRef idx="minor">
            <a:schemeClr val="tx1"/>
          </a:fontRef>
        </p:style>
      </p:cxnSp>
      <p:cxnSp>
        <p:nvCxnSpPr>
          <p:cNvPr id="60" name="Straight Arrow Connector 59"/>
          <p:cNvCxnSpPr/>
          <p:nvPr/>
        </p:nvCxnSpPr>
        <p:spPr>
          <a:xfrm>
            <a:off x="9237345" y="2792730"/>
            <a:ext cx="0" cy="298450"/>
          </a:xfrm>
          <a:prstGeom prst="straightConnector1">
            <a:avLst/>
          </a:prstGeom>
          <a:ln>
            <a:solidFill>
              <a:schemeClr val="tx1">
                <a:lumMod val="85000"/>
                <a:lumOff val="15000"/>
              </a:schemeClr>
            </a:solidFill>
            <a:tailEnd type="arrow"/>
          </a:ln>
        </p:spPr>
        <p:style>
          <a:lnRef idx="2">
            <a:schemeClr val="accent1"/>
          </a:lnRef>
          <a:fillRef idx="0">
            <a:srgbClr val="FFFFFF"/>
          </a:fillRef>
          <a:effectRef idx="0">
            <a:srgbClr val="FFFFFF"/>
          </a:effectRef>
          <a:fontRef idx="minor">
            <a:schemeClr val="tx1"/>
          </a:fontRef>
        </p:style>
      </p:cxnSp>
      <p:cxnSp>
        <p:nvCxnSpPr>
          <p:cNvPr id="61" name="Straight Arrow Connector 60"/>
          <p:cNvCxnSpPr/>
          <p:nvPr/>
        </p:nvCxnSpPr>
        <p:spPr>
          <a:xfrm>
            <a:off x="5229225" y="2792730"/>
            <a:ext cx="0" cy="298450"/>
          </a:xfrm>
          <a:prstGeom prst="straightConnector1">
            <a:avLst/>
          </a:prstGeom>
          <a:ln>
            <a:solidFill>
              <a:schemeClr val="tx1">
                <a:lumMod val="85000"/>
                <a:lumOff val="15000"/>
              </a:schemeClr>
            </a:solidFill>
            <a:tailEnd type="arrow"/>
          </a:ln>
        </p:spPr>
        <p:style>
          <a:lnRef idx="2">
            <a:schemeClr val="accent1"/>
          </a:lnRef>
          <a:fillRef idx="0">
            <a:srgbClr val="FFFFFF"/>
          </a:fillRef>
          <a:effectRef idx="0">
            <a:srgbClr val="FFFFFF"/>
          </a:effectRef>
          <a:fontRef idx="minor">
            <a:schemeClr val="tx1"/>
          </a:fontRef>
        </p:style>
      </p:cxnSp>
      <p:cxnSp>
        <p:nvCxnSpPr>
          <p:cNvPr id="62" name="Straight Arrow Connector 61"/>
          <p:cNvCxnSpPr/>
          <p:nvPr/>
        </p:nvCxnSpPr>
        <p:spPr>
          <a:xfrm>
            <a:off x="7303135" y="2792730"/>
            <a:ext cx="0" cy="298450"/>
          </a:xfrm>
          <a:prstGeom prst="straightConnector1">
            <a:avLst/>
          </a:prstGeom>
          <a:ln>
            <a:solidFill>
              <a:schemeClr val="tx1">
                <a:lumMod val="85000"/>
                <a:lumOff val="15000"/>
              </a:schemeClr>
            </a:solidFill>
            <a:tailEnd type="arrow"/>
          </a:ln>
        </p:spPr>
        <p:style>
          <a:lnRef idx="2">
            <a:schemeClr val="accent1"/>
          </a:lnRef>
          <a:fillRef idx="0">
            <a:srgbClr val="FFFFFF"/>
          </a:fillRef>
          <a:effectRef idx="0">
            <a:srgbClr val="FFFFFF"/>
          </a:effectRef>
          <a:fontRef idx="minor">
            <a:schemeClr val="tx1"/>
          </a:fontRef>
        </p:style>
      </p:cxnSp>
      <p:cxnSp>
        <p:nvCxnSpPr>
          <p:cNvPr id="63" name="Straight Arrow Connector 62"/>
          <p:cNvCxnSpPr/>
          <p:nvPr/>
        </p:nvCxnSpPr>
        <p:spPr>
          <a:xfrm>
            <a:off x="11195685" y="2792730"/>
            <a:ext cx="0" cy="298450"/>
          </a:xfrm>
          <a:prstGeom prst="straightConnector1">
            <a:avLst/>
          </a:prstGeom>
          <a:ln>
            <a:solidFill>
              <a:schemeClr val="tx1">
                <a:lumMod val="85000"/>
                <a:lumOff val="15000"/>
              </a:schemeClr>
            </a:solidFill>
            <a:tailEnd type="arrow"/>
          </a:ln>
        </p:spPr>
        <p:style>
          <a:lnRef idx="2">
            <a:schemeClr val="accent1"/>
          </a:lnRef>
          <a:fillRef idx="0">
            <a:srgbClr val="FFFFFF"/>
          </a:fillRef>
          <a:effectRef idx="0">
            <a:srgbClr val="FFFFFF"/>
          </a:effectRef>
          <a:fontRef idx="minor">
            <a:schemeClr val="tx1"/>
          </a:fontRef>
        </p:style>
      </p:cxnSp>
      <p:cxnSp>
        <p:nvCxnSpPr>
          <p:cNvPr id="64" name="Straight Arrow Connector 63"/>
          <p:cNvCxnSpPr/>
          <p:nvPr/>
        </p:nvCxnSpPr>
        <p:spPr>
          <a:xfrm>
            <a:off x="3255010" y="2792730"/>
            <a:ext cx="0" cy="298450"/>
          </a:xfrm>
          <a:prstGeom prst="straightConnector1">
            <a:avLst/>
          </a:prstGeom>
          <a:ln>
            <a:solidFill>
              <a:schemeClr val="tx1">
                <a:lumMod val="85000"/>
                <a:lumOff val="15000"/>
              </a:schemeClr>
            </a:solidFill>
            <a:tailEnd type="arrow"/>
          </a:ln>
        </p:spPr>
        <p:style>
          <a:lnRef idx="2">
            <a:schemeClr val="accent1"/>
          </a:lnRef>
          <a:fillRef idx="0">
            <a:srgbClr val="FFFFFF"/>
          </a:fillRef>
          <a:effectRef idx="0">
            <a:srgbClr val="FFFFFF"/>
          </a:effectRef>
          <a:fontRef idx="minor">
            <a:schemeClr val="tx1"/>
          </a:fontRef>
        </p:style>
      </p:cxnSp>
      <p:cxnSp>
        <p:nvCxnSpPr>
          <p:cNvPr id="65" name="Straight Arrow Connector 64"/>
          <p:cNvCxnSpPr/>
          <p:nvPr/>
        </p:nvCxnSpPr>
        <p:spPr>
          <a:xfrm>
            <a:off x="3255010" y="5648960"/>
            <a:ext cx="0" cy="298450"/>
          </a:xfrm>
          <a:prstGeom prst="straightConnector1">
            <a:avLst/>
          </a:prstGeom>
          <a:ln>
            <a:solidFill>
              <a:schemeClr val="tx1">
                <a:lumMod val="85000"/>
                <a:lumOff val="15000"/>
              </a:schemeClr>
            </a:solidFill>
            <a:tailEnd type="arrow"/>
          </a:ln>
        </p:spPr>
        <p:style>
          <a:lnRef idx="2">
            <a:schemeClr val="accent1"/>
          </a:lnRef>
          <a:fillRef idx="0">
            <a:srgbClr val="FFFFFF"/>
          </a:fillRef>
          <a:effectRef idx="0">
            <a:srgbClr val="FFFFFF"/>
          </a:effectRef>
          <a:fontRef idx="minor">
            <a:schemeClr val="tx1"/>
          </a:fontRef>
        </p:style>
      </p:cxnSp>
      <p:cxnSp>
        <p:nvCxnSpPr>
          <p:cNvPr id="66" name="Straight Arrow Connector 65"/>
          <p:cNvCxnSpPr/>
          <p:nvPr/>
        </p:nvCxnSpPr>
        <p:spPr>
          <a:xfrm>
            <a:off x="1221105" y="4751070"/>
            <a:ext cx="0" cy="298450"/>
          </a:xfrm>
          <a:prstGeom prst="straightConnector1">
            <a:avLst/>
          </a:prstGeom>
          <a:ln>
            <a:solidFill>
              <a:schemeClr val="tx1">
                <a:lumMod val="85000"/>
                <a:lumOff val="15000"/>
              </a:schemeClr>
            </a:solidFill>
            <a:tailEnd type="arrow"/>
          </a:ln>
        </p:spPr>
        <p:style>
          <a:lnRef idx="2">
            <a:schemeClr val="accent1"/>
          </a:lnRef>
          <a:fillRef idx="0">
            <a:srgbClr val="FFFFFF"/>
          </a:fillRef>
          <a:effectRef idx="0">
            <a:srgbClr val="FFFFFF"/>
          </a:effectRef>
          <a:fontRef idx="minor">
            <a:schemeClr val="tx1"/>
          </a:fontRef>
        </p:style>
      </p:cxnSp>
      <p:cxnSp>
        <p:nvCxnSpPr>
          <p:cNvPr id="67" name="Straight Arrow Connector 66"/>
          <p:cNvCxnSpPr/>
          <p:nvPr/>
        </p:nvCxnSpPr>
        <p:spPr>
          <a:xfrm>
            <a:off x="1221105" y="3769995"/>
            <a:ext cx="0" cy="298450"/>
          </a:xfrm>
          <a:prstGeom prst="straightConnector1">
            <a:avLst/>
          </a:prstGeom>
          <a:ln>
            <a:solidFill>
              <a:schemeClr val="tx1">
                <a:lumMod val="85000"/>
                <a:lumOff val="15000"/>
              </a:schemeClr>
            </a:solidFill>
            <a:tailEnd type="arrow"/>
          </a:ln>
        </p:spPr>
        <p:style>
          <a:lnRef idx="2">
            <a:schemeClr val="accent1"/>
          </a:lnRef>
          <a:fillRef idx="0">
            <a:srgbClr val="FFFFFF"/>
          </a:fillRef>
          <a:effectRef idx="0">
            <a:srgbClr val="FFFFFF"/>
          </a:effectRef>
          <a:fontRef idx="minor">
            <a:schemeClr val="tx1"/>
          </a:fontRef>
        </p:style>
      </p:cxnSp>
      <p:cxnSp>
        <p:nvCxnSpPr>
          <p:cNvPr id="68" name="Straight Arrow Connector 67"/>
          <p:cNvCxnSpPr/>
          <p:nvPr/>
        </p:nvCxnSpPr>
        <p:spPr>
          <a:xfrm>
            <a:off x="3255010" y="3769995"/>
            <a:ext cx="0" cy="298450"/>
          </a:xfrm>
          <a:prstGeom prst="straightConnector1">
            <a:avLst/>
          </a:prstGeom>
          <a:ln>
            <a:solidFill>
              <a:schemeClr val="tx1">
                <a:lumMod val="85000"/>
                <a:lumOff val="15000"/>
              </a:schemeClr>
            </a:solidFill>
            <a:tailEnd type="arrow"/>
          </a:ln>
        </p:spPr>
        <p:style>
          <a:lnRef idx="2">
            <a:schemeClr val="accent1"/>
          </a:lnRef>
          <a:fillRef idx="0">
            <a:srgbClr val="FFFFFF"/>
          </a:fillRef>
          <a:effectRef idx="0">
            <a:srgbClr val="FFFFFF"/>
          </a:effectRef>
          <a:fontRef idx="minor">
            <a:schemeClr val="tx1"/>
          </a:fontRef>
        </p:style>
      </p:cxnSp>
      <p:cxnSp>
        <p:nvCxnSpPr>
          <p:cNvPr id="69" name="Straight Arrow Connector 68"/>
          <p:cNvCxnSpPr/>
          <p:nvPr/>
        </p:nvCxnSpPr>
        <p:spPr>
          <a:xfrm>
            <a:off x="7303135" y="4751070"/>
            <a:ext cx="0" cy="298450"/>
          </a:xfrm>
          <a:prstGeom prst="straightConnector1">
            <a:avLst/>
          </a:prstGeom>
          <a:ln>
            <a:solidFill>
              <a:schemeClr val="tx1">
                <a:lumMod val="85000"/>
                <a:lumOff val="15000"/>
              </a:schemeClr>
            </a:solidFill>
            <a:tailEnd type="arrow"/>
          </a:ln>
        </p:spPr>
        <p:style>
          <a:lnRef idx="2">
            <a:schemeClr val="accent1"/>
          </a:lnRef>
          <a:fillRef idx="0">
            <a:srgbClr val="FFFFFF"/>
          </a:fillRef>
          <a:effectRef idx="0">
            <a:srgbClr val="FFFFFF"/>
          </a:effectRef>
          <a:fontRef idx="minor">
            <a:schemeClr val="tx1"/>
          </a:fontRef>
        </p:style>
      </p:cxnSp>
      <p:cxnSp>
        <p:nvCxnSpPr>
          <p:cNvPr id="70" name="Straight Arrow Connector 69"/>
          <p:cNvCxnSpPr/>
          <p:nvPr/>
        </p:nvCxnSpPr>
        <p:spPr>
          <a:xfrm>
            <a:off x="9237345" y="4772660"/>
            <a:ext cx="0" cy="298450"/>
          </a:xfrm>
          <a:prstGeom prst="straightConnector1">
            <a:avLst/>
          </a:prstGeom>
          <a:ln>
            <a:solidFill>
              <a:schemeClr val="tx1">
                <a:lumMod val="85000"/>
                <a:lumOff val="15000"/>
              </a:schemeClr>
            </a:solidFill>
            <a:tailEnd type="arrow"/>
          </a:ln>
        </p:spPr>
        <p:style>
          <a:lnRef idx="2">
            <a:schemeClr val="accent1"/>
          </a:lnRef>
          <a:fillRef idx="0">
            <a:srgbClr val="FFFFFF"/>
          </a:fillRef>
          <a:effectRef idx="0">
            <a:srgbClr val="FFFFFF"/>
          </a:effectRef>
          <a:fontRef idx="minor">
            <a:schemeClr val="tx1"/>
          </a:fontRef>
        </p:style>
      </p:cxnSp>
      <p:cxnSp>
        <p:nvCxnSpPr>
          <p:cNvPr id="71" name="Straight Arrow Connector 70"/>
          <p:cNvCxnSpPr/>
          <p:nvPr/>
        </p:nvCxnSpPr>
        <p:spPr>
          <a:xfrm>
            <a:off x="5229225" y="4767580"/>
            <a:ext cx="0" cy="298450"/>
          </a:xfrm>
          <a:prstGeom prst="straightConnector1">
            <a:avLst/>
          </a:prstGeom>
          <a:ln>
            <a:solidFill>
              <a:schemeClr val="tx1">
                <a:lumMod val="85000"/>
                <a:lumOff val="15000"/>
              </a:schemeClr>
            </a:solidFill>
            <a:tailEnd type="arrow"/>
          </a:ln>
        </p:spPr>
        <p:style>
          <a:lnRef idx="2">
            <a:schemeClr val="accent1"/>
          </a:lnRef>
          <a:fillRef idx="0">
            <a:srgbClr val="FFFFFF"/>
          </a:fillRef>
          <a:effectRef idx="0">
            <a:srgbClr val="FFFFFF"/>
          </a:effectRef>
          <a:fontRef idx="minor">
            <a:schemeClr val="tx1"/>
          </a:fontRef>
        </p:style>
      </p:cxnSp>
      <p:cxnSp>
        <p:nvCxnSpPr>
          <p:cNvPr id="72" name="Straight Arrow Connector 71"/>
          <p:cNvCxnSpPr/>
          <p:nvPr/>
        </p:nvCxnSpPr>
        <p:spPr>
          <a:xfrm>
            <a:off x="11195685" y="3769995"/>
            <a:ext cx="0" cy="298450"/>
          </a:xfrm>
          <a:prstGeom prst="straightConnector1">
            <a:avLst/>
          </a:prstGeom>
          <a:ln>
            <a:solidFill>
              <a:schemeClr val="tx1">
                <a:lumMod val="85000"/>
                <a:lumOff val="15000"/>
              </a:schemeClr>
            </a:solidFill>
            <a:tailEnd type="arrow"/>
          </a:ln>
        </p:spPr>
        <p:style>
          <a:lnRef idx="2">
            <a:schemeClr val="accent1"/>
          </a:lnRef>
          <a:fillRef idx="0">
            <a:srgbClr val="FFFFFF"/>
          </a:fillRef>
          <a:effectRef idx="0">
            <a:srgbClr val="FFFFFF"/>
          </a:effectRef>
          <a:fontRef idx="minor">
            <a:schemeClr val="tx1"/>
          </a:fontRef>
        </p:style>
      </p:cxnSp>
      <p:cxnSp>
        <p:nvCxnSpPr>
          <p:cNvPr id="73" name="Straight Arrow Connector 72"/>
          <p:cNvCxnSpPr/>
          <p:nvPr/>
        </p:nvCxnSpPr>
        <p:spPr>
          <a:xfrm>
            <a:off x="9237345" y="3722370"/>
            <a:ext cx="0" cy="298450"/>
          </a:xfrm>
          <a:prstGeom prst="straightConnector1">
            <a:avLst/>
          </a:prstGeom>
          <a:ln>
            <a:solidFill>
              <a:schemeClr val="tx1">
                <a:lumMod val="85000"/>
                <a:lumOff val="15000"/>
              </a:schemeClr>
            </a:solidFill>
            <a:tailEnd type="arrow"/>
          </a:ln>
        </p:spPr>
        <p:style>
          <a:lnRef idx="2">
            <a:schemeClr val="accent1"/>
          </a:lnRef>
          <a:fillRef idx="0">
            <a:srgbClr val="FFFFFF"/>
          </a:fillRef>
          <a:effectRef idx="0">
            <a:srgbClr val="FFFFFF"/>
          </a:effectRef>
          <a:fontRef idx="minor">
            <a:schemeClr val="tx1"/>
          </a:fontRef>
        </p:style>
      </p:cxnSp>
      <p:cxnSp>
        <p:nvCxnSpPr>
          <p:cNvPr id="74" name="Straight Arrow Connector 73"/>
          <p:cNvCxnSpPr/>
          <p:nvPr/>
        </p:nvCxnSpPr>
        <p:spPr>
          <a:xfrm>
            <a:off x="7303135" y="3769995"/>
            <a:ext cx="0" cy="298450"/>
          </a:xfrm>
          <a:prstGeom prst="straightConnector1">
            <a:avLst/>
          </a:prstGeom>
          <a:ln>
            <a:solidFill>
              <a:schemeClr val="tx1">
                <a:lumMod val="85000"/>
                <a:lumOff val="15000"/>
              </a:schemeClr>
            </a:solidFill>
            <a:tailEnd type="arrow"/>
          </a:ln>
        </p:spPr>
        <p:style>
          <a:lnRef idx="2">
            <a:schemeClr val="accent1"/>
          </a:lnRef>
          <a:fillRef idx="0">
            <a:srgbClr val="FFFFFF"/>
          </a:fillRef>
          <a:effectRef idx="0">
            <a:srgbClr val="FFFFFF"/>
          </a:effectRef>
          <a:fontRef idx="minor">
            <a:schemeClr val="tx1"/>
          </a:fontRef>
        </p:style>
      </p:cxnSp>
      <p:cxnSp>
        <p:nvCxnSpPr>
          <p:cNvPr id="75" name="Straight Arrow Connector 74"/>
          <p:cNvCxnSpPr/>
          <p:nvPr/>
        </p:nvCxnSpPr>
        <p:spPr>
          <a:xfrm>
            <a:off x="5229225" y="3769995"/>
            <a:ext cx="0" cy="298450"/>
          </a:xfrm>
          <a:prstGeom prst="straightConnector1">
            <a:avLst/>
          </a:prstGeom>
          <a:ln>
            <a:solidFill>
              <a:schemeClr val="tx1">
                <a:lumMod val="85000"/>
                <a:lumOff val="15000"/>
              </a:schemeClr>
            </a:solidFill>
            <a:tailEnd type="arrow"/>
          </a:ln>
        </p:spPr>
        <p:style>
          <a:lnRef idx="2">
            <a:schemeClr val="accent1"/>
          </a:lnRef>
          <a:fillRef idx="0">
            <a:srgbClr val="FFFFFF"/>
          </a:fillRef>
          <a:effectRef idx="0">
            <a:srgbClr val="FFFFFF"/>
          </a:effectRef>
          <a:fontRef idx="minor">
            <a:schemeClr val="tx1"/>
          </a:fontRef>
        </p:style>
      </p:cxnSp>
      <p:cxnSp>
        <p:nvCxnSpPr>
          <p:cNvPr id="76" name="Straight Arrow Connector 75"/>
          <p:cNvCxnSpPr/>
          <p:nvPr/>
        </p:nvCxnSpPr>
        <p:spPr>
          <a:xfrm>
            <a:off x="11195685" y="4772660"/>
            <a:ext cx="0" cy="298450"/>
          </a:xfrm>
          <a:prstGeom prst="straightConnector1">
            <a:avLst/>
          </a:prstGeom>
          <a:ln>
            <a:solidFill>
              <a:schemeClr val="tx1">
                <a:lumMod val="85000"/>
                <a:lumOff val="15000"/>
              </a:schemeClr>
            </a:solidFill>
            <a:tailEnd type="arrow"/>
          </a:ln>
        </p:spPr>
        <p:style>
          <a:lnRef idx="2">
            <a:schemeClr val="accent1"/>
          </a:lnRef>
          <a:fillRef idx="0">
            <a:srgbClr val="FFFFFF"/>
          </a:fillRef>
          <a:effectRef idx="0">
            <a:srgbClr val="FFFFFF"/>
          </a:effectRef>
          <a:fontRef idx="minor">
            <a:schemeClr val="tx1"/>
          </a:fontRef>
        </p:style>
      </p:cxnSp>
      <p:cxnSp>
        <p:nvCxnSpPr>
          <p:cNvPr id="77" name="Straight Arrow Connector 76"/>
          <p:cNvCxnSpPr>
            <a:stCxn id="32" idx="2"/>
            <a:endCxn id="54" idx="0"/>
          </p:cNvCxnSpPr>
          <p:nvPr/>
        </p:nvCxnSpPr>
        <p:spPr>
          <a:xfrm>
            <a:off x="5229225" y="5732145"/>
            <a:ext cx="0" cy="207010"/>
          </a:xfrm>
          <a:prstGeom prst="straightConnector1">
            <a:avLst/>
          </a:prstGeom>
          <a:ln>
            <a:solidFill>
              <a:schemeClr val="tx1">
                <a:lumMod val="95000"/>
                <a:lumOff val="5000"/>
              </a:schemeClr>
            </a:solidFill>
            <a:tailEnd type="arrow"/>
          </a:ln>
        </p:spPr>
        <p:style>
          <a:lnRef idx="2">
            <a:schemeClr val="accent1"/>
          </a:lnRef>
          <a:fillRef idx="0">
            <a:srgbClr val="FFFFFF"/>
          </a:fillRef>
          <a:effectRef idx="0">
            <a:srgbClr val="FFFFFF"/>
          </a:effectRef>
          <a:fontRef idx="minor">
            <a:schemeClr val="tx1"/>
          </a:fontRef>
        </p:style>
      </p:cxnSp>
      <p:cxnSp>
        <p:nvCxnSpPr>
          <p:cNvPr id="78" name="Straight Arrow Connector 77"/>
          <p:cNvCxnSpPr/>
          <p:nvPr/>
        </p:nvCxnSpPr>
        <p:spPr>
          <a:xfrm>
            <a:off x="1221105" y="5740400"/>
            <a:ext cx="0" cy="207010"/>
          </a:xfrm>
          <a:prstGeom prst="straightConnector1">
            <a:avLst/>
          </a:prstGeom>
          <a:ln>
            <a:solidFill>
              <a:schemeClr val="tx1">
                <a:lumMod val="95000"/>
                <a:lumOff val="5000"/>
              </a:schemeClr>
            </a:solidFill>
            <a:tailEnd type="arrow"/>
          </a:ln>
        </p:spPr>
        <p:style>
          <a:lnRef idx="2">
            <a:schemeClr val="accent1"/>
          </a:lnRef>
          <a:fillRef idx="0">
            <a:srgbClr val="FFFFFF"/>
          </a:fillRef>
          <a:effectRef idx="0">
            <a:srgbClr val="FFFFFF"/>
          </a:effectRef>
          <a:fontRef idx="minor">
            <a:schemeClr val="tx1"/>
          </a:fontRef>
        </p:style>
      </p:cxnSp>
      <p:cxnSp>
        <p:nvCxnSpPr>
          <p:cNvPr id="79" name="Straight Arrow Connector 78"/>
          <p:cNvCxnSpPr/>
          <p:nvPr/>
        </p:nvCxnSpPr>
        <p:spPr>
          <a:xfrm>
            <a:off x="11195685" y="5732145"/>
            <a:ext cx="0" cy="207010"/>
          </a:xfrm>
          <a:prstGeom prst="straightConnector1">
            <a:avLst/>
          </a:prstGeom>
          <a:ln>
            <a:solidFill>
              <a:schemeClr val="tx1">
                <a:lumMod val="95000"/>
                <a:lumOff val="5000"/>
              </a:schemeClr>
            </a:solidFill>
            <a:tailEnd type="arrow"/>
          </a:ln>
        </p:spPr>
        <p:style>
          <a:lnRef idx="2">
            <a:schemeClr val="accent1"/>
          </a:lnRef>
          <a:fillRef idx="0">
            <a:srgbClr val="FFFFFF"/>
          </a:fillRef>
          <a:effectRef idx="0">
            <a:srgbClr val="FFFFFF"/>
          </a:effectRef>
          <a:fontRef idx="minor">
            <a:schemeClr val="tx1"/>
          </a:fontRef>
        </p:style>
      </p:cxnSp>
      <p:cxnSp>
        <p:nvCxnSpPr>
          <p:cNvPr id="80" name="Straight Arrow Connector 79"/>
          <p:cNvCxnSpPr/>
          <p:nvPr/>
        </p:nvCxnSpPr>
        <p:spPr>
          <a:xfrm>
            <a:off x="9237345" y="5740400"/>
            <a:ext cx="0" cy="207010"/>
          </a:xfrm>
          <a:prstGeom prst="straightConnector1">
            <a:avLst/>
          </a:prstGeom>
          <a:ln>
            <a:solidFill>
              <a:schemeClr val="tx1">
                <a:lumMod val="95000"/>
                <a:lumOff val="5000"/>
              </a:schemeClr>
            </a:solidFill>
            <a:tailEnd type="arrow"/>
          </a:ln>
        </p:spPr>
        <p:style>
          <a:lnRef idx="2">
            <a:schemeClr val="accent1"/>
          </a:lnRef>
          <a:fillRef idx="0">
            <a:srgbClr val="FFFFFF"/>
          </a:fillRef>
          <a:effectRef idx="0">
            <a:srgbClr val="FFFFFF"/>
          </a:effectRef>
          <a:fontRef idx="minor">
            <a:schemeClr val="tx1"/>
          </a:fontRef>
        </p:style>
      </p:cxnSp>
      <p:cxnSp>
        <p:nvCxnSpPr>
          <p:cNvPr id="81" name="Straight Arrow Connector 80"/>
          <p:cNvCxnSpPr/>
          <p:nvPr/>
        </p:nvCxnSpPr>
        <p:spPr>
          <a:xfrm>
            <a:off x="7303135" y="5779135"/>
            <a:ext cx="0" cy="207010"/>
          </a:xfrm>
          <a:prstGeom prst="straightConnector1">
            <a:avLst/>
          </a:prstGeom>
          <a:ln>
            <a:solidFill>
              <a:schemeClr val="tx1">
                <a:lumMod val="95000"/>
                <a:lumOff val="5000"/>
              </a:schemeClr>
            </a:solidFill>
            <a:tailEnd type="arrow"/>
          </a:ln>
        </p:spPr>
        <p:style>
          <a:lnRef idx="2">
            <a:schemeClr val="accent1"/>
          </a:lnRef>
          <a:fillRef idx="0">
            <a:srgbClr val="FFFFFF"/>
          </a:fillRef>
          <a:effectRef idx="0">
            <a:srgbClr val="FFFFFF"/>
          </a:effectRef>
          <a:fontRef idx="minor">
            <a:schemeClr val="tx1"/>
          </a:fontRef>
        </p:style>
      </p:cxnSp>
      <p:cxnSp>
        <p:nvCxnSpPr>
          <p:cNvPr id="82" name="Straight Arrow Connector 81"/>
          <p:cNvCxnSpPr/>
          <p:nvPr/>
        </p:nvCxnSpPr>
        <p:spPr>
          <a:xfrm>
            <a:off x="3255010" y="4751070"/>
            <a:ext cx="0" cy="207010"/>
          </a:xfrm>
          <a:prstGeom prst="straightConnector1">
            <a:avLst/>
          </a:prstGeom>
          <a:ln>
            <a:solidFill>
              <a:schemeClr val="tx1">
                <a:lumMod val="95000"/>
                <a:lumOff val="5000"/>
              </a:schemeClr>
            </a:solidFill>
            <a:tailEnd type="arrow"/>
          </a:ln>
        </p:spPr>
        <p:style>
          <a:lnRef idx="2">
            <a:schemeClr val="accent1"/>
          </a:lnRef>
          <a:fillRef idx="0">
            <a:srgbClr val="FFFFFF"/>
          </a:fillRef>
          <a:effectRef idx="0">
            <a:srgbClr val="FFFFFF"/>
          </a:effectRef>
          <a:fontRef idx="minor">
            <a:schemeClr val="tx1"/>
          </a:fontRef>
        </p:style>
      </p:cxnSp>
      <p:cxnSp>
        <p:nvCxnSpPr>
          <p:cNvPr id="83" name="Straight Connector 82"/>
          <p:cNvCxnSpPr/>
          <p:nvPr/>
        </p:nvCxnSpPr>
        <p:spPr>
          <a:xfrm>
            <a:off x="1118235" y="1734820"/>
            <a:ext cx="10114915" cy="31750"/>
          </a:xfrm>
          <a:prstGeom prst="line">
            <a:avLst/>
          </a:prstGeom>
          <a:ln>
            <a:solidFill>
              <a:schemeClr val="tx1">
                <a:lumMod val="95000"/>
                <a:lumOff val="5000"/>
              </a:schemeClr>
            </a:solidFill>
          </a:ln>
        </p:spPr>
        <p:style>
          <a:lnRef idx="2">
            <a:schemeClr val="accent1"/>
          </a:lnRef>
          <a:fillRef idx="0">
            <a:srgbClr val="FFFFFF"/>
          </a:fillRef>
          <a:effectRef idx="0">
            <a:srgbClr val="FFFFFF"/>
          </a:effectRef>
          <a:fontRef idx="minor">
            <a:schemeClr val="tx1"/>
          </a:fontRef>
        </p:style>
      </p:cxnSp>
      <p:cxnSp>
        <p:nvCxnSpPr>
          <p:cNvPr id="84" name="Straight Arrow Connector 83"/>
          <p:cNvCxnSpPr/>
          <p:nvPr/>
        </p:nvCxnSpPr>
        <p:spPr>
          <a:xfrm>
            <a:off x="1118235" y="1734820"/>
            <a:ext cx="0" cy="351155"/>
          </a:xfrm>
          <a:prstGeom prst="straightConnector1">
            <a:avLst/>
          </a:prstGeom>
          <a:ln>
            <a:solidFill>
              <a:schemeClr val="tx1">
                <a:lumMod val="95000"/>
                <a:lumOff val="5000"/>
              </a:schemeClr>
            </a:solidFill>
            <a:tailEnd type="arrow"/>
          </a:ln>
        </p:spPr>
        <p:style>
          <a:lnRef idx="2">
            <a:schemeClr val="accent1"/>
          </a:lnRef>
          <a:fillRef idx="0">
            <a:srgbClr val="FFFFFF"/>
          </a:fillRef>
          <a:effectRef idx="0">
            <a:srgbClr val="FFFFFF"/>
          </a:effectRef>
          <a:fontRef idx="minor">
            <a:schemeClr val="tx1"/>
          </a:fontRef>
        </p:style>
      </p:cxnSp>
      <p:cxnSp>
        <p:nvCxnSpPr>
          <p:cNvPr id="87" name="Straight Arrow Connector 86"/>
          <p:cNvCxnSpPr/>
          <p:nvPr/>
        </p:nvCxnSpPr>
        <p:spPr>
          <a:xfrm>
            <a:off x="9237345" y="1755140"/>
            <a:ext cx="0" cy="351155"/>
          </a:xfrm>
          <a:prstGeom prst="straightConnector1">
            <a:avLst/>
          </a:prstGeom>
          <a:ln>
            <a:solidFill>
              <a:schemeClr val="tx1">
                <a:lumMod val="95000"/>
                <a:lumOff val="5000"/>
              </a:schemeClr>
            </a:solidFill>
            <a:tailEnd type="arrow"/>
          </a:ln>
        </p:spPr>
        <p:style>
          <a:lnRef idx="2">
            <a:schemeClr val="accent1"/>
          </a:lnRef>
          <a:fillRef idx="0">
            <a:srgbClr val="FFFFFF"/>
          </a:fillRef>
          <a:effectRef idx="0">
            <a:srgbClr val="FFFFFF"/>
          </a:effectRef>
          <a:fontRef idx="minor">
            <a:schemeClr val="tx1"/>
          </a:fontRef>
        </p:style>
      </p:cxnSp>
      <p:cxnSp>
        <p:nvCxnSpPr>
          <p:cNvPr id="88" name="Straight Arrow Connector 87"/>
          <p:cNvCxnSpPr/>
          <p:nvPr/>
        </p:nvCxnSpPr>
        <p:spPr>
          <a:xfrm>
            <a:off x="7303135" y="1734820"/>
            <a:ext cx="0" cy="351155"/>
          </a:xfrm>
          <a:prstGeom prst="straightConnector1">
            <a:avLst/>
          </a:prstGeom>
          <a:ln>
            <a:solidFill>
              <a:schemeClr val="tx1">
                <a:lumMod val="95000"/>
                <a:lumOff val="5000"/>
              </a:schemeClr>
            </a:solidFill>
            <a:tailEnd type="arrow"/>
          </a:ln>
        </p:spPr>
        <p:style>
          <a:lnRef idx="2">
            <a:schemeClr val="accent1"/>
          </a:lnRef>
          <a:fillRef idx="0">
            <a:srgbClr val="FFFFFF"/>
          </a:fillRef>
          <a:effectRef idx="0">
            <a:srgbClr val="FFFFFF"/>
          </a:effectRef>
          <a:fontRef idx="minor">
            <a:schemeClr val="tx1"/>
          </a:fontRef>
        </p:style>
      </p:cxnSp>
      <p:cxnSp>
        <p:nvCxnSpPr>
          <p:cNvPr id="89" name="Straight Arrow Connector 88"/>
          <p:cNvCxnSpPr/>
          <p:nvPr/>
        </p:nvCxnSpPr>
        <p:spPr>
          <a:xfrm>
            <a:off x="5229225" y="1755140"/>
            <a:ext cx="0" cy="351155"/>
          </a:xfrm>
          <a:prstGeom prst="straightConnector1">
            <a:avLst/>
          </a:prstGeom>
          <a:ln>
            <a:solidFill>
              <a:schemeClr val="tx1">
                <a:lumMod val="95000"/>
                <a:lumOff val="5000"/>
              </a:schemeClr>
            </a:solidFill>
            <a:tailEnd type="arrow"/>
          </a:ln>
        </p:spPr>
        <p:style>
          <a:lnRef idx="2">
            <a:schemeClr val="accent1"/>
          </a:lnRef>
          <a:fillRef idx="0">
            <a:srgbClr val="FFFFFF"/>
          </a:fillRef>
          <a:effectRef idx="0">
            <a:srgbClr val="FFFFFF"/>
          </a:effectRef>
          <a:fontRef idx="minor">
            <a:schemeClr val="tx1"/>
          </a:fontRef>
        </p:style>
      </p:cxnSp>
      <p:cxnSp>
        <p:nvCxnSpPr>
          <p:cNvPr id="90" name="Straight Arrow Connector 89"/>
          <p:cNvCxnSpPr/>
          <p:nvPr/>
        </p:nvCxnSpPr>
        <p:spPr>
          <a:xfrm>
            <a:off x="3255010" y="1755140"/>
            <a:ext cx="0" cy="351155"/>
          </a:xfrm>
          <a:prstGeom prst="straightConnector1">
            <a:avLst/>
          </a:prstGeom>
          <a:ln>
            <a:solidFill>
              <a:schemeClr val="tx1">
                <a:lumMod val="95000"/>
                <a:lumOff val="5000"/>
              </a:schemeClr>
            </a:solidFill>
            <a:tailEnd type="arrow"/>
          </a:ln>
        </p:spPr>
        <p:style>
          <a:lnRef idx="2">
            <a:schemeClr val="accent1"/>
          </a:lnRef>
          <a:fillRef idx="0">
            <a:srgbClr val="FFFFFF"/>
          </a:fillRef>
          <a:effectRef idx="0">
            <a:srgbClr val="FFFFFF"/>
          </a:effectRef>
          <a:fontRef idx="minor">
            <a:schemeClr val="tx1"/>
          </a:fontRef>
        </p:style>
      </p:cxnSp>
      <p:cxnSp>
        <p:nvCxnSpPr>
          <p:cNvPr id="91" name="Straight Arrow Connector 90"/>
          <p:cNvCxnSpPr/>
          <p:nvPr/>
        </p:nvCxnSpPr>
        <p:spPr>
          <a:xfrm>
            <a:off x="11233150" y="1755140"/>
            <a:ext cx="0" cy="351155"/>
          </a:xfrm>
          <a:prstGeom prst="straightConnector1">
            <a:avLst/>
          </a:prstGeom>
          <a:ln>
            <a:solidFill>
              <a:schemeClr val="tx1">
                <a:lumMod val="95000"/>
                <a:lumOff val="5000"/>
              </a:schemeClr>
            </a:solidFill>
            <a:tailEnd type="arrow"/>
          </a:ln>
        </p:spPr>
        <p:style>
          <a:lnRef idx="2">
            <a:schemeClr val="accent1"/>
          </a:lnRef>
          <a:fillRef idx="0">
            <a:srgbClr val="FFFFFF"/>
          </a:fillRef>
          <a:effectRef idx="0">
            <a:srgbClr val="FFFFFF"/>
          </a:effectRef>
          <a:fontRef idx="minor">
            <a:schemeClr val="tx1"/>
          </a:fontRef>
        </p:style>
      </p:cxnSp>
      <p:cxnSp>
        <p:nvCxnSpPr>
          <p:cNvPr id="92" name="Straight Connector 91"/>
          <p:cNvCxnSpPr>
            <a:stCxn id="4" idx="2"/>
          </p:cNvCxnSpPr>
          <p:nvPr/>
        </p:nvCxnSpPr>
        <p:spPr>
          <a:xfrm flipH="1">
            <a:off x="5972810" y="1461135"/>
            <a:ext cx="5080" cy="263525"/>
          </a:xfrm>
          <a:prstGeom prst="line">
            <a:avLst/>
          </a:prstGeom>
          <a:ln>
            <a:solidFill>
              <a:schemeClr val="tx1">
                <a:lumMod val="95000"/>
                <a:lumOff val="5000"/>
              </a:schemeClr>
            </a:solidFill>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190500"/>
            <a:ext cx="10515600" cy="695325"/>
          </a:xfrm>
        </p:spPr>
        <p:txBody>
          <a:bodyPr/>
          <a:p>
            <a:r>
              <a:rPr lang="en-US" altLang="en-GB" sz="2800" b="1">
                <a:latin typeface="Times New Roman" panose="02020603050405020304" charset="0"/>
                <a:cs typeface="Times New Roman" panose="02020603050405020304" charset="0"/>
              </a:rPr>
              <a:t>Methodology</a:t>
            </a:r>
            <a:r>
              <a:rPr lang="en-GB" altLang="en-US" sz="2800" b="1">
                <a:latin typeface="Times New Roman" panose="02020603050405020304" charset="0"/>
                <a:cs typeface="Times New Roman" panose="02020603050405020304" charset="0"/>
              </a:rPr>
              <a:t> :</a:t>
            </a:r>
            <a:endParaRPr lang="en-GB" altLang="en-US" sz="2800"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838200" y="885825"/>
            <a:ext cx="10515600" cy="5022215"/>
          </a:xfrm>
        </p:spPr>
        <p:txBody>
          <a:bodyPr>
            <a:noAutofit/>
          </a:bodyPr>
          <a:p>
            <a:pPr>
              <a:buAutoNum type="arabicPeriod"/>
            </a:pPr>
            <a:r>
              <a:rPr lang="en-US" altLang="en-GB" sz="1500" u="sng">
                <a:latin typeface="Times New Roman" panose="02020603050405020304" charset="0"/>
                <a:cs typeface="Times New Roman" panose="02020603050405020304" charset="0"/>
              </a:rPr>
              <a:t>Selection of Technology Nodes:</a:t>
            </a:r>
            <a:endParaRPr lang="en-US" altLang="en-GB" sz="1500" u="sng">
              <a:latin typeface="Times New Roman" panose="02020603050405020304" charset="0"/>
              <a:cs typeface="Times New Roman" panose="02020603050405020304" charset="0"/>
            </a:endParaRPr>
          </a:p>
          <a:p>
            <a:r>
              <a:rPr lang="en-US" altLang="en-GB" sz="1500">
                <a:latin typeface="Times New Roman" panose="02020603050405020304" charset="0"/>
                <a:cs typeface="Times New Roman" panose="02020603050405020304" charset="0"/>
              </a:rPr>
              <a:t>6T SRAM cell designed using 180nm, 90nm, and 45nm CMOS technologies to study scaling effects on area, power, and delay.</a:t>
            </a:r>
            <a:endParaRPr lang="en-US" altLang="en-GB" sz="1500">
              <a:latin typeface="Times New Roman" panose="02020603050405020304" charset="0"/>
              <a:cs typeface="Times New Roman" panose="02020603050405020304" charset="0"/>
            </a:endParaRPr>
          </a:p>
          <a:p>
            <a:pPr marL="0" indent="0">
              <a:buNone/>
            </a:pPr>
            <a:r>
              <a:rPr lang="en-GB" altLang="en-US" sz="1500">
                <a:latin typeface="Times New Roman" panose="02020603050405020304" charset="0"/>
                <a:cs typeface="Times New Roman" panose="02020603050405020304" charset="0"/>
              </a:rPr>
              <a:t>2.   </a:t>
            </a:r>
            <a:r>
              <a:rPr lang="en-US" altLang="en-GB" sz="1500" u="sng">
                <a:latin typeface="Times New Roman" panose="02020603050405020304" charset="0"/>
                <a:cs typeface="Times New Roman" panose="02020603050405020304" charset="0"/>
              </a:rPr>
              <a:t>Schematic Design:</a:t>
            </a:r>
            <a:endParaRPr lang="en-US" altLang="en-GB" sz="1500">
              <a:latin typeface="Times New Roman" panose="02020603050405020304" charset="0"/>
              <a:cs typeface="Times New Roman" panose="02020603050405020304" charset="0"/>
            </a:endParaRPr>
          </a:p>
          <a:p>
            <a:r>
              <a:rPr lang="en-US" altLang="en-GB" sz="1500">
                <a:latin typeface="Times New Roman" panose="02020603050405020304" charset="0"/>
                <a:cs typeface="Times New Roman" panose="02020603050405020304" charset="0"/>
              </a:rPr>
              <a:t>Implemented a standard 6T SRAM cell using two cross-coupled inverters and two access transistors in Cadence Virtuoso with appropriate PDK/BSIM models.</a:t>
            </a:r>
            <a:endParaRPr lang="en-US" altLang="en-GB" sz="1500">
              <a:latin typeface="Times New Roman" panose="02020603050405020304" charset="0"/>
              <a:cs typeface="Times New Roman" panose="02020603050405020304" charset="0"/>
            </a:endParaRPr>
          </a:p>
          <a:p>
            <a:pPr marL="0" indent="0">
              <a:buNone/>
            </a:pPr>
            <a:r>
              <a:rPr lang="en-GB" altLang="en-US" sz="1500">
                <a:latin typeface="Times New Roman" panose="02020603050405020304" charset="0"/>
                <a:cs typeface="Times New Roman" panose="02020603050405020304" charset="0"/>
              </a:rPr>
              <a:t>3.  </a:t>
            </a:r>
            <a:r>
              <a:rPr lang="en-GB" altLang="en-US" sz="1500" u="sng">
                <a:latin typeface="Times New Roman" panose="02020603050405020304" charset="0"/>
                <a:cs typeface="Times New Roman" panose="02020603050405020304" charset="0"/>
              </a:rPr>
              <a:t> </a:t>
            </a:r>
            <a:r>
              <a:rPr lang="en-US" altLang="en-GB" sz="1500" u="sng">
                <a:latin typeface="Times New Roman" panose="02020603050405020304" charset="0"/>
                <a:cs typeface="Times New Roman" panose="02020603050405020304" charset="0"/>
              </a:rPr>
              <a:t>Transistor Sizing and Simulation Setup:</a:t>
            </a:r>
            <a:endParaRPr lang="en-US" altLang="en-GB" sz="1500" u="sng">
              <a:latin typeface="Times New Roman" panose="02020603050405020304" charset="0"/>
              <a:cs typeface="Times New Roman" panose="02020603050405020304" charset="0"/>
            </a:endParaRPr>
          </a:p>
          <a:p>
            <a:r>
              <a:rPr lang="en-US" altLang="en-GB" sz="1500">
                <a:latin typeface="Times New Roman" panose="02020603050405020304" charset="0"/>
                <a:cs typeface="Times New Roman" panose="02020603050405020304" charset="0"/>
              </a:rPr>
              <a:t>Optimized transistor ratios (pull-up, pull-down, access) for stable read/write operations.</a:t>
            </a:r>
            <a:endParaRPr lang="en-US" altLang="en-GB" sz="1500">
              <a:latin typeface="Times New Roman" panose="02020603050405020304" charset="0"/>
              <a:cs typeface="Times New Roman" panose="02020603050405020304" charset="0"/>
            </a:endParaRPr>
          </a:p>
          <a:p>
            <a:r>
              <a:rPr lang="en-US" altLang="en-GB" sz="1500">
                <a:latin typeface="Times New Roman" panose="02020603050405020304" charset="0"/>
                <a:cs typeface="Times New Roman" panose="02020603050405020304" charset="0"/>
              </a:rPr>
              <a:t>Performed simulations in Cadence Virtuoso ADE L – Waveform Calculator (Spectre Simulation) to measure read/write delay and power consumption (static and dynamic).</a:t>
            </a:r>
            <a:endParaRPr lang="en-US" altLang="en-GB" sz="1500">
              <a:latin typeface="Times New Roman" panose="02020603050405020304" charset="0"/>
              <a:cs typeface="Times New Roman" panose="02020603050405020304" charset="0"/>
            </a:endParaRPr>
          </a:p>
          <a:p>
            <a:pPr marL="0" indent="0">
              <a:buNone/>
            </a:pPr>
            <a:r>
              <a:rPr lang="en-GB" altLang="en-US" sz="1500">
                <a:latin typeface="Times New Roman" panose="02020603050405020304" charset="0"/>
                <a:cs typeface="Times New Roman" panose="02020603050405020304" charset="0"/>
                <a:sym typeface="+mn-ea"/>
              </a:rPr>
              <a:t> 4.  </a:t>
            </a:r>
            <a:r>
              <a:rPr lang="en-US" altLang="en-GB" sz="1500" u="sng">
                <a:latin typeface="Times New Roman" panose="02020603050405020304" charset="0"/>
                <a:cs typeface="Times New Roman" panose="02020603050405020304" charset="0"/>
                <a:sym typeface="+mn-ea"/>
              </a:rPr>
              <a:t>Layout Design and Verification:</a:t>
            </a:r>
            <a:endParaRPr lang="en-US" altLang="en-GB" sz="1500">
              <a:latin typeface="Times New Roman" panose="02020603050405020304" charset="0"/>
              <a:cs typeface="Times New Roman" panose="02020603050405020304" charset="0"/>
            </a:endParaRPr>
          </a:p>
          <a:p>
            <a:r>
              <a:rPr lang="en-US" altLang="en-GB" sz="1500">
                <a:latin typeface="Times New Roman" panose="02020603050405020304" charset="0"/>
                <a:cs typeface="Times New Roman" panose="02020603050405020304" charset="0"/>
                <a:sym typeface="+mn-ea"/>
              </a:rPr>
              <a:t>Created layouts for all three technology nodes.</a:t>
            </a:r>
            <a:endParaRPr lang="en-US" altLang="en-GB" sz="1500">
              <a:latin typeface="Times New Roman" panose="02020603050405020304" charset="0"/>
              <a:cs typeface="Times New Roman" panose="02020603050405020304" charset="0"/>
              <a:sym typeface="+mn-ea"/>
            </a:endParaRPr>
          </a:p>
          <a:p>
            <a:r>
              <a:rPr lang="en-US" altLang="en-GB" sz="1500">
                <a:latin typeface="Times New Roman" panose="02020603050405020304" charset="0"/>
                <a:cs typeface="Times New Roman" panose="02020603050405020304" charset="0"/>
                <a:sym typeface="+mn-ea"/>
              </a:rPr>
              <a:t>Verified layouts through DRC and LVS checks.</a:t>
            </a:r>
            <a:endParaRPr lang="en-US" altLang="en-GB" sz="1500">
              <a:latin typeface="Times New Roman" panose="02020603050405020304" charset="0"/>
              <a:cs typeface="Times New Roman" panose="02020603050405020304" charset="0"/>
              <a:sym typeface="+mn-ea"/>
            </a:endParaRPr>
          </a:p>
          <a:p>
            <a:r>
              <a:rPr lang="en-US" altLang="en-GB" sz="1500">
                <a:latin typeface="Times New Roman" panose="02020603050405020304" charset="0"/>
                <a:cs typeface="Times New Roman" panose="02020603050405020304" charset="0"/>
                <a:sym typeface="+mn-ea"/>
              </a:rPr>
              <a:t>Conducted Parasitic Extraction (PEX) for accurate post-layout simulations.</a:t>
            </a:r>
            <a:endParaRPr lang="en-US" altLang="en-GB" sz="1500">
              <a:latin typeface="Times New Roman" panose="02020603050405020304" charset="0"/>
              <a:cs typeface="Times New Roman" panose="02020603050405020304" charset="0"/>
            </a:endParaRPr>
          </a:p>
          <a:p>
            <a:pPr marL="0" indent="0">
              <a:buNone/>
            </a:pPr>
            <a:r>
              <a:rPr lang="en-GB" altLang="en-US" sz="1500">
                <a:latin typeface="Times New Roman" panose="02020603050405020304" charset="0"/>
                <a:cs typeface="Times New Roman" panose="02020603050405020304" charset="0"/>
                <a:sym typeface="+mn-ea"/>
              </a:rPr>
              <a:t>5. </a:t>
            </a:r>
            <a:r>
              <a:rPr lang="en-GB" altLang="en-US" sz="1500" u="sng">
                <a:latin typeface="Times New Roman" panose="02020603050405020304" charset="0"/>
                <a:cs typeface="Times New Roman" panose="02020603050405020304" charset="0"/>
                <a:sym typeface="+mn-ea"/>
              </a:rPr>
              <a:t> </a:t>
            </a:r>
            <a:r>
              <a:rPr lang="en-US" altLang="en-GB" sz="1500" u="sng">
                <a:latin typeface="Times New Roman" panose="02020603050405020304" charset="0"/>
                <a:cs typeface="Times New Roman" panose="02020603050405020304" charset="0"/>
                <a:sym typeface="+mn-ea"/>
              </a:rPr>
              <a:t>Performance Evaluation:</a:t>
            </a:r>
            <a:endParaRPr lang="en-US" altLang="en-GB" sz="1500" u="sng">
              <a:latin typeface="Times New Roman" panose="02020603050405020304" charset="0"/>
              <a:cs typeface="Times New Roman" panose="02020603050405020304" charset="0"/>
            </a:endParaRPr>
          </a:p>
          <a:p>
            <a:r>
              <a:rPr lang="en-US" altLang="en-GB" sz="1500">
                <a:latin typeface="Times New Roman" panose="02020603050405020304" charset="0"/>
                <a:cs typeface="Times New Roman" panose="02020603050405020304" charset="0"/>
                <a:sym typeface="+mn-ea"/>
              </a:rPr>
              <a:t>Evaluated area, power dissipation, and propagation delay from extracted layouts.</a:t>
            </a:r>
            <a:endParaRPr lang="en-US" altLang="en-GB" sz="1500">
              <a:latin typeface="Times New Roman" panose="02020603050405020304" charset="0"/>
              <a:cs typeface="Times New Roman" panose="02020603050405020304" charset="0"/>
            </a:endParaRPr>
          </a:p>
          <a:p>
            <a:r>
              <a:rPr lang="en-US" altLang="en-GB" sz="1500">
                <a:latin typeface="Times New Roman" panose="02020603050405020304" charset="0"/>
                <a:cs typeface="Times New Roman" panose="02020603050405020304" charset="0"/>
                <a:sym typeface="+mn-ea"/>
              </a:rPr>
              <a:t>Compared results across 180nm, 90nm, and 45nm to assess improvements due to scaling.</a:t>
            </a:r>
            <a:endParaRPr lang="en-US" altLang="en-GB" sz="1500">
              <a:latin typeface="Times New Roman" panose="02020603050405020304" charset="0"/>
              <a:cs typeface="Times New Roman" panose="02020603050405020304" charset="0"/>
            </a:endParaRPr>
          </a:p>
          <a:p>
            <a:pPr marL="0" indent="0">
              <a:buNone/>
            </a:pPr>
            <a:r>
              <a:rPr lang="en-GB" altLang="en-US" sz="1500">
                <a:latin typeface="Times New Roman" panose="02020603050405020304" charset="0"/>
                <a:cs typeface="Times New Roman" panose="02020603050405020304" charset="0"/>
                <a:sym typeface="+mn-ea"/>
              </a:rPr>
              <a:t>6. </a:t>
            </a:r>
            <a:r>
              <a:rPr lang="en-GB" altLang="en-US" sz="1500" u="sng">
                <a:latin typeface="Times New Roman" panose="02020603050405020304" charset="0"/>
                <a:cs typeface="Times New Roman" panose="02020603050405020304" charset="0"/>
                <a:sym typeface="+mn-ea"/>
              </a:rPr>
              <a:t> </a:t>
            </a:r>
            <a:r>
              <a:rPr lang="en-US" altLang="en-GB" sz="1500" u="sng">
                <a:latin typeface="Times New Roman" panose="02020603050405020304" charset="0"/>
                <a:cs typeface="Times New Roman" panose="02020603050405020304" charset="0"/>
                <a:sym typeface="+mn-ea"/>
              </a:rPr>
              <a:t>Result Analysis:</a:t>
            </a:r>
            <a:endParaRPr lang="en-US" altLang="en-GB" sz="1500">
              <a:latin typeface="Times New Roman" panose="02020603050405020304" charset="0"/>
              <a:cs typeface="Times New Roman" panose="02020603050405020304" charset="0"/>
            </a:endParaRPr>
          </a:p>
          <a:p>
            <a:r>
              <a:rPr lang="en-US" altLang="en-GB" sz="1500">
                <a:latin typeface="Times New Roman" panose="02020603050405020304" charset="0"/>
                <a:cs typeface="Times New Roman" panose="02020603050405020304" charset="0"/>
                <a:sym typeface="+mn-ea"/>
              </a:rPr>
              <a:t>Found that with smaller technology nodes, area reduces, speed improves, but leakage current and </a:t>
            </a:r>
            <a:r>
              <a:rPr lang="en-US" altLang="en-GB" sz="1500">
                <a:latin typeface="Times New Roman" panose="02020603050405020304" charset="0"/>
                <a:cs typeface="Times New Roman" panose="02020603050405020304" charset="0"/>
                <a:sym typeface="+mn-ea"/>
              </a:rPr>
              <a:t>power consumption</a:t>
            </a:r>
            <a:r>
              <a:rPr lang="en-US" altLang="en-GB" sz="1500">
                <a:latin typeface="Times New Roman" panose="02020603050405020304" charset="0"/>
                <a:cs typeface="Times New Roman" panose="02020603050405020304" charset="0"/>
                <a:sym typeface="+mn-ea"/>
              </a:rPr>
              <a:t> increases.</a:t>
            </a:r>
            <a:endParaRPr lang="en-US" altLang="en-GB" sz="1500">
              <a:latin typeface="Times New Roman" panose="02020603050405020304" charset="0"/>
              <a:cs typeface="Times New Roman" panose="02020603050405020304" charset="0"/>
            </a:endParaRPr>
          </a:p>
          <a:p>
            <a:endParaRPr lang="en-US" altLang="en-GB" sz="1100">
              <a:latin typeface="Times New Roman" panose="02020603050405020304" charset="0"/>
              <a:cs typeface="Times New Roman" panose="0202060305040502030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itle 1"/>
          <p:cNvSpPr>
            <a:spLocks noGrp="1"/>
          </p:cNvSpPr>
          <p:nvPr/>
        </p:nvSpPr>
        <p:spPr>
          <a:xfrm>
            <a:off x="266065" y="183515"/>
            <a:ext cx="7536180" cy="73469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altLang="en-US" sz="2800" b="1" dirty="0">
                <a:latin typeface="Times New Roman" panose="02020603050405020304" charset="0"/>
                <a:cs typeface="Times New Roman" panose="02020603050405020304" charset="0"/>
              </a:rPr>
              <a:t>M</a:t>
            </a:r>
            <a:r>
              <a:rPr lang="en-US" altLang="en-GB" sz="2800" b="1" dirty="0">
                <a:latin typeface="Times New Roman" panose="02020603050405020304" charset="0"/>
                <a:cs typeface="Times New Roman" panose="02020603050405020304" charset="0"/>
              </a:rPr>
              <a:t>athematical and </a:t>
            </a:r>
            <a:r>
              <a:rPr lang="en-IN" altLang="en-US" sz="2800" b="1" dirty="0">
                <a:latin typeface="Times New Roman" panose="02020603050405020304" charset="0"/>
                <a:cs typeface="Times New Roman" panose="02020603050405020304" charset="0"/>
              </a:rPr>
              <a:t>P</a:t>
            </a:r>
            <a:r>
              <a:rPr lang="en-US" altLang="en-GB" sz="2800" b="1" dirty="0">
                <a:latin typeface="Times New Roman" panose="02020603050405020304" charset="0"/>
                <a:cs typeface="Times New Roman" panose="02020603050405020304" charset="0"/>
              </a:rPr>
              <a:t>hysical model of a system</a:t>
            </a:r>
            <a:endParaRPr lang="en-US" altLang="en-GB" sz="2800" b="1" dirty="0">
              <a:latin typeface="Times New Roman" panose="02020603050405020304" charset="0"/>
              <a:cs typeface="Times New Roman" panose="02020603050405020304" charset="0"/>
            </a:endParaRPr>
          </a:p>
        </p:txBody>
      </p:sp>
      <p:sp>
        <p:nvSpPr>
          <p:cNvPr id="2" name="Text Box 1"/>
          <p:cNvSpPr txBox="1"/>
          <p:nvPr/>
        </p:nvSpPr>
        <p:spPr>
          <a:xfrm>
            <a:off x="442595" y="989330"/>
            <a:ext cx="9398000" cy="5671820"/>
          </a:xfrm>
          <a:prstGeom prst="rect">
            <a:avLst/>
          </a:prstGeom>
        </p:spPr>
        <p:txBody>
          <a:bodyPr wrap="square">
            <a:noAutofit/>
          </a:bodyPr>
          <a:p>
            <a:pPr>
              <a:spcAft>
                <a:spcPct val="60000"/>
              </a:spcAft>
            </a:pPr>
            <a:r>
              <a:rPr sz="1600" b="1">
                <a:latin typeface="Times New Roman" panose="02020603050405020304" charset="0"/>
                <a:cs typeface="Times New Roman" panose="02020603050405020304" charset="0"/>
              </a:rPr>
              <a:t>1. Mathematical Model</a:t>
            </a:r>
            <a:r>
              <a:rPr lang="en-IN" sz="1600" b="1">
                <a:latin typeface="Times New Roman" panose="02020603050405020304" charset="0"/>
                <a:cs typeface="Times New Roman" panose="02020603050405020304" charset="0"/>
              </a:rPr>
              <a:t> :</a:t>
            </a:r>
            <a:endParaRPr sz="1600">
              <a:latin typeface="Times New Roman" panose="02020603050405020304" charset="0"/>
              <a:cs typeface="Times New Roman" panose="02020603050405020304" charset="0"/>
            </a:endParaRPr>
          </a:p>
          <a:p>
            <a:pPr>
              <a:buFont typeface="Arial" panose="020B0604020202020204"/>
              <a:buChar char="•"/>
            </a:pPr>
            <a:r>
              <a:rPr sz="1600">
                <a:latin typeface="Times New Roman" panose="02020603050405020304" charset="0"/>
                <a:cs typeface="Times New Roman" panose="02020603050405020304" charset="0"/>
              </a:rPr>
              <a:t>Power Consumption</a:t>
            </a:r>
            <a:endParaRPr sz="1600">
              <a:latin typeface="Times New Roman" panose="02020603050405020304" charset="0"/>
              <a:cs typeface="Times New Roman" panose="02020603050405020304" charset="0"/>
            </a:endParaRPr>
          </a:p>
          <a:p>
            <a:pPr lvl="1">
              <a:buFont typeface="Arial" panose="020B0604020202020204"/>
              <a:buChar char="◦"/>
            </a:pPr>
            <a:r>
              <a:rPr sz="1600">
                <a:latin typeface="Times New Roman" panose="02020603050405020304" charset="0"/>
                <a:cs typeface="Times New Roman" panose="02020603050405020304" charset="0"/>
              </a:rPr>
              <a:t>Dynamic power</a:t>
            </a:r>
            <a:r>
              <a:rPr lang="en-IN" sz="1600">
                <a:latin typeface="Times New Roman" panose="02020603050405020304" charset="0"/>
                <a:cs typeface="Times New Roman" panose="02020603050405020304" charset="0"/>
              </a:rPr>
              <a:t> </a:t>
            </a:r>
            <a:r>
              <a:rPr sz="1600">
                <a:latin typeface="Times New Roman" panose="02020603050405020304" charset="0"/>
                <a:cs typeface="Times New Roman" panose="02020603050405020304" charset="0"/>
              </a:rPr>
              <a:t>:</a:t>
            </a:r>
            <a:r>
              <a:rPr lang="en-IN" sz="1600">
                <a:latin typeface="Times New Roman" panose="02020603050405020304" charset="0"/>
                <a:cs typeface="Times New Roman" panose="02020603050405020304" charset="0"/>
              </a:rPr>
              <a:t> </a:t>
            </a:r>
            <a:r>
              <a:rPr sz="1600">
                <a:latin typeface="Times New Roman" panose="02020603050405020304" charset="0"/>
                <a:cs typeface="Times New Roman" panose="02020603050405020304" charset="0"/>
              </a:rPr>
              <a:t>P</a:t>
            </a:r>
            <a:r>
              <a:rPr sz="1600" baseline="-25000">
                <a:latin typeface="Times New Roman" panose="02020603050405020304" charset="0"/>
                <a:cs typeface="Times New Roman" panose="02020603050405020304" charset="0"/>
              </a:rPr>
              <a:t>dyn</a:t>
            </a:r>
            <a:r>
              <a:rPr lang="en-IN" sz="1600">
                <a:latin typeface="Times New Roman" panose="02020603050405020304" charset="0"/>
                <a:cs typeface="Times New Roman" panose="02020603050405020304" charset="0"/>
              </a:rPr>
              <a:t> </a:t>
            </a:r>
            <a:r>
              <a:rPr sz="1600">
                <a:latin typeface="Times New Roman" panose="02020603050405020304" charset="0"/>
                <a:cs typeface="Times New Roman" panose="02020603050405020304" charset="0"/>
              </a:rPr>
              <a:t>=</a:t>
            </a:r>
            <a:r>
              <a:rPr lang="en-IN" sz="1600">
                <a:latin typeface="Times New Roman" panose="02020603050405020304" charset="0"/>
                <a:cs typeface="Times New Roman" panose="02020603050405020304" charset="0"/>
              </a:rPr>
              <a:t> </a:t>
            </a:r>
            <a:r>
              <a:rPr sz="1600">
                <a:latin typeface="Times New Roman" panose="02020603050405020304" charset="0"/>
                <a:cs typeface="Times New Roman" panose="02020603050405020304" charset="0"/>
              </a:rPr>
              <a:t>α </a:t>
            </a:r>
            <a:r>
              <a:rPr lang="en-US" sz="1600">
                <a:latin typeface="Times New Roman" panose="02020603050405020304" charset="0"/>
                <a:cs typeface="Times New Roman" panose="02020603050405020304" charset="0"/>
              </a:rPr>
              <a:t>*</a:t>
            </a:r>
            <a:r>
              <a:rPr sz="1600">
                <a:latin typeface="Times New Roman" panose="02020603050405020304" charset="0"/>
                <a:cs typeface="Times New Roman" panose="02020603050405020304" charset="0"/>
              </a:rPr>
              <a:t>C</a:t>
            </a:r>
            <a:r>
              <a:rPr sz="1600" baseline="-25000">
                <a:latin typeface="Times New Roman" panose="02020603050405020304" charset="0"/>
                <a:cs typeface="Times New Roman" panose="02020603050405020304" charset="0"/>
              </a:rPr>
              <a:t>L</a:t>
            </a:r>
            <a:r>
              <a:rPr lang="en-IN" sz="1600">
                <a:latin typeface="Times New Roman" panose="02020603050405020304" charset="0"/>
                <a:cs typeface="Times New Roman" panose="02020603050405020304" charset="0"/>
              </a:rPr>
              <a:t>*</a:t>
            </a:r>
            <a:r>
              <a:rPr sz="1600">
                <a:latin typeface="Times New Roman" panose="02020603050405020304" charset="0"/>
                <a:cs typeface="Times New Roman" panose="02020603050405020304" charset="0"/>
              </a:rPr>
              <a:t>V</a:t>
            </a:r>
            <a:r>
              <a:rPr sz="1600" baseline="-25000">
                <a:latin typeface="Times New Roman" panose="02020603050405020304" charset="0"/>
                <a:cs typeface="Times New Roman" panose="02020603050405020304" charset="0"/>
              </a:rPr>
              <a:t>DD</a:t>
            </a:r>
            <a:r>
              <a:rPr sz="1600">
                <a:latin typeface="Times New Roman" panose="02020603050405020304" charset="0"/>
                <a:cs typeface="Times New Roman" panose="02020603050405020304" charset="0"/>
              </a:rPr>
              <a:t> </a:t>
            </a:r>
            <a:r>
              <a:rPr lang="en-IN" sz="1600" baseline="30000">
                <a:latin typeface="Times New Roman" panose="02020603050405020304" charset="0"/>
                <a:cs typeface="Times New Roman" panose="02020603050405020304" charset="0"/>
              </a:rPr>
              <a:t>2</a:t>
            </a:r>
            <a:endParaRPr sz="1600">
              <a:latin typeface="Times New Roman" panose="02020603050405020304" charset="0"/>
              <a:cs typeface="Times New Roman" panose="02020603050405020304" charset="0"/>
            </a:endParaRPr>
          </a:p>
          <a:p>
            <a:pPr lvl="1">
              <a:buFont typeface="Arial" panose="020B0604020202020204"/>
              <a:buChar char="◦"/>
            </a:pPr>
            <a:r>
              <a:rPr sz="1600">
                <a:latin typeface="Times New Roman" panose="02020603050405020304" charset="0"/>
                <a:cs typeface="Times New Roman" panose="02020603050405020304" charset="0"/>
              </a:rPr>
              <a:t>Static power </a:t>
            </a:r>
            <a:r>
              <a:rPr lang="en-IN" sz="1600">
                <a:latin typeface="Times New Roman" panose="02020603050405020304" charset="0"/>
                <a:cs typeface="Times New Roman" panose="02020603050405020304" charset="0"/>
              </a:rPr>
              <a:t>:</a:t>
            </a:r>
            <a:r>
              <a:rPr sz="1600">
                <a:latin typeface="Times New Roman" panose="02020603050405020304" charset="0"/>
                <a:cs typeface="Times New Roman" panose="02020603050405020304" charset="0"/>
              </a:rPr>
              <a:t>(leakage):P</a:t>
            </a:r>
            <a:r>
              <a:rPr sz="1600" baseline="-25000">
                <a:latin typeface="Times New Roman" panose="02020603050405020304" charset="0"/>
                <a:cs typeface="Times New Roman" panose="02020603050405020304" charset="0"/>
              </a:rPr>
              <a:t>static</a:t>
            </a:r>
            <a:r>
              <a:rPr sz="1600">
                <a:latin typeface="Times New Roman" panose="02020603050405020304" charset="0"/>
                <a:cs typeface="Times New Roman" panose="02020603050405020304" charset="0"/>
              </a:rPr>
              <a:t>=I</a:t>
            </a:r>
            <a:r>
              <a:rPr sz="1600" baseline="-25000">
                <a:latin typeface="Times New Roman" panose="02020603050405020304" charset="0"/>
                <a:cs typeface="Times New Roman" panose="02020603050405020304" charset="0"/>
              </a:rPr>
              <a:t>leak</a:t>
            </a:r>
            <a:r>
              <a:rPr lang="en-IN" sz="1600">
                <a:latin typeface="Times New Roman" panose="02020603050405020304" charset="0"/>
                <a:cs typeface="Times New Roman" panose="02020603050405020304" charset="0"/>
              </a:rPr>
              <a:t>*</a:t>
            </a:r>
            <a:r>
              <a:rPr sz="1600">
                <a:latin typeface="Times New Roman" panose="02020603050405020304" charset="0"/>
                <a:cs typeface="Times New Roman" panose="02020603050405020304" charset="0"/>
              </a:rPr>
              <a:t>V</a:t>
            </a:r>
            <a:r>
              <a:rPr sz="1600" baseline="-25000">
                <a:latin typeface="Times New Roman" panose="02020603050405020304" charset="0"/>
                <a:cs typeface="Times New Roman" panose="02020603050405020304" charset="0"/>
              </a:rPr>
              <a:t>DD</a:t>
            </a:r>
            <a:r>
              <a:rPr sz="1600">
                <a:latin typeface="Times New Roman" panose="02020603050405020304" charset="0"/>
                <a:cs typeface="Times New Roman" panose="02020603050405020304" charset="0"/>
              </a:rPr>
              <a:t>P</a:t>
            </a:r>
            <a:endParaRPr sz="1600">
              <a:latin typeface="Times New Roman" panose="02020603050405020304" charset="0"/>
              <a:cs typeface="Times New Roman" panose="02020603050405020304" charset="0"/>
            </a:endParaRPr>
          </a:p>
          <a:p>
            <a:pPr lvl="1" indent="0">
              <a:buFont typeface="Arial" panose="020B0604020202020204"/>
              <a:buNone/>
            </a:pPr>
            <a:endParaRPr sz="1600">
              <a:latin typeface="Times New Roman" panose="02020603050405020304" charset="0"/>
              <a:cs typeface="Times New Roman" panose="02020603050405020304" charset="0"/>
            </a:endParaRPr>
          </a:p>
          <a:p>
            <a:pPr>
              <a:buFont typeface="Arial" panose="020B0604020202020204"/>
              <a:buChar char="•"/>
            </a:pPr>
            <a:r>
              <a:rPr sz="1600">
                <a:latin typeface="Times New Roman" panose="02020603050405020304" charset="0"/>
                <a:cs typeface="Times New Roman" panose="02020603050405020304" charset="0"/>
              </a:rPr>
              <a:t>Delay (Read/Write delay)</a:t>
            </a:r>
            <a:endParaRPr sz="1600">
              <a:latin typeface="Times New Roman" panose="02020603050405020304" charset="0"/>
              <a:cs typeface="Times New Roman" panose="02020603050405020304" charset="0"/>
            </a:endParaRPr>
          </a:p>
          <a:p>
            <a:pPr lvl="1">
              <a:buFont typeface="Arial" panose="020B0604020202020204"/>
              <a:buChar char="◦"/>
            </a:pPr>
            <a:r>
              <a:rPr sz="1600">
                <a:latin typeface="Times New Roman" panose="02020603050405020304" charset="0"/>
                <a:cs typeface="Times New Roman" panose="02020603050405020304" charset="0"/>
                <a:sym typeface="+mn-ea"/>
              </a:rPr>
              <a:t>Dynamic power</a:t>
            </a:r>
            <a:r>
              <a:rPr lang="en-IN" sz="1600">
                <a:latin typeface="Times New Roman" panose="02020603050405020304" charset="0"/>
                <a:cs typeface="Times New Roman" panose="02020603050405020304" charset="0"/>
                <a:sym typeface="+mn-ea"/>
              </a:rPr>
              <a:t> </a:t>
            </a:r>
            <a:r>
              <a:rPr sz="1600">
                <a:latin typeface="Times New Roman" panose="02020603050405020304" charset="0"/>
                <a:cs typeface="Times New Roman" panose="02020603050405020304" charset="0"/>
                <a:sym typeface="+mn-ea"/>
              </a:rPr>
              <a:t>:</a:t>
            </a:r>
            <a:r>
              <a:rPr lang="en-IN" sz="1600">
                <a:latin typeface="Times New Roman" panose="02020603050405020304" charset="0"/>
                <a:cs typeface="Times New Roman" panose="02020603050405020304" charset="0"/>
                <a:sym typeface="+mn-ea"/>
              </a:rPr>
              <a:t> </a:t>
            </a:r>
            <a:r>
              <a:rPr sz="1600">
                <a:latin typeface="Times New Roman" panose="02020603050405020304" charset="0"/>
                <a:cs typeface="Times New Roman" panose="02020603050405020304" charset="0"/>
                <a:sym typeface="+mn-ea"/>
              </a:rPr>
              <a:t>Pdyn</a:t>
            </a:r>
            <a:r>
              <a:rPr lang="en-IN" sz="1600">
                <a:latin typeface="Times New Roman" panose="02020603050405020304" charset="0"/>
                <a:cs typeface="Times New Roman" panose="02020603050405020304" charset="0"/>
                <a:sym typeface="+mn-ea"/>
              </a:rPr>
              <a:t> </a:t>
            </a:r>
            <a:r>
              <a:rPr sz="1600">
                <a:latin typeface="Times New Roman" panose="02020603050405020304" charset="0"/>
                <a:cs typeface="Times New Roman" panose="02020603050405020304" charset="0"/>
                <a:sym typeface="+mn-ea"/>
              </a:rPr>
              <a:t>=</a:t>
            </a:r>
            <a:r>
              <a:rPr lang="en-IN" sz="1600">
                <a:latin typeface="Times New Roman" panose="02020603050405020304" charset="0"/>
                <a:cs typeface="Times New Roman" panose="02020603050405020304" charset="0"/>
                <a:sym typeface="+mn-ea"/>
              </a:rPr>
              <a:t> </a:t>
            </a:r>
            <a:r>
              <a:rPr sz="1600">
                <a:latin typeface="Times New Roman" panose="02020603050405020304" charset="0"/>
                <a:cs typeface="Times New Roman" panose="02020603050405020304" charset="0"/>
                <a:sym typeface="+mn-ea"/>
              </a:rPr>
              <a:t>α CL</a:t>
            </a:r>
            <a:r>
              <a:rPr lang="en-IN" sz="1600">
                <a:latin typeface="Times New Roman" panose="02020603050405020304" charset="0"/>
                <a:cs typeface="Times New Roman" panose="02020603050405020304" charset="0"/>
                <a:sym typeface="+mn-ea"/>
              </a:rPr>
              <a:t>*</a:t>
            </a:r>
            <a:r>
              <a:rPr sz="1600">
                <a:latin typeface="Times New Roman" panose="02020603050405020304" charset="0"/>
                <a:cs typeface="Times New Roman" panose="02020603050405020304" charset="0"/>
                <a:sym typeface="+mn-ea"/>
              </a:rPr>
              <a:t>VDD2 </a:t>
            </a:r>
            <a:endParaRPr sz="1600">
              <a:latin typeface="Times New Roman" panose="02020603050405020304" charset="0"/>
              <a:cs typeface="Times New Roman" panose="02020603050405020304" charset="0"/>
            </a:endParaRPr>
          </a:p>
          <a:p>
            <a:pPr lvl="1">
              <a:buFont typeface="Arial" panose="020B0604020202020204"/>
              <a:buChar char="◦"/>
            </a:pPr>
            <a:r>
              <a:rPr sz="1600">
                <a:latin typeface="Times New Roman" panose="02020603050405020304" charset="0"/>
                <a:cs typeface="Times New Roman" panose="02020603050405020304" charset="0"/>
                <a:sym typeface="+mn-ea"/>
              </a:rPr>
              <a:t>Static power </a:t>
            </a:r>
            <a:r>
              <a:rPr lang="en-IN" sz="1600">
                <a:latin typeface="Times New Roman" panose="02020603050405020304" charset="0"/>
                <a:cs typeface="Times New Roman" panose="02020603050405020304" charset="0"/>
                <a:sym typeface="+mn-ea"/>
              </a:rPr>
              <a:t>:</a:t>
            </a:r>
            <a:r>
              <a:rPr sz="1600">
                <a:latin typeface="Times New Roman" panose="02020603050405020304" charset="0"/>
                <a:cs typeface="Times New Roman" panose="02020603050405020304" charset="0"/>
                <a:sym typeface="+mn-ea"/>
              </a:rPr>
              <a:t>(leakage):Pstatic=Ileak</a:t>
            </a:r>
            <a:r>
              <a:rPr lang="en-IN" sz="1600">
                <a:latin typeface="Times New Roman" panose="02020603050405020304" charset="0"/>
                <a:cs typeface="Times New Roman" panose="02020603050405020304" charset="0"/>
                <a:sym typeface="+mn-ea"/>
              </a:rPr>
              <a:t>*</a:t>
            </a:r>
            <a:r>
              <a:rPr sz="1600">
                <a:latin typeface="Times New Roman" panose="02020603050405020304" charset="0"/>
                <a:cs typeface="Times New Roman" panose="02020603050405020304" charset="0"/>
                <a:sym typeface="+mn-ea"/>
              </a:rPr>
              <a:t>VDDP</a:t>
            </a:r>
            <a:endParaRPr sz="1600">
              <a:latin typeface="Times New Roman" panose="02020603050405020304" charset="0"/>
              <a:cs typeface="Times New Roman" panose="02020603050405020304" charset="0"/>
              <a:sym typeface="+mn-ea"/>
            </a:endParaRPr>
          </a:p>
          <a:p>
            <a:pPr lvl="1" indent="0">
              <a:buFont typeface="Arial" panose="020B0604020202020204"/>
              <a:buNone/>
            </a:pPr>
            <a:endParaRPr sz="1600">
              <a:latin typeface="Times New Roman" panose="02020603050405020304" charset="0"/>
              <a:cs typeface="Times New Roman" panose="02020603050405020304" charset="0"/>
              <a:sym typeface="+mn-ea"/>
            </a:endParaRPr>
          </a:p>
          <a:p>
            <a:pPr>
              <a:spcAft>
                <a:spcPct val="60000"/>
              </a:spcAft>
            </a:pPr>
            <a:r>
              <a:rPr sz="1600" b="1">
                <a:latin typeface="Times New Roman" panose="02020603050405020304" charset="0"/>
                <a:cs typeface="Times New Roman" panose="02020603050405020304" charset="0"/>
                <a:sym typeface="+mn-ea"/>
              </a:rPr>
              <a:t>2. Physical Model</a:t>
            </a:r>
            <a:r>
              <a:rPr lang="en-IN" sz="1600" b="1">
                <a:latin typeface="Times New Roman" panose="02020603050405020304" charset="0"/>
                <a:cs typeface="Times New Roman" panose="02020603050405020304" charset="0"/>
                <a:sym typeface="+mn-ea"/>
              </a:rPr>
              <a:t> : </a:t>
            </a:r>
            <a:endParaRPr sz="1600">
              <a:latin typeface="Times New Roman" panose="02020603050405020304" charset="0"/>
              <a:cs typeface="Times New Roman" panose="02020603050405020304" charset="0"/>
            </a:endParaRPr>
          </a:p>
          <a:p>
            <a:pPr>
              <a:buFont typeface="Arial" panose="020B0604020202020204"/>
              <a:buChar char="•"/>
            </a:pPr>
            <a:r>
              <a:rPr sz="1600">
                <a:latin typeface="Times New Roman" panose="02020603050405020304" charset="0"/>
                <a:cs typeface="Times New Roman" panose="02020603050405020304" charset="0"/>
                <a:sym typeface="+mn-ea"/>
              </a:rPr>
              <a:t>MOSFET equations :</a:t>
            </a:r>
            <a:endParaRPr sz="1600">
              <a:latin typeface="Times New Roman" panose="02020603050405020304" charset="0"/>
              <a:cs typeface="Times New Roman" panose="02020603050405020304" charset="0"/>
            </a:endParaRPr>
          </a:p>
          <a:p>
            <a:pPr lvl="1">
              <a:buFont typeface="Arial" panose="020B0604020202020204"/>
              <a:buChar char="◦"/>
            </a:pPr>
            <a:r>
              <a:rPr sz="1600">
                <a:latin typeface="Times New Roman" panose="02020603050405020304" charset="0"/>
                <a:cs typeface="Times New Roman" panose="02020603050405020304" charset="0"/>
                <a:sym typeface="+mn-ea"/>
              </a:rPr>
              <a:t>Linear region</a:t>
            </a:r>
            <a:r>
              <a:rPr lang="en-IN" sz="1600">
                <a:latin typeface="Times New Roman" panose="02020603050405020304" charset="0"/>
                <a:cs typeface="Times New Roman" panose="02020603050405020304" charset="0"/>
                <a:sym typeface="+mn-ea"/>
              </a:rPr>
              <a:t> </a:t>
            </a:r>
            <a:r>
              <a:rPr sz="1600">
                <a:latin typeface="Times New Roman" panose="02020603050405020304" charset="0"/>
                <a:cs typeface="Times New Roman" panose="02020603050405020304" charset="0"/>
                <a:sym typeface="+mn-ea"/>
              </a:rPr>
              <a:t>:</a:t>
            </a:r>
            <a:r>
              <a:rPr lang="en-IN" sz="1600">
                <a:latin typeface="Times New Roman" panose="02020603050405020304" charset="0"/>
                <a:cs typeface="Times New Roman" panose="02020603050405020304" charset="0"/>
                <a:sym typeface="+mn-ea"/>
              </a:rPr>
              <a:t> </a:t>
            </a:r>
            <a:r>
              <a:rPr sz="1600">
                <a:latin typeface="Times New Roman" panose="02020603050405020304" charset="0"/>
                <a:cs typeface="Times New Roman" panose="02020603050405020304" charset="0"/>
                <a:sym typeface="+mn-ea"/>
              </a:rPr>
              <a:t>I</a:t>
            </a:r>
            <a:r>
              <a:rPr sz="1600" baseline="-25000">
                <a:latin typeface="Times New Roman" panose="02020603050405020304" charset="0"/>
                <a:cs typeface="Times New Roman" panose="02020603050405020304" charset="0"/>
                <a:sym typeface="+mn-ea"/>
              </a:rPr>
              <a:t>ds</a:t>
            </a:r>
            <a:r>
              <a:rPr sz="1600">
                <a:latin typeface="Times New Roman" panose="02020603050405020304" charset="0"/>
                <a:cs typeface="Times New Roman" panose="02020603050405020304" charset="0"/>
                <a:sym typeface="+mn-ea"/>
              </a:rPr>
              <a:t>=μ</a:t>
            </a:r>
            <a:r>
              <a:rPr lang="en-IN" sz="1600">
                <a:latin typeface="Times New Roman" panose="02020603050405020304" charset="0"/>
                <a:cs typeface="Times New Roman" panose="02020603050405020304" charset="0"/>
                <a:sym typeface="+mn-ea"/>
              </a:rPr>
              <a:t>*</a:t>
            </a:r>
            <a:r>
              <a:rPr sz="1600">
                <a:latin typeface="Times New Roman" panose="02020603050405020304" charset="0"/>
                <a:cs typeface="Times New Roman" panose="02020603050405020304" charset="0"/>
                <a:sym typeface="+mn-ea"/>
              </a:rPr>
              <a:t>C</a:t>
            </a:r>
            <a:r>
              <a:rPr sz="1600" baseline="-25000">
                <a:latin typeface="Times New Roman" panose="02020603050405020304" charset="0"/>
                <a:cs typeface="Times New Roman" panose="02020603050405020304" charset="0"/>
                <a:sym typeface="+mn-ea"/>
              </a:rPr>
              <a:t>ox</a:t>
            </a:r>
            <a:r>
              <a:rPr lang="en-IN" sz="1600">
                <a:latin typeface="Times New Roman" panose="02020603050405020304" charset="0"/>
                <a:cs typeface="Times New Roman" panose="02020603050405020304" charset="0"/>
                <a:sym typeface="+mn-ea"/>
              </a:rPr>
              <a:t>*(</a:t>
            </a:r>
            <a:r>
              <a:rPr sz="1600">
                <a:latin typeface="Times New Roman" panose="02020603050405020304" charset="0"/>
                <a:cs typeface="Times New Roman" panose="02020603050405020304" charset="0"/>
                <a:sym typeface="+mn-ea"/>
              </a:rPr>
              <a:t>W</a:t>
            </a:r>
            <a:r>
              <a:rPr lang="en-IN" sz="1600">
                <a:latin typeface="Times New Roman" panose="02020603050405020304" charset="0"/>
                <a:cs typeface="Times New Roman" panose="02020603050405020304" charset="0"/>
                <a:sym typeface="+mn-ea"/>
              </a:rPr>
              <a:t>/</a:t>
            </a:r>
            <a:r>
              <a:rPr sz="1600">
                <a:latin typeface="Times New Roman" panose="02020603050405020304" charset="0"/>
                <a:cs typeface="Times New Roman" panose="02020603050405020304" charset="0"/>
                <a:sym typeface="+mn-ea"/>
              </a:rPr>
              <a:t>L</a:t>
            </a:r>
            <a:r>
              <a:rPr lang="en-IN" sz="1600">
                <a:latin typeface="Times New Roman" panose="02020603050405020304" charset="0"/>
                <a:cs typeface="Times New Roman" panose="02020603050405020304" charset="0"/>
                <a:sym typeface="+mn-ea"/>
              </a:rPr>
              <a:t>)*</a:t>
            </a:r>
            <a:r>
              <a:rPr sz="1600">
                <a:latin typeface="Times New Roman" panose="02020603050405020304" charset="0"/>
                <a:cs typeface="Times New Roman" panose="02020603050405020304" charset="0"/>
                <a:sym typeface="+mn-ea"/>
              </a:rPr>
              <a:t>[(V</a:t>
            </a:r>
            <a:r>
              <a:rPr sz="1600" baseline="-25000">
                <a:latin typeface="Times New Roman" panose="02020603050405020304" charset="0"/>
                <a:cs typeface="Times New Roman" panose="02020603050405020304" charset="0"/>
                <a:sym typeface="+mn-ea"/>
              </a:rPr>
              <a:t>gs</a:t>
            </a:r>
            <a:r>
              <a:rPr sz="1600">
                <a:latin typeface="Times New Roman" panose="02020603050405020304" charset="0"/>
                <a:cs typeface="Times New Roman" panose="02020603050405020304" charset="0"/>
                <a:sym typeface="+mn-ea"/>
              </a:rPr>
              <a:t>−V</a:t>
            </a:r>
            <a:r>
              <a:rPr sz="1600" baseline="-25000">
                <a:latin typeface="Times New Roman" panose="02020603050405020304" charset="0"/>
                <a:cs typeface="Times New Roman" panose="02020603050405020304" charset="0"/>
                <a:sym typeface="+mn-ea"/>
              </a:rPr>
              <a:t>th</a:t>
            </a:r>
            <a:r>
              <a:rPr sz="1600">
                <a:latin typeface="Times New Roman" panose="02020603050405020304" charset="0"/>
                <a:cs typeface="Times New Roman" panose="02020603050405020304" charset="0"/>
                <a:sym typeface="+mn-ea"/>
              </a:rPr>
              <a:t>)V</a:t>
            </a:r>
            <a:r>
              <a:rPr sz="1600" baseline="-25000">
                <a:latin typeface="Times New Roman" panose="02020603050405020304" charset="0"/>
                <a:cs typeface="Times New Roman" panose="02020603050405020304" charset="0"/>
                <a:sym typeface="+mn-ea"/>
              </a:rPr>
              <a:t>ds</a:t>
            </a:r>
            <a:r>
              <a:rPr sz="1600">
                <a:latin typeface="Times New Roman" panose="02020603050405020304" charset="0"/>
                <a:cs typeface="Times New Roman" panose="02020603050405020304" charset="0"/>
                <a:sym typeface="+mn-ea"/>
              </a:rPr>
              <a:t>−V</a:t>
            </a:r>
            <a:r>
              <a:rPr sz="1600" baseline="-25000">
                <a:latin typeface="Times New Roman" panose="02020603050405020304" charset="0"/>
                <a:cs typeface="Times New Roman" panose="02020603050405020304" charset="0"/>
                <a:sym typeface="+mn-ea"/>
              </a:rPr>
              <a:t>ds</a:t>
            </a:r>
            <a:r>
              <a:rPr sz="1600">
                <a:latin typeface="Times New Roman" panose="02020603050405020304" charset="0"/>
                <a:cs typeface="Times New Roman" panose="02020603050405020304" charset="0"/>
                <a:sym typeface="+mn-ea"/>
              </a:rPr>
              <a:t> </a:t>
            </a:r>
            <a:r>
              <a:rPr lang="en-IN" sz="1600" baseline="30000">
                <a:latin typeface="Times New Roman" panose="02020603050405020304" charset="0"/>
                <a:cs typeface="Times New Roman" panose="02020603050405020304" charset="0"/>
                <a:sym typeface="+mn-ea"/>
              </a:rPr>
              <a:t>2</a:t>
            </a:r>
            <a:r>
              <a:rPr lang="en-IN" sz="1600">
                <a:latin typeface="Times New Roman" panose="02020603050405020304" charset="0"/>
                <a:cs typeface="Times New Roman" panose="02020603050405020304" charset="0"/>
                <a:sym typeface="+mn-ea"/>
              </a:rPr>
              <a:t>/</a:t>
            </a:r>
            <a:r>
              <a:rPr sz="1600">
                <a:latin typeface="Times New Roman" panose="02020603050405020304" charset="0"/>
                <a:cs typeface="Times New Roman" panose="02020603050405020304" charset="0"/>
                <a:sym typeface="+mn-ea"/>
              </a:rPr>
              <a:t>2]</a:t>
            </a:r>
            <a:endParaRPr sz="1600">
              <a:latin typeface="Times New Roman" panose="02020603050405020304" charset="0"/>
              <a:cs typeface="Times New Roman" panose="02020603050405020304" charset="0"/>
              <a:sym typeface="+mn-ea"/>
            </a:endParaRPr>
          </a:p>
          <a:p>
            <a:pPr lvl="1">
              <a:buFont typeface="Arial" panose="020B0604020202020204"/>
              <a:buChar char="◦"/>
            </a:pPr>
            <a:endParaRPr sz="1600">
              <a:latin typeface="Times New Roman" panose="02020603050405020304" charset="0"/>
              <a:cs typeface="Times New Roman" panose="02020603050405020304" charset="0"/>
              <a:sym typeface="+mn-ea"/>
            </a:endParaRPr>
          </a:p>
          <a:p>
            <a:pPr lvl="1">
              <a:buFont typeface="Arial" panose="020B0604020202020204"/>
              <a:buChar char="◦"/>
            </a:pPr>
            <a:r>
              <a:rPr sz="1600">
                <a:latin typeface="Times New Roman" panose="02020603050405020304" charset="0"/>
                <a:cs typeface="Times New Roman" panose="02020603050405020304" charset="0"/>
                <a:sym typeface="+mn-ea"/>
              </a:rPr>
              <a:t>Saturation region</a:t>
            </a:r>
            <a:r>
              <a:rPr lang="en-IN" sz="1600">
                <a:latin typeface="Times New Roman" panose="02020603050405020304" charset="0"/>
                <a:cs typeface="Times New Roman" panose="02020603050405020304" charset="0"/>
                <a:sym typeface="+mn-ea"/>
              </a:rPr>
              <a:t> :  </a:t>
            </a:r>
            <a:r>
              <a:rPr sz="1600">
                <a:latin typeface="Times New Roman" panose="02020603050405020304" charset="0"/>
                <a:cs typeface="Times New Roman" panose="02020603050405020304" charset="0"/>
                <a:sym typeface="+mn-ea"/>
              </a:rPr>
              <a:t>I</a:t>
            </a:r>
            <a:r>
              <a:rPr sz="1600" baseline="-25000">
                <a:latin typeface="Times New Roman" panose="02020603050405020304" charset="0"/>
                <a:cs typeface="Times New Roman" panose="02020603050405020304" charset="0"/>
                <a:sym typeface="+mn-ea"/>
              </a:rPr>
              <a:t>ds</a:t>
            </a:r>
            <a:r>
              <a:rPr sz="1600">
                <a:latin typeface="Times New Roman" panose="02020603050405020304" charset="0"/>
                <a:cs typeface="Times New Roman" panose="02020603050405020304" charset="0"/>
                <a:sym typeface="+mn-ea"/>
              </a:rPr>
              <a:t>=1</a:t>
            </a:r>
            <a:r>
              <a:rPr lang="en-IN" sz="1600">
                <a:latin typeface="Times New Roman" panose="02020603050405020304" charset="0"/>
                <a:cs typeface="Times New Roman" panose="02020603050405020304" charset="0"/>
                <a:sym typeface="+mn-ea"/>
              </a:rPr>
              <a:t>/</a:t>
            </a:r>
            <a:r>
              <a:rPr sz="1600">
                <a:latin typeface="Times New Roman" panose="02020603050405020304" charset="0"/>
                <a:cs typeface="Times New Roman" panose="02020603050405020304" charset="0"/>
                <a:sym typeface="+mn-ea"/>
              </a:rPr>
              <a:t>2</a:t>
            </a:r>
            <a:r>
              <a:rPr lang="en-IN" sz="1600">
                <a:latin typeface="Times New Roman" panose="02020603050405020304" charset="0"/>
                <a:cs typeface="Times New Roman" panose="02020603050405020304" charset="0"/>
                <a:sym typeface="+mn-ea"/>
              </a:rPr>
              <a:t>*</a:t>
            </a:r>
            <a:r>
              <a:rPr sz="1600">
                <a:latin typeface="Times New Roman" panose="02020603050405020304" charset="0"/>
                <a:cs typeface="Times New Roman" panose="02020603050405020304" charset="0"/>
                <a:sym typeface="+mn-ea"/>
              </a:rPr>
              <a:t>μ</a:t>
            </a:r>
            <a:r>
              <a:rPr lang="en-IN" sz="1600">
                <a:latin typeface="Times New Roman" panose="02020603050405020304" charset="0"/>
                <a:cs typeface="Times New Roman" panose="02020603050405020304" charset="0"/>
                <a:sym typeface="+mn-ea"/>
              </a:rPr>
              <a:t>*</a:t>
            </a:r>
            <a:r>
              <a:rPr sz="1600">
                <a:latin typeface="Times New Roman" panose="02020603050405020304" charset="0"/>
                <a:cs typeface="Times New Roman" panose="02020603050405020304" charset="0"/>
                <a:sym typeface="+mn-ea"/>
              </a:rPr>
              <a:t>C</a:t>
            </a:r>
            <a:r>
              <a:rPr sz="1600" baseline="-25000">
                <a:latin typeface="Times New Roman" panose="02020603050405020304" charset="0"/>
                <a:cs typeface="Times New Roman" panose="02020603050405020304" charset="0"/>
                <a:sym typeface="+mn-ea"/>
              </a:rPr>
              <a:t>ox</a:t>
            </a:r>
            <a:r>
              <a:rPr lang="en-IN" sz="1600">
                <a:latin typeface="Times New Roman" panose="02020603050405020304" charset="0"/>
                <a:cs typeface="Times New Roman" panose="02020603050405020304" charset="0"/>
                <a:sym typeface="+mn-ea"/>
              </a:rPr>
              <a:t>*(</a:t>
            </a:r>
            <a:r>
              <a:rPr sz="1600">
                <a:latin typeface="Times New Roman" panose="02020603050405020304" charset="0"/>
                <a:cs typeface="Times New Roman" panose="02020603050405020304" charset="0"/>
                <a:sym typeface="+mn-ea"/>
              </a:rPr>
              <a:t>W</a:t>
            </a:r>
            <a:r>
              <a:rPr lang="en-IN" sz="1600">
                <a:latin typeface="Times New Roman" panose="02020603050405020304" charset="0"/>
                <a:cs typeface="Times New Roman" panose="02020603050405020304" charset="0"/>
                <a:sym typeface="+mn-ea"/>
              </a:rPr>
              <a:t>/</a:t>
            </a:r>
            <a:r>
              <a:rPr sz="1600">
                <a:latin typeface="Times New Roman" panose="02020603050405020304" charset="0"/>
                <a:cs typeface="Times New Roman" panose="02020603050405020304" charset="0"/>
                <a:sym typeface="+mn-ea"/>
              </a:rPr>
              <a:t>L</a:t>
            </a:r>
            <a:r>
              <a:rPr lang="en-IN" sz="1600">
                <a:latin typeface="Times New Roman" panose="02020603050405020304" charset="0"/>
                <a:cs typeface="Times New Roman" panose="02020603050405020304" charset="0"/>
                <a:sym typeface="+mn-ea"/>
              </a:rPr>
              <a:t>)*</a:t>
            </a:r>
            <a:r>
              <a:rPr sz="1600">
                <a:latin typeface="Times New Roman" panose="02020603050405020304" charset="0"/>
                <a:cs typeface="Times New Roman" panose="02020603050405020304" charset="0"/>
                <a:sym typeface="+mn-ea"/>
              </a:rPr>
              <a:t>(V</a:t>
            </a:r>
            <a:r>
              <a:rPr sz="1600" baseline="-25000">
                <a:latin typeface="Times New Roman" panose="02020603050405020304" charset="0"/>
                <a:cs typeface="Times New Roman" panose="02020603050405020304" charset="0"/>
                <a:sym typeface="+mn-ea"/>
              </a:rPr>
              <a:t>gs</a:t>
            </a:r>
            <a:r>
              <a:rPr sz="1600">
                <a:latin typeface="Times New Roman" panose="02020603050405020304" charset="0"/>
                <a:cs typeface="Times New Roman" panose="02020603050405020304" charset="0"/>
                <a:sym typeface="+mn-ea"/>
              </a:rPr>
              <a:t>−V</a:t>
            </a:r>
            <a:r>
              <a:rPr sz="1600" baseline="-25000">
                <a:latin typeface="Times New Roman" panose="02020603050405020304" charset="0"/>
                <a:cs typeface="Times New Roman" panose="02020603050405020304" charset="0"/>
                <a:sym typeface="+mn-ea"/>
              </a:rPr>
              <a:t>th</a:t>
            </a:r>
            <a:r>
              <a:rPr sz="1600">
                <a:latin typeface="Times New Roman" panose="02020603050405020304" charset="0"/>
                <a:cs typeface="Times New Roman" panose="02020603050405020304" charset="0"/>
                <a:sym typeface="+mn-ea"/>
              </a:rPr>
              <a:t>)</a:t>
            </a:r>
            <a:r>
              <a:rPr sz="1600" baseline="30000">
                <a:latin typeface="Times New Roman" panose="02020603050405020304" charset="0"/>
                <a:cs typeface="Times New Roman" panose="02020603050405020304" charset="0"/>
                <a:sym typeface="+mn-ea"/>
              </a:rPr>
              <a:t>2</a:t>
            </a:r>
            <a:endParaRPr sz="1600" baseline="30000">
              <a:latin typeface="Times New Roman" panose="02020603050405020304" charset="0"/>
              <a:cs typeface="Times New Roman" panose="02020603050405020304" charset="0"/>
              <a:sym typeface="+mn-ea"/>
            </a:endParaRPr>
          </a:p>
          <a:p>
            <a:pPr lvl="1">
              <a:buFont typeface="Arial" panose="020B0604020202020204"/>
              <a:buChar char="◦"/>
            </a:pPr>
            <a:r>
              <a:rPr sz="1600">
                <a:latin typeface="Times New Roman" panose="02020603050405020304" charset="0"/>
                <a:cs typeface="Times New Roman" panose="02020603050405020304" charset="0"/>
                <a:sym typeface="+mn-ea"/>
              </a:rPr>
              <a:t>Physical parameters to consider:</a:t>
            </a:r>
            <a:endParaRPr sz="1600">
              <a:latin typeface="Times New Roman" panose="02020603050405020304" charset="0"/>
              <a:cs typeface="Times New Roman" panose="02020603050405020304" charset="0"/>
              <a:sym typeface="+mn-ea"/>
            </a:endParaRPr>
          </a:p>
          <a:p>
            <a:pPr lvl="1">
              <a:buFont typeface="Arial" panose="020B0604020202020204"/>
              <a:buChar char="◦"/>
            </a:pPr>
            <a:r>
              <a:rPr sz="1600">
                <a:latin typeface="Times New Roman" panose="02020603050405020304" charset="0"/>
                <a:cs typeface="Times New Roman" panose="02020603050405020304" charset="0"/>
                <a:sym typeface="+mn-ea"/>
              </a:rPr>
              <a:t>Threshold voltage V</a:t>
            </a:r>
            <a:r>
              <a:rPr sz="1600" baseline="-25000">
                <a:latin typeface="Times New Roman" panose="02020603050405020304" charset="0"/>
                <a:cs typeface="Times New Roman" panose="02020603050405020304" charset="0"/>
                <a:sym typeface="+mn-ea"/>
              </a:rPr>
              <a:t>th</a:t>
            </a:r>
            <a:endParaRPr sz="1600">
              <a:latin typeface="Times New Roman" panose="02020603050405020304" charset="0"/>
              <a:cs typeface="Times New Roman" panose="02020603050405020304" charset="0"/>
            </a:endParaRPr>
          </a:p>
          <a:p>
            <a:pPr lvl="1">
              <a:buFont typeface="Arial" panose="020B0604020202020204"/>
              <a:buChar char="◦"/>
            </a:pPr>
            <a:r>
              <a:rPr sz="1600">
                <a:latin typeface="Times New Roman" panose="02020603050405020304" charset="0"/>
                <a:cs typeface="Times New Roman" panose="02020603050405020304" charset="0"/>
                <a:sym typeface="+mn-ea"/>
              </a:rPr>
              <a:t>Oxide thickness t</a:t>
            </a:r>
            <a:r>
              <a:rPr sz="1600" baseline="-25000">
                <a:latin typeface="Times New Roman" panose="02020603050405020304" charset="0"/>
                <a:cs typeface="Times New Roman" panose="02020603050405020304" charset="0"/>
                <a:sym typeface="+mn-ea"/>
              </a:rPr>
              <a:t>ox</a:t>
            </a:r>
            <a:endParaRPr sz="1600">
              <a:latin typeface="Times New Roman" panose="02020603050405020304" charset="0"/>
              <a:cs typeface="Times New Roman" panose="02020603050405020304" charset="0"/>
            </a:endParaRPr>
          </a:p>
          <a:p>
            <a:pPr lvl="1">
              <a:buFont typeface="Arial" panose="020B0604020202020204"/>
              <a:buChar char="◦"/>
            </a:pPr>
            <a:r>
              <a:rPr sz="1600">
                <a:latin typeface="Times New Roman" panose="02020603050405020304" charset="0"/>
                <a:cs typeface="Times New Roman" panose="02020603050405020304" charset="0"/>
                <a:sym typeface="+mn-ea"/>
              </a:rPr>
              <a:t>Mobility μ</a:t>
            </a:r>
            <a:endParaRPr sz="1600">
              <a:latin typeface="Times New Roman" panose="02020603050405020304" charset="0"/>
              <a:cs typeface="Times New Roman" panose="02020603050405020304" charset="0"/>
            </a:endParaRPr>
          </a:p>
          <a:p>
            <a:pPr lvl="1">
              <a:buFont typeface="Arial" panose="020B0604020202020204"/>
              <a:buChar char="◦"/>
            </a:pPr>
            <a:r>
              <a:rPr sz="1600">
                <a:latin typeface="Times New Roman" panose="02020603050405020304" charset="0"/>
                <a:cs typeface="Times New Roman" panose="02020603050405020304" charset="0"/>
                <a:sym typeface="+mn-ea"/>
              </a:rPr>
              <a:t>Scaling of W/L</a:t>
            </a:r>
            <a:endParaRPr sz="1600">
              <a:latin typeface="Times New Roman" panose="02020603050405020304" charset="0"/>
              <a:cs typeface="Times New Roman" panose="02020603050405020304" charset="0"/>
            </a:endParaRPr>
          </a:p>
          <a:p>
            <a:pPr lvl="1">
              <a:buFont typeface="Arial" panose="020B0604020202020204"/>
              <a:buChar char="◦"/>
            </a:pPr>
            <a:endParaRPr sz="1600">
              <a:latin typeface="Times New Roman" panose="02020603050405020304" charset="0"/>
              <a:cs typeface="Times New Roman" panose="0202060305040502030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s 1"/>
          <p:cNvSpPr/>
          <p:nvPr/>
        </p:nvSpPr>
        <p:spPr>
          <a:xfrm>
            <a:off x="3321050" y="1213485"/>
            <a:ext cx="3726180" cy="534035"/>
          </a:xfrm>
          <a:prstGeom prst="rect">
            <a:avLst/>
          </a:prstGeom>
          <a:solidFill>
            <a:schemeClr val="accent6">
              <a:lumMod val="60000"/>
              <a:lumOff val="40000"/>
            </a:schemeClr>
          </a:solidFill>
          <a:ln>
            <a:solidFill>
              <a:schemeClr val="accent6">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GB" altLang="en-US" sz="2000" b="1">
                <a:solidFill>
                  <a:schemeClr val="tx1"/>
                </a:solidFill>
                <a:latin typeface="Times New Roman" panose="02020603050405020304" charset="0"/>
                <a:cs typeface="Times New Roman" panose="02020603050405020304" charset="0"/>
              </a:rPr>
              <a:t>Technology Selection</a:t>
            </a:r>
            <a:endParaRPr lang="en-GB" altLang="en-US" sz="2000" b="1">
              <a:solidFill>
                <a:schemeClr val="tx1"/>
              </a:solidFill>
              <a:latin typeface="Times New Roman" panose="02020603050405020304" charset="0"/>
              <a:cs typeface="Times New Roman" panose="02020603050405020304" charset="0"/>
            </a:endParaRPr>
          </a:p>
        </p:txBody>
      </p:sp>
      <p:sp>
        <p:nvSpPr>
          <p:cNvPr id="9" name="Rectangles 8"/>
          <p:cNvSpPr/>
          <p:nvPr/>
        </p:nvSpPr>
        <p:spPr>
          <a:xfrm>
            <a:off x="3321050" y="1950720"/>
            <a:ext cx="3726180" cy="534035"/>
          </a:xfrm>
          <a:prstGeom prst="rect">
            <a:avLst/>
          </a:prstGeom>
          <a:solidFill>
            <a:schemeClr val="accent6">
              <a:lumMod val="60000"/>
              <a:lumOff val="40000"/>
            </a:schemeClr>
          </a:solidFill>
          <a:ln>
            <a:solidFill>
              <a:schemeClr val="accent6">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GB" altLang="en-US" sz="2000" b="1">
                <a:solidFill>
                  <a:schemeClr val="tx1"/>
                </a:solidFill>
                <a:latin typeface="Times New Roman" panose="02020603050405020304" charset="0"/>
                <a:cs typeface="Times New Roman" panose="02020603050405020304" charset="0"/>
              </a:rPr>
              <a:t>Schematic Design</a:t>
            </a:r>
            <a:endParaRPr lang="en-GB" altLang="en-US" sz="2000" b="1">
              <a:solidFill>
                <a:schemeClr val="tx1"/>
              </a:solidFill>
              <a:latin typeface="Times New Roman" panose="02020603050405020304" charset="0"/>
              <a:cs typeface="Times New Roman" panose="02020603050405020304" charset="0"/>
            </a:endParaRPr>
          </a:p>
        </p:txBody>
      </p:sp>
      <p:sp>
        <p:nvSpPr>
          <p:cNvPr id="10" name="Rectangles 9"/>
          <p:cNvSpPr/>
          <p:nvPr/>
        </p:nvSpPr>
        <p:spPr>
          <a:xfrm>
            <a:off x="3321050" y="5113020"/>
            <a:ext cx="3726180" cy="534035"/>
          </a:xfrm>
          <a:prstGeom prst="rect">
            <a:avLst/>
          </a:prstGeom>
          <a:solidFill>
            <a:schemeClr val="accent6">
              <a:lumMod val="60000"/>
              <a:lumOff val="40000"/>
            </a:schemeClr>
          </a:solidFill>
          <a:ln>
            <a:solidFill>
              <a:schemeClr val="accent6">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GB" altLang="en-US" sz="2000" b="1">
                <a:solidFill>
                  <a:schemeClr val="tx1"/>
                </a:solidFill>
                <a:latin typeface="Times New Roman" panose="02020603050405020304" charset="0"/>
                <a:cs typeface="Times New Roman" panose="02020603050405020304" charset="0"/>
              </a:rPr>
              <a:t>Result &amp; Analysis</a:t>
            </a:r>
            <a:endParaRPr lang="en-GB" altLang="en-US" sz="2000" b="1">
              <a:solidFill>
                <a:schemeClr val="tx1"/>
              </a:solidFill>
              <a:latin typeface="Times New Roman" panose="02020603050405020304" charset="0"/>
              <a:cs typeface="Times New Roman" panose="02020603050405020304" charset="0"/>
            </a:endParaRPr>
          </a:p>
        </p:txBody>
      </p:sp>
      <p:sp>
        <p:nvSpPr>
          <p:cNvPr id="11" name="Rectangles 10"/>
          <p:cNvSpPr/>
          <p:nvPr/>
        </p:nvSpPr>
        <p:spPr>
          <a:xfrm>
            <a:off x="3321050" y="2687955"/>
            <a:ext cx="3726180" cy="534035"/>
          </a:xfrm>
          <a:prstGeom prst="rect">
            <a:avLst/>
          </a:prstGeom>
          <a:solidFill>
            <a:schemeClr val="accent6">
              <a:lumMod val="60000"/>
              <a:lumOff val="40000"/>
            </a:schemeClr>
          </a:solidFill>
          <a:ln>
            <a:solidFill>
              <a:schemeClr val="accent6">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GB" altLang="en-US" sz="2000" b="1">
                <a:solidFill>
                  <a:schemeClr val="tx1"/>
                </a:solidFill>
                <a:latin typeface="Times New Roman" panose="02020603050405020304" charset="0"/>
                <a:cs typeface="Times New Roman" panose="02020603050405020304" charset="0"/>
              </a:rPr>
              <a:t>Simulation</a:t>
            </a:r>
            <a:endParaRPr lang="en-GB" altLang="en-US" sz="2000" b="1">
              <a:solidFill>
                <a:schemeClr val="tx1"/>
              </a:solidFill>
              <a:latin typeface="Times New Roman" panose="02020603050405020304" charset="0"/>
              <a:cs typeface="Times New Roman" panose="02020603050405020304" charset="0"/>
            </a:endParaRPr>
          </a:p>
        </p:txBody>
      </p:sp>
      <p:sp>
        <p:nvSpPr>
          <p:cNvPr id="12" name="Rectangles 11"/>
          <p:cNvSpPr/>
          <p:nvPr/>
        </p:nvSpPr>
        <p:spPr>
          <a:xfrm>
            <a:off x="3321050" y="4304665"/>
            <a:ext cx="3726180" cy="534035"/>
          </a:xfrm>
          <a:prstGeom prst="rect">
            <a:avLst/>
          </a:prstGeom>
          <a:solidFill>
            <a:schemeClr val="accent6">
              <a:lumMod val="60000"/>
              <a:lumOff val="40000"/>
            </a:schemeClr>
          </a:solidFill>
          <a:ln>
            <a:solidFill>
              <a:schemeClr val="accent6">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GB" altLang="en-US" sz="2000" b="1">
                <a:solidFill>
                  <a:schemeClr val="tx1"/>
                </a:solidFill>
                <a:latin typeface="Times New Roman" panose="02020603050405020304" charset="0"/>
                <a:cs typeface="Times New Roman" panose="02020603050405020304" charset="0"/>
              </a:rPr>
              <a:t>Testing &amp; Verification</a:t>
            </a:r>
            <a:endParaRPr lang="en-GB" altLang="en-US" sz="2000" b="1">
              <a:solidFill>
                <a:schemeClr val="tx1"/>
              </a:solidFill>
              <a:latin typeface="Times New Roman" panose="02020603050405020304" charset="0"/>
              <a:cs typeface="Times New Roman" panose="02020603050405020304" charset="0"/>
            </a:endParaRPr>
          </a:p>
        </p:txBody>
      </p:sp>
      <p:sp>
        <p:nvSpPr>
          <p:cNvPr id="13" name="Rectangles 12"/>
          <p:cNvSpPr/>
          <p:nvPr/>
        </p:nvSpPr>
        <p:spPr>
          <a:xfrm>
            <a:off x="3321050" y="3496310"/>
            <a:ext cx="3726180" cy="534035"/>
          </a:xfrm>
          <a:prstGeom prst="rect">
            <a:avLst/>
          </a:prstGeom>
          <a:solidFill>
            <a:schemeClr val="accent6">
              <a:lumMod val="60000"/>
              <a:lumOff val="40000"/>
            </a:schemeClr>
          </a:solidFill>
          <a:ln>
            <a:solidFill>
              <a:schemeClr val="accent6">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GB" altLang="en-US" sz="2000" b="1">
                <a:solidFill>
                  <a:schemeClr val="tx1"/>
                </a:solidFill>
                <a:latin typeface="Times New Roman" panose="02020603050405020304" charset="0"/>
                <a:cs typeface="Times New Roman" panose="02020603050405020304" charset="0"/>
              </a:rPr>
              <a:t>Layout Designing</a:t>
            </a:r>
            <a:endParaRPr lang="en-GB" altLang="en-US" sz="2000" b="1">
              <a:solidFill>
                <a:schemeClr val="tx1"/>
              </a:solidFill>
              <a:latin typeface="Times New Roman" panose="02020603050405020304" charset="0"/>
              <a:cs typeface="Times New Roman" panose="02020603050405020304" charset="0"/>
            </a:endParaRPr>
          </a:p>
        </p:txBody>
      </p:sp>
      <p:pic>
        <p:nvPicPr>
          <p:cNvPr id="14" name="Picture 13"/>
          <p:cNvPicPr>
            <a:picLocks noChangeAspect="1"/>
          </p:cNvPicPr>
          <p:nvPr/>
        </p:nvPicPr>
        <p:blipFill>
          <a:blip r:embed="rId1"/>
          <a:stretch>
            <a:fillRect/>
          </a:stretch>
        </p:blipFill>
        <p:spPr>
          <a:xfrm>
            <a:off x="7590155" y="227965"/>
            <a:ext cx="4146550" cy="480695"/>
          </a:xfrm>
          <a:prstGeom prst="rect">
            <a:avLst/>
          </a:prstGeom>
        </p:spPr>
      </p:pic>
      <p:sp>
        <p:nvSpPr>
          <p:cNvPr id="15" name="Text Box 14"/>
          <p:cNvSpPr txBox="1"/>
          <p:nvPr/>
        </p:nvSpPr>
        <p:spPr>
          <a:xfrm>
            <a:off x="361315" y="417195"/>
            <a:ext cx="4755515" cy="521970"/>
          </a:xfrm>
          <a:prstGeom prst="rect">
            <a:avLst/>
          </a:prstGeom>
          <a:noFill/>
        </p:spPr>
        <p:txBody>
          <a:bodyPr wrap="square" rtlCol="0">
            <a:spAutoFit/>
          </a:bodyPr>
          <a:p>
            <a:r>
              <a:rPr lang="en-GB" altLang="en-US" sz="2800" b="1">
                <a:latin typeface="Times New Roman" panose="02020603050405020304" charset="0"/>
                <a:cs typeface="Times New Roman" panose="02020603050405020304" charset="0"/>
              </a:rPr>
              <a:t>Functional Block Diagram</a:t>
            </a:r>
            <a:endParaRPr lang="en-GB" altLang="en-US" sz="2800" b="1">
              <a:latin typeface="Times New Roman" panose="02020603050405020304" charset="0"/>
              <a:cs typeface="Times New Roman" panose="02020603050405020304" charset="0"/>
            </a:endParaRPr>
          </a:p>
        </p:txBody>
      </p:sp>
      <p:cxnSp>
        <p:nvCxnSpPr>
          <p:cNvPr id="16" name="Straight Arrow Connector 15"/>
          <p:cNvCxnSpPr/>
          <p:nvPr/>
        </p:nvCxnSpPr>
        <p:spPr>
          <a:xfrm>
            <a:off x="5116830" y="1784985"/>
            <a:ext cx="0" cy="205740"/>
          </a:xfrm>
          <a:prstGeom prst="straightConnector1">
            <a:avLst/>
          </a:prstGeom>
          <a:ln>
            <a:solidFill>
              <a:schemeClr val="tx1">
                <a:lumMod val="95000"/>
                <a:lumOff val="5000"/>
              </a:schemeClr>
            </a:solidFill>
            <a:tailEnd type="arrow"/>
          </a:ln>
        </p:spPr>
        <p:style>
          <a:lnRef idx="2">
            <a:schemeClr val="accent1"/>
          </a:lnRef>
          <a:fillRef idx="0">
            <a:srgbClr val="FFFFFF"/>
          </a:fillRef>
          <a:effectRef idx="0">
            <a:srgbClr val="FFFFFF"/>
          </a:effectRef>
          <a:fontRef idx="minor">
            <a:schemeClr val="tx1"/>
          </a:fontRef>
        </p:style>
      </p:cxnSp>
      <p:cxnSp>
        <p:nvCxnSpPr>
          <p:cNvPr id="17" name="Straight Arrow Connector 16"/>
          <p:cNvCxnSpPr/>
          <p:nvPr/>
        </p:nvCxnSpPr>
        <p:spPr>
          <a:xfrm>
            <a:off x="5116830" y="4872990"/>
            <a:ext cx="0" cy="205740"/>
          </a:xfrm>
          <a:prstGeom prst="straightConnector1">
            <a:avLst/>
          </a:prstGeom>
          <a:ln>
            <a:solidFill>
              <a:schemeClr val="tx1">
                <a:lumMod val="95000"/>
                <a:lumOff val="5000"/>
              </a:schemeClr>
            </a:solidFill>
            <a:tailEnd type="arrow"/>
          </a:ln>
        </p:spPr>
        <p:style>
          <a:lnRef idx="2">
            <a:schemeClr val="accent1"/>
          </a:lnRef>
          <a:fillRef idx="0">
            <a:srgbClr val="FFFFFF"/>
          </a:fillRef>
          <a:effectRef idx="0">
            <a:srgbClr val="FFFFFF"/>
          </a:effectRef>
          <a:fontRef idx="minor">
            <a:schemeClr val="tx1"/>
          </a:fontRef>
        </p:style>
      </p:cxnSp>
      <p:cxnSp>
        <p:nvCxnSpPr>
          <p:cNvPr id="18" name="Straight Arrow Connector 17"/>
          <p:cNvCxnSpPr/>
          <p:nvPr/>
        </p:nvCxnSpPr>
        <p:spPr>
          <a:xfrm>
            <a:off x="5116830" y="2498725"/>
            <a:ext cx="0" cy="205740"/>
          </a:xfrm>
          <a:prstGeom prst="straightConnector1">
            <a:avLst/>
          </a:prstGeom>
          <a:ln>
            <a:solidFill>
              <a:schemeClr val="tx1">
                <a:lumMod val="95000"/>
                <a:lumOff val="5000"/>
              </a:schemeClr>
            </a:solidFill>
            <a:tailEnd type="arrow"/>
          </a:ln>
        </p:spPr>
        <p:style>
          <a:lnRef idx="2">
            <a:schemeClr val="accent1"/>
          </a:lnRef>
          <a:fillRef idx="0">
            <a:srgbClr val="FFFFFF"/>
          </a:fillRef>
          <a:effectRef idx="0">
            <a:srgbClr val="FFFFFF"/>
          </a:effectRef>
          <a:fontRef idx="minor">
            <a:schemeClr val="tx1"/>
          </a:fontRef>
        </p:style>
      </p:cxnSp>
      <p:cxnSp>
        <p:nvCxnSpPr>
          <p:cNvPr id="19" name="Straight Arrow Connector 18"/>
          <p:cNvCxnSpPr/>
          <p:nvPr/>
        </p:nvCxnSpPr>
        <p:spPr>
          <a:xfrm>
            <a:off x="5116830" y="3256280"/>
            <a:ext cx="0" cy="205740"/>
          </a:xfrm>
          <a:prstGeom prst="straightConnector1">
            <a:avLst/>
          </a:prstGeom>
          <a:ln>
            <a:solidFill>
              <a:schemeClr val="tx1">
                <a:lumMod val="95000"/>
                <a:lumOff val="5000"/>
              </a:schemeClr>
            </a:solidFill>
            <a:tailEnd type="arrow"/>
          </a:ln>
        </p:spPr>
        <p:style>
          <a:lnRef idx="2">
            <a:schemeClr val="accent1"/>
          </a:lnRef>
          <a:fillRef idx="0">
            <a:srgbClr val="FFFFFF"/>
          </a:fillRef>
          <a:effectRef idx="0">
            <a:srgbClr val="FFFFFF"/>
          </a:effectRef>
          <a:fontRef idx="minor">
            <a:schemeClr val="tx1"/>
          </a:fontRef>
        </p:style>
      </p:cxnSp>
      <p:cxnSp>
        <p:nvCxnSpPr>
          <p:cNvPr id="20" name="Straight Arrow Connector 19"/>
          <p:cNvCxnSpPr/>
          <p:nvPr/>
        </p:nvCxnSpPr>
        <p:spPr>
          <a:xfrm>
            <a:off x="5116830" y="4064635"/>
            <a:ext cx="0" cy="205740"/>
          </a:xfrm>
          <a:prstGeom prst="straightConnector1">
            <a:avLst/>
          </a:prstGeom>
          <a:ln>
            <a:solidFill>
              <a:schemeClr val="tx1">
                <a:lumMod val="95000"/>
                <a:lumOff val="5000"/>
              </a:schemeClr>
            </a:solidFill>
            <a:tailEnd type="arrow"/>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 name="Picture 13"/>
          <p:cNvPicPr>
            <a:picLocks noChangeAspect="1"/>
          </p:cNvPicPr>
          <p:nvPr/>
        </p:nvPicPr>
        <p:blipFill>
          <a:blip r:embed="rId1"/>
          <a:stretch>
            <a:fillRect/>
          </a:stretch>
        </p:blipFill>
        <p:spPr>
          <a:xfrm>
            <a:off x="7590155" y="227965"/>
            <a:ext cx="4146550" cy="480695"/>
          </a:xfrm>
          <a:prstGeom prst="rect">
            <a:avLst/>
          </a:prstGeom>
        </p:spPr>
      </p:pic>
      <p:sp>
        <p:nvSpPr>
          <p:cNvPr id="15" name="Text Box 14"/>
          <p:cNvSpPr txBox="1"/>
          <p:nvPr/>
        </p:nvSpPr>
        <p:spPr>
          <a:xfrm>
            <a:off x="361315" y="417195"/>
            <a:ext cx="4755515" cy="521970"/>
          </a:xfrm>
          <a:prstGeom prst="rect">
            <a:avLst/>
          </a:prstGeom>
          <a:noFill/>
        </p:spPr>
        <p:txBody>
          <a:bodyPr wrap="square" rtlCol="0">
            <a:spAutoFit/>
          </a:bodyPr>
          <a:p>
            <a:r>
              <a:rPr lang="en-GB" altLang="en-US" sz="2800" b="1">
                <a:latin typeface="Times New Roman" panose="02020603050405020304" charset="0"/>
                <a:cs typeface="Times New Roman" panose="02020603050405020304" charset="0"/>
              </a:rPr>
              <a:t>Circuit  Diagram</a:t>
            </a:r>
            <a:endParaRPr lang="en-GB" altLang="en-US" sz="2800" b="1">
              <a:latin typeface="Times New Roman" panose="02020603050405020304" charset="0"/>
              <a:cs typeface="Times New Roman" panose="02020603050405020304" charset="0"/>
            </a:endParaRPr>
          </a:p>
        </p:txBody>
      </p:sp>
      <p:pic>
        <p:nvPicPr>
          <p:cNvPr id="3" name="Picture 2" descr="Screenshot 2025-11-09 123743"/>
          <p:cNvPicPr>
            <a:picLocks noChangeAspect="1"/>
          </p:cNvPicPr>
          <p:nvPr/>
        </p:nvPicPr>
        <p:blipFill>
          <a:blip r:embed="rId2"/>
          <a:stretch>
            <a:fillRect/>
          </a:stretch>
        </p:blipFill>
        <p:spPr>
          <a:xfrm>
            <a:off x="361315" y="1383665"/>
            <a:ext cx="5191760" cy="4390390"/>
          </a:xfrm>
          <a:prstGeom prst="rect">
            <a:avLst/>
          </a:prstGeom>
        </p:spPr>
      </p:pic>
      <p:pic>
        <p:nvPicPr>
          <p:cNvPr id="2" name="Picture 1"/>
          <p:cNvPicPr/>
          <p:nvPr/>
        </p:nvPicPr>
        <p:blipFill>
          <a:blip r:embed="rId3"/>
          <a:srcRect l="33206" t="30131" r="29613" b="10800"/>
          <a:stretch>
            <a:fillRect/>
          </a:stretch>
        </p:blipFill>
        <p:spPr>
          <a:xfrm>
            <a:off x="6240145" y="939165"/>
            <a:ext cx="5265420" cy="522795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 name="Picture 13"/>
          <p:cNvPicPr>
            <a:picLocks noChangeAspect="1"/>
          </p:cNvPicPr>
          <p:nvPr/>
        </p:nvPicPr>
        <p:blipFill>
          <a:blip r:embed="rId1"/>
          <a:stretch>
            <a:fillRect/>
          </a:stretch>
        </p:blipFill>
        <p:spPr>
          <a:xfrm>
            <a:off x="7590155" y="227965"/>
            <a:ext cx="4146550" cy="480695"/>
          </a:xfrm>
          <a:prstGeom prst="rect">
            <a:avLst/>
          </a:prstGeom>
        </p:spPr>
      </p:pic>
      <p:sp>
        <p:nvSpPr>
          <p:cNvPr id="7" name="Text Box 6"/>
          <p:cNvSpPr txBox="1"/>
          <p:nvPr/>
        </p:nvSpPr>
        <p:spPr>
          <a:xfrm>
            <a:off x="474345" y="191135"/>
            <a:ext cx="7115810" cy="460375"/>
          </a:xfrm>
          <a:prstGeom prst="rect">
            <a:avLst/>
          </a:prstGeom>
          <a:noFill/>
        </p:spPr>
        <p:txBody>
          <a:bodyPr wrap="square" rtlCol="0">
            <a:spAutoFit/>
          </a:bodyPr>
          <a:p>
            <a:r>
              <a:rPr lang="en-US" altLang="en-GB" sz="2400" b="1">
                <a:latin typeface="Times New Roman" panose="02020603050405020304" charset="0"/>
                <a:cs typeface="Times New Roman" panose="02020603050405020304" charset="0"/>
              </a:rPr>
              <a:t>Transient Analysis at 180,90 &amp;45 nM technology</a:t>
            </a:r>
            <a:endParaRPr lang="en-US" altLang="en-GB" sz="2400" b="1">
              <a:latin typeface="Times New Roman" panose="02020603050405020304" charset="0"/>
              <a:cs typeface="Times New Roman" panose="02020603050405020304" charset="0"/>
            </a:endParaRPr>
          </a:p>
        </p:txBody>
      </p:sp>
      <p:pic>
        <p:nvPicPr>
          <p:cNvPr id="2" name="Picture 1"/>
          <p:cNvPicPr/>
          <p:nvPr/>
        </p:nvPicPr>
        <p:blipFill>
          <a:blip r:embed="rId2"/>
          <a:stretch>
            <a:fillRect/>
          </a:stretch>
        </p:blipFill>
        <p:spPr>
          <a:xfrm>
            <a:off x="474345" y="808355"/>
            <a:ext cx="5179060" cy="2920365"/>
          </a:xfrm>
          <a:prstGeom prst="rect">
            <a:avLst/>
          </a:prstGeom>
        </p:spPr>
      </p:pic>
      <p:pic>
        <p:nvPicPr>
          <p:cNvPr id="3" name="Picture 2"/>
          <p:cNvPicPr/>
          <p:nvPr/>
        </p:nvPicPr>
        <p:blipFill>
          <a:blip r:embed="rId3"/>
          <a:srcRect l="12657" r="24770"/>
          <a:stretch>
            <a:fillRect/>
          </a:stretch>
        </p:blipFill>
        <p:spPr>
          <a:xfrm>
            <a:off x="5814695" y="808355"/>
            <a:ext cx="5691505" cy="2920365"/>
          </a:xfrm>
          <a:prstGeom prst="rect">
            <a:avLst/>
          </a:prstGeom>
        </p:spPr>
      </p:pic>
      <p:pic>
        <p:nvPicPr>
          <p:cNvPr id="5" name="Picture 4"/>
          <p:cNvPicPr/>
          <p:nvPr/>
        </p:nvPicPr>
        <p:blipFill>
          <a:blip r:embed="rId4"/>
          <a:stretch>
            <a:fillRect/>
          </a:stretch>
        </p:blipFill>
        <p:spPr>
          <a:xfrm>
            <a:off x="3019425" y="3828415"/>
            <a:ext cx="6007735" cy="2884170"/>
          </a:xfrm>
          <a:prstGeom prst="rect">
            <a:avLst/>
          </a:prstGeom>
        </p:spPr>
      </p:pic>
      <p:sp>
        <p:nvSpPr>
          <p:cNvPr id="6" name="Text Box 5"/>
          <p:cNvSpPr txBox="1"/>
          <p:nvPr/>
        </p:nvSpPr>
        <p:spPr>
          <a:xfrm>
            <a:off x="474345" y="3828415"/>
            <a:ext cx="4064000" cy="368300"/>
          </a:xfrm>
          <a:prstGeom prst="rect">
            <a:avLst/>
          </a:prstGeom>
          <a:noFill/>
        </p:spPr>
        <p:txBody>
          <a:bodyPr wrap="square" rtlCol="0">
            <a:spAutoFit/>
          </a:bodyPr>
          <a:p>
            <a:r>
              <a:rPr lang="en-US" altLang="en-GB" b="1">
                <a:latin typeface="Times New Roman" panose="02020603050405020304" charset="0"/>
                <a:cs typeface="Times New Roman" panose="02020603050405020304" charset="0"/>
              </a:rPr>
              <a:t>180 nM technology : </a:t>
            </a:r>
            <a:endParaRPr lang="en-US" altLang="en-GB" b="1">
              <a:latin typeface="Times New Roman" panose="02020603050405020304" charset="0"/>
              <a:cs typeface="Times New Roman" panose="02020603050405020304" charset="0"/>
            </a:endParaRPr>
          </a:p>
        </p:txBody>
      </p:sp>
      <p:sp>
        <p:nvSpPr>
          <p:cNvPr id="8" name="Text Box 7"/>
          <p:cNvSpPr txBox="1"/>
          <p:nvPr/>
        </p:nvSpPr>
        <p:spPr>
          <a:xfrm>
            <a:off x="668655" y="6231255"/>
            <a:ext cx="4064000" cy="368300"/>
          </a:xfrm>
          <a:prstGeom prst="rect">
            <a:avLst/>
          </a:prstGeom>
          <a:noFill/>
        </p:spPr>
        <p:txBody>
          <a:bodyPr wrap="square" rtlCol="0">
            <a:spAutoFit/>
          </a:bodyPr>
          <a:p>
            <a:r>
              <a:rPr lang="en-US" altLang="en-GB" b="1">
                <a:latin typeface="Times New Roman" panose="02020603050405020304" charset="0"/>
                <a:cs typeface="Times New Roman" panose="02020603050405020304" charset="0"/>
              </a:rPr>
              <a:t>45 nM </a:t>
            </a:r>
            <a:r>
              <a:rPr lang="en-US" altLang="en-GB" b="1">
                <a:latin typeface="Times New Roman" panose="02020603050405020304" charset="0"/>
                <a:cs typeface="Times New Roman" panose="02020603050405020304" charset="0"/>
                <a:sym typeface="+mn-ea"/>
              </a:rPr>
              <a:t>technology </a:t>
            </a:r>
            <a:r>
              <a:rPr lang="en-US" altLang="en-GB" b="1">
                <a:latin typeface="Times New Roman" panose="02020603050405020304" charset="0"/>
                <a:cs typeface="Times New Roman" panose="02020603050405020304" charset="0"/>
              </a:rPr>
              <a:t> :</a:t>
            </a:r>
            <a:endParaRPr lang="en-US" altLang="en-GB" b="1">
              <a:latin typeface="Times New Roman" panose="02020603050405020304" charset="0"/>
              <a:cs typeface="Times New Roman" panose="02020603050405020304" charset="0"/>
            </a:endParaRPr>
          </a:p>
        </p:txBody>
      </p:sp>
      <p:sp>
        <p:nvSpPr>
          <p:cNvPr id="9" name="Text Box 8"/>
          <p:cNvSpPr txBox="1"/>
          <p:nvPr/>
        </p:nvSpPr>
        <p:spPr>
          <a:xfrm>
            <a:off x="7166610" y="3885565"/>
            <a:ext cx="4064000" cy="368300"/>
          </a:xfrm>
          <a:prstGeom prst="rect">
            <a:avLst/>
          </a:prstGeom>
          <a:noFill/>
        </p:spPr>
        <p:txBody>
          <a:bodyPr wrap="square" rtlCol="0">
            <a:spAutoFit/>
          </a:bodyPr>
          <a:p>
            <a:pPr algn="r"/>
            <a:r>
              <a:rPr lang="en-US" altLang="en-GB" b="1">
                <a:latin typeface="Times New Roman" panose="02020603050405020304" charset="0"/>
                <a:cs typeface="Times New Roman" panose="02020603050405020304" charset="0"/>
              </a:rPr>
              <a:t>90 nM </a:t>
            </a:r>
            <a:r>
              <a:rPr lang="en-US" altLang="en-GB" b="1">
                <a:latin typeface="Times New Roman" panose="02020603050405020304" charset="0"/>
                <a:cs typeface="Times New Roman" panose="02020603050405020304" charset="0"/>
                <a:sym typeface="+mn-ea"/>
              </a:rPr>
              <a:t>technology </a:t>
            </a:r>
            <a:r>
              <a:rPr lang="en-US" altLang="en-GB" b="1">
                <a:latin typeface="Times New Roman" panose="02020603050405020304" charset="0"/>
                <a:cs typeface="Times New Roman" panose="02020603050405020304" charset="0"/>
              </a:rPr>
              <a:t> :    </a:t>
            </a:r>
            <a:endParaRPr lang="en-US" altLang="en-GB" b="1">
              <a:latin typeface="Times New Roman" panose="02020603050405020304" charset="0"/>
              <a:cs typeface="Times New Roman" panose="0202060305040502030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Text Box 6"/>
          <p:cNvSpPr txBox="1"/>
          <p:nvPr/>
        </p:nvSpPr>
        <p:spPr>
          <a:xfrm>
            <a:off x="849630" y="191135"/>
            <a:ext cx="6048375" cy="521970"/>
          </a:xfrm>
          <a:prstGeom prst="rect">
            <a:avLst/>
          </a:prstGeom>
          <a:noFill/>
        </p:spPr>
        <p:txBody>
          <a:bodyPr wrap="square" rtlCol="0">
            <a:spAutoFit/>
          </a:bodyPr>
          <a:p>
            <a:r>
              <a:rPr lang="en-US" sz="2800" b="1">
                <a:latin typeface="Times New Roman" panose="02020603050405020304" charset="0"/>
                <a:cs typeface="Times New Roman" panose="02020603050405020304" charset="0"/>
              </a:rPr>
              <a:t>Layout Design of 180nM and 90nM :</a:t>
            </a:r>
            <a:endParaRPr lang="en-US" sz="2800" b="1">
              <a:latin typeface="Times New Roman" panose="02020603050405020304" charset="0"/>
              <a:cs typeface="Times New Roman" panose="02020603050405020304" charset="0"/>
            </a:endParaRPr>
          </a:p>
        </p:txBody>
      </p:sp>
      <p:pic>
        <p:nvPicPr>
          <p:cNvPr id="14" name="Picture 13"/>
          <p:cNvPicPr>
            <a:picLocks noChangeAspect="1"/>
          </p:cNvPicPr>
          <p:nvPr/>
        </p:nvPicPr>
        <p:blipFill>
          <a:blip r:embed="rId1"/>
          <a:stretch>
            <a:fillRect/>
          </a:stretch>
        </p:blipFill>
        <p:spPr>
          <a:xfrm>
            <a:off x="7590155" y="227965"/>
            <a:ext cx="4146550" cy="480695"/>
          </a:xfrm>
          <a:prstGeom prst="rect">
            <a:avLst/>
          </a:prstGeom>
        </p:spPr>
      </p:pic>
      <p:pic>
        <p:nvPicPr>
          <p:cNvPr id="3" name="Picture 2"/>
          <p:cNvPicPr/>
          <p:nvPr/>
        </p:nvPicPr>
        <p:blipFill>
          <a:blip r:embed="rId2"/>
          <a:srcRect l="35434" t="31701" r="27685" b="20620"/>
          <a:stretch>
            <a:fillRect/>
          </a:stretch>
        </p:blipFill>
        <p:spPr>
          <a:xfrm rot="5400000">
            <a:off x="5843905" y="1512570"/>
            <a:ext cx="5190490" cy="4138295"/>
          </a:xfrm>
          <a:prstGeom prst="rect">
            <a:avLst/>
          </a:prstGeom>
        </p:spPr>
      </p:pic>
      <p:pic>
        <p:nvPicPr>
          <p:cNvPr id="4" name="Picture 3"/>
          <p:cNvPicPr/>
          <p:nvPr/>
        </p:nvPicPr>
        <p:blipFill>
          <a:blip r:embed="rId3"/>
          <a:srcRect l="22707" t="17662" r="21244" b="14641"/>
          <a:stretch>
            <a:fillRect/>
          </a:stretch>
        </p:blipFill>
        <p:spPr>
          <a:xfrm rot="5400000">
            <a:off x="360680" y="1475740"/>
            <a:ext cx="5189855" cy="4211955"/>
          </a:xfrm>
          <a:prstGeom prst="rect">
            <a:avLst/>
          </a:prstGeom>
        </p:spPr>
      </p:pic>
      <p:sp>
        <p:nvSpPr>
          <p:cNvPr id="6" name="Text Box 5"/>
          <p:cNvSpPr txBox="1"/>
          <p:nvPr/>
        </p:nvSpPr>
        <p:spPr>
          <a:xfrm>
            <a:off x="849630" y="6290310"/>
            <a:ext cx="4064000" cy="368300"/>
          </a:xfrm>
          <a:prstGeom prst="rect">
            <a:avLst/>
          </a:prstGeom>
          <a:noFill/>
        </p:spPr>
        <p:txBody>
          <a:bodyPr wrap="square" rtlCol="0">
            <a:spAutoFit/>
          </a:bodyPr>
          <a:p>
            <a:r>
              <a:rPr lang="en-US" altLang="en-GB" b="1">
                <a:latin typeface="Times New Roman" panose="02020603050405020304" charset="0"/>
                <a:cs typeface="Times New Roman" panose="02020603050405020304" charset="0"/>
              </a:rPr>
              <a:t>180 nM technology : </a:t>
            </a:r>
            <a:endParaRPr lang="en-US" altLang="en-GB" b="1">
              <a:latin typeface="Times New Roman" panose="02020603050405020304" charset="0"/>
              <a:cs typeface="Times New Roman" panose="02020603050405020304" charset="0"/>
            </a:endParaRPr>
          </a:p>
        </p:txBody>
      </p:sp>
      <p:sp>
        <p:nvSpPr>
          <p:cNvPr id="8" name="Text Box 7"/>
          <p:cNvSpPr txBox="1"/>
          <p:nvPr/>
        </p:nvSpPr>
        <p:spPr>
          <a:xfrm>
            <a:off x="6370320" y="6290310"/>
            <a:ext cx="4064000" cy="368300"/>
          </a:xfrm>
          <a:prstGeom prst="rect">
            <a:avLst/>
          </a:prstGeom>
          <a:noFill/>
        </p:spPr>
        <p:txBody>
          <a:bodyPr wrap="square" rtlCol="0">
            <a:spAutoFit/>
          </a:bodyPr>
          <a:p>
            <a:r>
              <a:rPr lang="en-US" altLang="en-GB" b="1">
                <a:latin typeface="Times New Roman" panose="02020603050405020304" charset="0"/>
                <a:cs typeface="Times New Roman" panose="02020603050405020304" charset="0"/>
              </a:rPr>
              <a:t>90 nM technology : </a:t>
            </a:r>
            <a:endParaRPr lang="en-US" altLang="en-GB" b="1">
              <a:latin typeface="Times New Roman" panose="02020603050405020304" charset="0"/>
              <a:cs typeface="Times New Roman" panose="0202060305040502030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Text Box 6"/>
          <p:cNvSpPr txBox="1"/>
          <p:nvPr/>
        </p:nvSpPr>
        <p:spPr>
          <a:xfrm>
            <a:off x="520700" y="191135"/>
            <a:ext cx="6620510" cy="491490"/>
          </a:xfrm>
          <a:prstGeom prst="rect">
            <a:avLst/>
          </a:prstGeom>
          <a:noFill/>
        </p:spPr>
        <p:txBody>
          <a:bodyPr wrap="square" rtlCol="0">
            <a:spAutoFit/>
          </a:bodyPr>
          <a:p>
            <a:r>
              <a:rPr lang="en-US" sz="2600" b="1">
                <a:latin typeface="Times New Roman" panose="02020603050405020304" charset="0"/>
                <a:cs typeface="Times New Roman" panose="02020603050405020304" charset="0"/>
              </a:rPr>
              <a:t>Parasitic Extraction of 180nM and 90nM :</a:t>
            </a:r>
            <a:endParaRPr lang="en-US" sz="2600" b="1">
              <a:latin typeface="Times New Roman" panose="02020603050405020304" charset="0"/>
              <a:cs typeface="Times New Roman" panose="02020603050405020304" charset="0"/>
            </a:endParaRPr>
          </a:p>
        </p:txBody>
      </p:sp>
      <p:pic>
        <p:nvPicPr>
          <p:cNvPr id="14" name="Picture 13"/>
          <p:cNvPicPr>
            <a:picLocks noChangeAspect="1"/>
          </p:cNvPicPr>
          <p:nvPr/>
        </p:nvPicPr>
        <p:blipFill>
          <a:blip r:embed="rId1"/>
          <a:stretch>
            <a:fillRect/>
          </a:stretch>
        </p:blipFill>
        <p:spPr>
          <a:xfrm>
            <a:off x="7590155" y="227965"/>
            <a:ext cx="4146550" cy="480695"/>
          </a:xfrm>
          <a:prstGeom prst="rect">
            <a:avLst/>
          </a:prstGeom>
        </p:spPr>
      </p:pic>
      <p:pic>
        <p:nvPicPr>
          <p:cNvPr id="2" name="Picture 1"/>
          <p:cNvPicPr/>
          <p:nvPr/>
        </p:nvPicPr>
        <p:blipFill>
          <a:blip r:embed="rId2"/>
          <a:srcRect l="22971" t="18273" r="33054" b="27880"/>
          <a:stretch>
            <a:fillRect/>
          </a:stretch>
        </p:blipFill>
        <p:spPr>
          <a:xfrm>
            <a:off x="626745" y="834390"/>
            <a:ext cx="5672455" cy="3416935"/>
          </a:xfrm>
          <a:prstGeom prst="rect">
            <a:avLst/>
          </a:prstGeom>
        </p:spPr>
      </p:pic>
      <p:pic>
        <p:nvPicPr>
          <p:cNvPr id="3" name="Picture 2"/>
          <p:cNvPicPr/>
          <p:nvPr/>
        </p:nvPicPr>
        <p:blipFill>
          <a:blip r:embed="rId3"/>
          <a:srcRect l="33294" t="21484" r="28848" b="12977"/>
          <a:stretch>
            <a:fillRect/>
          </a:stretch>
        </p:blipFill>
        <p:spPr>
          <a:xfrm>
            <a:off x="6917690" y="847725"/>
            <a:ext cx="3077210" cy="3416300"/>
          </a:xfrm>
          <a:prstGeom prst="rect">
            <a:avLst/>
          </a:prstGeom>
        </p:spPr>
      </p:pic>
      <p:pic>
        <p:nvPicPr>
          <p:cNvPr id="4" name="Picture 3"/>
          <p:cNvPicPr/>
          <p:nvPr/>
        </p:nvPicPr>
        <p:blipFill>
          <a:blip r:embed="rId4"/>
          <a:srcRect l="15339" t="16849" r="130" b="3125"/>
          <a:stretch>
            <a:fillRect/>
          </a:stretch>
        </p:blipFill>
        <p:spPr>
          <a:xfrm>
            <a:off x="626745" y="4403090"/>
            <a:ext cx="2935605" cy="2331085"/>
          </a:xfrm>
          <a:prstGeom prst="rect">
            <a:avLst/>
          </a:prstGeom>
        </p:spPr>
      </p:pic>
      <p:pic>
        <p:nvPicPr>
          <p:cNvPr id="5" name="Picture 4"/>
          <p:cNvPicPr/>
          <p:nvPr/>
        </p:nvPicPr>
        <p:blipFill>
          <a:blip r:embed="rId5"/>
          <a:srcRect l="15449" t="16120" r="1107" b="3125"/>
          <a:stretch>
            <a:fillRect/>
          </a:stretch>
        </p:blipFill>
        <p:spPr>
          <a:xfrm>
            <a:off x="6917690" y="4455160"/>
            <a:ext cx="3076575" cy="2279015"/>
          </a:xfrm>
          <a:prstGeom prst="rect">
            <a:avLst/>
          </a:prstGeom>
        </p:spPr>
      </p:pic>
      <p:sp>
        <p:nvSpPr>
          <p:cNvPr id="6" name="Text Box 5"/>
          <p:cNvSpPr txBox="1"/>
          <p:nvPr/>
        </p:nvSpPr>
        <p:spPr>
          <a:xfrm>
            <a:off x="759460" y="4571365"/>
            <a:ext cx="4064000" cy="368300"/>
          </a:xfrm>
          <a:prstGeom prst="rect">
            <a:avLst/>
          </a:prstGeom>
          <a:noFill/>
        </p:spPr>
        <p:txBody>
          <a:bodyPr wrap="square" rtlCol="0">
            <a:spAutoFit/>
          </a:bodyPr>
          <a:p>
            <a:r>
              <a:rPr lang="en-US" altLang="en-GB">
                <a:solidFill>
                  <a:schemeClr val="bg1"/>
                </a:solidFill>
              </a:rPr>
              <a:t>Parasitic Capacitors</a:t>
            </a:r>
            <a:endParaRPr lang="en-US" altLang="en-GB">
              <a:solidFill>
                <a:schemeClr val="bg1"/>
              </a:solidFill>
            </a:endParaRPr>
          </a:p>
        </p:txBody>
      </p:sp>
      <p:sp>
        <p:nvSpPr>
          <p:cNvPr id="8" name="Text Box 7"/>
          <p:cNvSpPr txBox="1"/>
          <p:nvPr/>
        </p:nvSpPr>
        <p:spPr>
          <a:xfrm>
            <a:off x="7038975" y="4571365"/>
            <a:ext cx="4064000" cy="368300"/>
          </a:xfrm>
          <a:prstGeom prst="rect">
            <a:avLst/>
          </a:prstGeom>
          <a:noFill/>
        </p:spPr>
        <p:txBody>
          <a:bodyPr wrap="square" rtlCol="0">
            <a:spAutoFit/>
          </a:bodyPr>
          <a:p>
            <a:r>
              <a:rPr lang="en-US" altLang="en-GB">
                <a:solidFill>
                  <a:schemeClr val="bg1"/>
                </a:solidFill>
              </a:rPr>
              <a:t>Parasitic Resistors</a:t>
            </a:r>
            <a:endParaRPr lang="en-US" altLang="en-GB">
              <a:solidFill>
                <a:schemeClr val="bg1"/>
              </a:solidFill>
            </a:endParaRPr>
          </a:p>
        </p:txBody>
      </p:sp>
      <p:sp>
        <p:nvSpPr>
          <p:cNvPr id="9" name="Text Box 8"/>
          <p:cNvSpPr txBox="1"/>
          <p:nvPr/>
        </p:nvSpPr>
        <p:spPr>
          <a:xfrm>
            <a:off x="8611235" y="922020"/>
            <a:ext cx="4064000" cy="368300"/>
          </a:xfrm>
          <a:prstGeom prst="rect">
            <a:avLst/>
          </a:prstGeom>
          <a:noFill/>
        </p:spPr>
        <p:txBody>
          <a:bodyPr wrap="square" rtlCol="0">
            <a:spAutoFit/>
          </a:bodyPr>
          <a:p>
            <a:r>
              <a:rPr lang="en-US" altLang="en-GB">
                <a:solidFill>
                  <a:schemeClr val="bg1"/>
                </a:solidFill>
              </a:rPr>
              <a:t>AV Extracted </a:t>
            </a:r>
            <a:endParaRPr lang="en-US" altLang="en-GB">
              <a:solidFill>
                <a:schemeClr val="bg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nvSpPr>
        <p:spPr>
          <a:xfrm>
            <a:off x="838200" y="10160"/>
            <a:ext cx="11121390" cy="100203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GB" sz="2400" b="1">
                <a:latin typeface="Times New Roman" panose="02020603050405020304" charset="0"/>
                <a:cs typeface="Times New Roman" panose="02020603050405020304" charset="0"/>
              </a:rPr>
              <a:t>Write Delay and Power Comparison of 6T SRAM Across Technology Nodes :</a:t>
            </a:r>
            <a:endParaRPr lang="en-US" altLang="en-GB" sz="2400" b="1">
              <a:latin typeface="Times New Roman" panose="02020603050405020304" charset="0"/>
              <a:cs typeface="Times New Roman" panose="02020603050405020304" charset="0"/>
            </a:endParaRPr>
          </a:p>
        </p:txBody>
      </p:sp>
      <p:sp>
        <p:nvSpPr>
          <p:cNvPr id="6" name="Text Box 5"/>
          <p:cNvSpPr txBox="1"/>
          <p:nvPr/>
        </p:nvSpPr>
        <p:spPr>
          <a:xfrm>
            <a:off x="838200" y="935355"/>
            <a:ext cx="4064000" cy="368300"/>
          </a:xfrm>
          <a:prstGeom prst="rect">
            <a:avLst/>
          </a:prstGeom>
          <a:noFill/>
        </p:spPr>
        <p:txBody>
          <a:bodyPr wrap="square" rtlCol="0">
            <a:spAutoFit/>
          </a:bodyPr>
          <a:p>
            <a:pPr marL="342900" indent="-342900">
              <a:buFont typeface="Arial" panose="020B0604020202020204" pitchFamily="34" charset="0"/>
              <a:buAutoNum type="arabicPeriod"/>
            </a:pPr>
            <a:r>
              <a:rPr lang="en-US" altLang="en-GB" b="1" u="sng">
                <a:latin typeface="Times New Roman" panose="02020603050405020304" charset="0"/>
                <a:cs typeface="Times New Roman" panose="02020603050405020304" charset="0"/>
              </a:rPr>
              <a:t>180 nM Technology Node :</a:t>
            </a:r>
            <a:endParaRPr lang="en-US" altLang="en-GB" b="1" u="sng">
              <a:latin typeface="Times New Roman" panose="02020603050405020304" charset="0"/>
              <a:cs typeface="Times New Roman" panose="02020603050405020304" charset="0"/>
            </a:endParaRPr>
          </a:p>
        </p:txBody>
      </p:sp>
      <p:graphicFrame>
        <p:nvGraphicFramePr>
          <p:cNvPr id="3" name="Table 2"/>
          <p:cNvGraphicFramePr/>
          <p:nvPr>
            <p:custDataLst>
              <p:tags r:id="rId1"/>
            </p:custDataLst>
          </p:nvPr>
        </p:nvGraphicFramePr>
        <p:xfrm>
          <a:off x="1253490" y="1717675"/>
          <a:ext cx="9930765" cy="4348480"/>
        </p:xfrm>
        <a:graphic>
          <a:graphicData uri="http://schemas.openxmlformats.org/drawingml/2006/table">
            <a:tbl>
              <a:tblPr firstRow="1" bandRow="1">
                <a:tableStyleId>{5C22544A-7EE6-4342-B048-85BDC9FD1C3A}</a:tableStyleId>
              </a:tblPr>
              <a:tblGrid>
                <a:gridCol w="1436370"/>
                <a:gridCol w="2574290"/>
                <a:gridCol w="3220720"/>
                <a:gridCol w="2410460"/>
              </a:tblGrid>
              <a:tr h="697865">
                <a:tc>
                  <a:txBody>
                    <a:bodyPr/>
                    <a:p>
                      <a:pPr algn="ctr">
                        <a:buNone/>
                      </a:pPr>
                      <a:r>
                        <a:rPr lang="en-IN" altLang="en-GB">
                          <a:solidFill>
                            <a:schemeClr val="bg1"/>
                          </a:solidFill>
                          <a:latin typeface="Times New Roman" panose="02020603050405020304" charset="0"/>
                          <a:cs typeface="Times New Roman" panose="02020603050405020304" charset="0"/>
                        </a:rPr>
                        <a:t>VDD</a:t>
                      </a:r>
                      <a:endParaRPr lang="en-IN" altLang="en-GB">
                        <a:solidFill>
                          <a:schemeClr val="bg1"/>
                        </a:solidFill>
                        <a:latin typeface="Times New Roman" panose="02020603050405020304" charset="0"/>
                        <a:cs typeface="Times New Roman" panose="02020603050405020304" charset="0"/>
                      </a:endParaRPr>
                    </a:p>
                  </a:txBody>
                  <a:tcPr anchor="ctr"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a:solidFill>
                            <a:schemeClr val="bg1"/>
                          </a:solidFill>
                          <a:latin typeface="Times New Roman" panose="02020603050405020304" charset="0"/>
                          <a:cs typeface="Times New Roman" panose="02020603050405020304" charset="0"/>
                        </a:rPr>
                        <a:t>Measurement </a:t>
                      </a:r>
                      <a:endParaRPr lang="en-IN" altLang="en-GB">
                        <a:solidFill>
                          <a:schemeClr val="bg1"/>
                        </a:solidFill>
                        <a:latin typeface="Times New Roman" panose="02020603050405020304" charset="0"/>
                        <a:cs typeface="Times New Roman" panose="02020603050405020304" charset="0"/>
                      </a:endParaRPr>
                    </a:p>
                  </a:txBody>
                  <a:tcPr anchor="ctr"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a:solidFill>
                            <a:schemeClr val="bg1"/>
                          </a:solidFill>
                          <a:latin typeface="Times New Roman" panose="02020603050405020304" charset="0"/>
                          <a:cs typeface="Times New Roman" panose="02020603050405020304" charset="0"/>
                        </a:rPr>
                        <a:t>    Literature Paper Values </a:t>
                      </a:r>
                      <a:endParaRPr lang="en-IN" altLang="en-GB">
                        <a:solidFill>
                          <a:schemeClr val="bg1"/>
                        </a:solidFill>
                        <a:latin typeface="Times New Roman" panose="02020603050405020304" charset="0"/>
                        <a:cs typeface="Times New Roman" panose="02020603050405020304" charset="0"/>
                      </a:endParaRPr>
                    </a:p>
                    <a:p>
                      <a:pPr algn="ctr">
                        <a:buNone/>
                      </a:pPr>
                      <a:r>
                        <a:rPr lang="en-IN" altLang="en-GB">
                          <a:solidFill>
                            <a:schemeClr val="bg1"/>
                          </a:solidFill>
                          <a:latin typeface="Times New Roman" panose="02020603050405020304" charset="0"/>
                          <a:cs typeface="Times New Roman" panose="02020603050405020304" charset="0"/>
                        </a:rPr>
                        <a:t>         ( Ideal Values )</a:t>
                      </a:r>
                      <a:endParaRPr lang="en-IN" altLang="en-GB">
                        <a:solidFill>
                          <a:schemeClr val="bg1"/>
                        </a:solidFill>
                        <a:latin typeface="Times New Roman" panose="02020603050405020304" charset="0"/>
                        <a:cs typeface="Times New Roman" panose="02020603050405020304" charset="0"/>
                      </a:endParaRPr>
                    </a:p>
                  </a:txBody>
                  <a:tcPr anchor="ctr"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a:solidFill>
                            <a:schemeClr val="bg1"/>
                          </a:solidFill>
                          <a:latin typeface="Times New Roman" panose="02020603050405020304" charset="0"/>
                          <a:cs typeface="Times New Roman" panose="02020603050405020304" charset="0"/>
                        </a:rPr>
                        <a:t>Practical Values</a:t>
                      </a:r>
                      <a:endParaRPr lang="en-IN" altLang="en-GB">
                        <a:solidFill>
                          <a:schemeClr val="bg1"/>
                        </a:solidFill>
                        <a:latin typeface="Times New Roman" panose="02020603050405020304" charset="0"/>
                        <a:cs typeface="Times New Roman" panose="02020603050405020304" charset="0"/>
                      </a:endParaRPr>
                    </a:p>
                  </a:txBody>
                  <a:tcPr anchor="ctr"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r>
              <a:tr h="692785">
                <a:tc>
                  <a:txBody>
                    <a:bodyPr/>
                    <a:p>
                      <a:pPr algn="ctr">
                        <a:lnSpc>
                          <a:spcPct val="114000"/>
                        </a:lnSpc>
                        <a:spcBef>
                          <a:spcPct val="0"/>
                        </a:spcBef>
                        <a:spcAft>
                          <a:spcPts val="1000"/>
                        </a:spcAft>
                      </a:pPr>
                      <a:r>
                        <a:rPr sz="1400">
                          <a:solidFill>
                            <a:schemeClr val="tx1"/>
                          </a:solidFill>
                          <a:latin typeface="Times New Roman" panose="02020603050405020304" charset="0"/>
                          <a:cs typeface="Times New Roman" panose="02020603050405020304" charset="0"/>
                        </a:rPr>
                        <a:t>1.0V</a:t>
                      </a:r>
                      <a:endParaRPr sz="1400">
                        <a:solidFill>
                          <a:schemeClr val="tx1"/>
                        </a:solidFill>
                        <a:latin typeface="Times New Roman" panose="02020603050405020304" charset="0"/>
                        <a:cs typeface="Times New Roman" panose="02020603050405020304" charset="0"/>
                      </a:endParaRPr>
                    </a:p>
                  </a:txBody>
                  <a:tcPr marL="68580" marR="68580" marT="0" marB="0" anchor="t"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lnSpc>
                          <a:spcPct val="114000"/>
                        </a:lnSpc>
                        <a:spcBef>
                          <a:spcPct val="0"/>
                        </a:spcBef>
                        <a:spcAft>
                          <a:spcPts val="1000"/>
                        </a:spcAft>
                      </a:pPr>
                      <a:r>
                        <a:rPr sz="1400">
                          <a:solidFill>
                            <a:schemeClr val="tx1"/>
                          </a:solidFill>
                          <a:latin typeface="Times New Roman" panose="02020603050405020304" charset="0"/>
                          <a:cs typeface="Times New Roman" panose="02020603050405020304" charset="0"/>
                        </a:rPr>
                        <a:t>Rising to Falling</a:t>
                      </a:r>
                      <a:r>
                        <a:rPr lang="en-IN" sz="1400">
                          <a:solidFill>
                            <a:schemeClr val="tx1"/>
                          </a:solidFill>
                          <a:latin typeface="Times New Roman" panose="02020603050405020304" charset="0"/>
                          <a:cs typeface="Times New Roman" panose="02020603050405020304" charset="0"/>
                        </a:rPr>
                        <a:t> </a:t>
                      </a:r>
                      <a:r>
                        <a:rPr sz="1400">
                          <a:solidFill>
                            <a:schemeClr val="tx1"/>
                          </a:solidFill>
                          <a:latin typeface="Times New Roman" panose="02020603050405020304" charset="0"/>
                          <a:cs typeface="Times New Roman" panose="02020603050405020304" charset="0"/>
                        </a:rPr>
                        <a:t>Delay</a:t>
                      </a:r>
                      <a:endParaRPr sz="1400">
                        <a:solidFill>
                          <a:schemeClr val="tx1"/>
                        </a:solidFill>
                        <a:latin typeface="Times New Roman" panose="02020603050405020304" charset="0"/>
                        <a:cs typeface="Times New Roman" panose="02020603050405020304" charset="0"/>
                      </a:endParaRPr>
                    </a:p>
                    <a:p>
                      <a:pPr algn="ctr">
                        <a:lnSpc>
                          <a:spcPct val="114000"/>
                        </a:lnSpc>
                        <a:spcBef>
                          <a:spcPct val="0"/>
                        </a:spcBef>
                        <a:spcAft>
                          <a:spcPts val="1000"/>
                        </a:spcAft>
                      </a:pPr>
                      <a:r>
                        <a:rPr sz="1400">
                          <a:solidFill>
                            <a:schemeClr val="tx1"/>
                          </a:solidFill>
                          <a:latin typeface="Times New Roman" panose="02020603050405020304" charset="0"/>
                          <a:cs typeface="Times New Roman" panose="02020603050405020304" charset="0"/>
                        </a:rPr>
                        <a:t>1→0 </a:t>
                      </a:r>
                      <a:endParaRPr lang="en-GB" altLang="en-US" sz="1400">
                        <a:solidFill>
                          <a:schemeClr val="tx1"/>
                        </a:solidFill>
                        <a:latin typeface="Times New Roman" panose="02020603050405020304" charset="0"/>
                        <a:cs typeface="Times New Roman" panose="02020603050405020304" charset="0"/>
                      </a:endParaRPr>
                    </a:p>
                  </a:txBody>
                  <a:tcPr anchor="ctr"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sz="1400">
                          <a:solidFill>
                            <a:schemeClr val="tx1"/>
                          </a:solidFill>
                          <a:latin typeface="Times New Roman" panose="02020603050405020304" charset="0"/>
                          <a:cs typeface="Times New Roman" panose="02020603050405020304" charset="0"/>
                        </a:rPr>
                        <a:t>0.255 ns</a:t>
                      </a:r>
                      <a:endParaRPr lang="en-IN" altLang="en-GB" sz="1400">
                        <a:solidFill>
                          <a:schemeClr val="tx1"/>
                        </a:solidFill>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sz="1400">
                          <a:solidFill>
                            <a:schemeClr val="tx1"/>
                          </a:solidFill>
                          <a:latin typeface="Times New Roman" panose="02020603050405020304" charset="0"/>
                          <a:cs typeface="Times New Roman" panose="02020603050405020304" charset="0"/>
                        </a:rPr>
                        <a:t>0.240 ns</a:t>
                      </a:r>
                      <a:endParaRPr lang="en-IN" altLang="en-GB" sz="1400">
                        <a:solidFill>
                          <a:schemeClr val="tx1"/>
                        </a:solidFill>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r>
              <a:tr h="692150">
                <a:tc>
                  <a:txBody>
                    <a:bodyPr/>
                    <a:p>
                      <a:pPr algn="ctr">
                        <a:lnSpc>
                          <a:spcPct val="114000"/>
                        </a:lnSpc>
                        <a:spcBef>
                          <a:spcPct val="0"/>
                        </a:spcBef>
                        <a:spcAft>
                          <a:spcPts val="1000"/>
                        </a:spcAft>
                      </a:pPr>
                      <a:r>
                        <a:rPr sz="1400">
                          <a:solidFill>
                            <a:schemeClr val="tx1"/>
                          </a:solidFill>
                          <a:latin typeface="Times New Roman" panose="02020603050405020304" charset="0"/>
                          <a:cs typeface="Times New Roman" panose="02020603050405020304" charset="0"/>
                        </a:rPr>
                        <a:t>1.0V</a:t>
                      </a:r>
                      <a:endParaRPr sz="1400">
                        <a:solidFill>
                          <a:schemeClr val="tx1"/>
                        </a:solidFill>
                        <a:latin typeface="Times New Roman" panose="02020603050405020304" charset="0"/>
                        <a:cs typeface="Times New Roman" panose="02020603050405020304" charset="0"/>
                      </a:endParaRPr>
                    </a:p>
                  </a:txBody>
                  <a:tcPr marL="68580" marR="68580" marT="0" marB="0" anchor="t"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lnSpc>
                          <a:spcPct val="114000"/>
                        </a:lnSpc>
                        <a:spcBef>
                          <a:spcPct val="0"/>
                        </a:spcBef>
                        <a:spcAft>
                          <a:spcPts val="1000"/>
                        </a:spcAft>
                      </a:pPr>
                      <a:r>
                        <a:rPr lang="en-US" altLang="en-GB" sz="1400">
                          <a:solidFill>
                            <a:schemeClr val="tx1"/>
                          </a:solidFill>
                          <a:latin typeface="Times New Roman" panose="02020603050405020304" charset="0"/>
                          <a:cs typeface="Times New Roman" panose="02020603050405020304" charset="0"/>
                        </a:rPr>
                        <a:t>Falling to Rising</a:t>
                      </a:r>
                      <a:r>
                        <a:rPr lang="en-IN" altLang="en-US" sz="1400">
                          <a:solidFill>
                            <a:schemeClr val="tx1"/>
                          </a:solidFill>
                          <a:latin typeface="Times New Roman" panose="02020603050405020304" charset="0"/>
                          <a:cs typeface="Times New Roman" panose="02020603050405020304" charset="0"/>
                        </a:rPr>
                        <a:t> </a:t>
                      </a:r>
                      <a:r>
                        <a:rPr sz="1400">
                          <a:solidFill>
                            <a:schemeClr val="tx1"/>
                          </a:solidFill>
                          <a:latin typeface="Times New Roman" panose="02020603050405020304" charset="0"/>
                          <a:cs typeface="Times New Roman" panose="02020603050405020304" charset="0"/>
                        </a:rPr>
                        <a:t>Delay</a:t>
                      </a:r>
                      <a:endParaRPr lang="en-US" altLang="en-GB" sz="1400">
                        <a:solidFill>
                          <a:schemeClr val="tx1"/>
                        </a:solidFill>
                        <a:latin typeface="Times New Roman" panose="02020603050405020304" charset="0"/>
                        <a:cs typeface="Times New Roman" panose="02020603050405020304" charset="0"/>
                      </a:endParaRPr>
                    </a:p>
                    <a:p>
                      <a:pPr algn="ctr">
                        <a:lnSpc>
                          <a:spcPct val="114000"/>
                        </a:lnSpc>
                        <a:spcBef>
                          <a:spcPct val="0"/>
                        </a:spcBef>
                        <a:spcAft>
                          <a:spcPts val="1000"/>
                        </a:spcAft>
                      </a:pPr>
                      <a:r>
                        <a:rPr lang="en-US" altLang="en-GB" sz="1400">
                          <a:solidFill>
                            <a:schemeClr val="tx1"/>
                          </a:solidFill>
                          <a:latin typeface="Times New Roman" panose="02020603050405020304" charset="0"/>
                          <a:cs typeface="Times New Roman" panose="02020603050405020304" charset="0"/>
                        </a:rPr>
                        <a:t>0</a:t>
                      </a:r>
                      <a:r>
                        <a:rPr lang="en-US" altLang="en-US" sz="1400">
                          <a:solidFill>
                            <a:schemeClr val="tx1"/>
                          </a:solidFill>
                          <a:latin typeface="Times New Roman" panose="02020603050405020304" charset="0"/>
                          <a:cs typeface="Times New Roman" panose="02020603050405020304" charset="0"/>
                        </a:rPr>
                        <a:t>→</a:t>
                      </a:r>
                      <a:r>
                        <a:rPr lang="en-US" altLang="en-GB" sz="1400">
                          <a:solidFill>
                            <a:schemeClr val="tx1"/>
                          </a:solidFill>
                          <a:latin typeface="Times New Roman" panose="02020603050405020304" charset="0"/>
                          <a:cs typeface="Times New Roman" panose="02020603050405020304" charset="0"/>
                        </a:rPr>
                        <a:t>1 </a:t>
                      </a:r>
                      <a:endParaRPr lang="en-US" altLang="en-GB" sz="1400">
                        <a:solidFill>
                          <a:schemeClr val="tx1"/>
                        </a:solidFill>
                        <a:latin typeface="Times New Roman" panose="02020603050405020304" charset="0"/>
                        <a:cs typeface="Times New Roman" panose="02020603050405020304" charset="0"/>
                      </a:endParaRPr>
                    </a:p>
                  </a:txBody>
                  <a:tcPr anchor="ctr"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sz="1400">
                          <a:solidFill>
                            <a:schemeClr val="tx1"/>
                          </a:solidFill>
                          <a:latin typeface="Times New Roman" panose="02020603050405020304" charset="0"/>
                          <a:cs typeface="Times New Roman" panose="02020603050405020304" charset="0"/>
                        </a:rPr>
                        <a:t>0.500 ns</a:t>
                      </a:r>
                      <a:endParaRPr lang="en-IN" altLang="en-GB" sz="1400">
                        <a:solidFill>
                          <a:schemeClr val="tx1"/>
                        </a:solidFill>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sz="1400">
                          <a:solidFill>
                            <a:schemeClr val="tx1"/>
                          </a:solidFill>
                          <a:latin typeface="Times New Roman" panose="02020603050405020304" charset="0"/>
                          <a:cs typeface="Times New Roman" panose="02020603050405020304" charset="0"/>
                        </a:rPr>
                        <a:t>0.410 ns</a:t>
                      </a:r>
                      <a:endParaRPr lang="en-IN" altLang="en-GB" sz="1400">
                        <a:solidFill>
                          <a:schemeClr val="tx1"/>
                        </a:solidFill>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r>
              <a:tr h="692785">
                <a:tc>
                  <a:txBody>
                    <a:bodyPr/>
                    <a:p>
                      <a:pPr algn="ctr">
                        <a:lnSpc>
                          <a:spcPct val="114000"/>
                        </a:lnSpc>
                        <a:spcBef>
                          <a:spcPct val="0"/>
                        </a:spcBef>
                        <a:spcAft>
                          <a:spcPts val="1000"/>
                        </a:spcAft>
                      </a:pPr>
                      <a:r>
                        <a:rPr sz="1400">
                          <a:solidFill>
                            <a:schemeClr val="tx1"/>
                          </a:solidFill>
                          <a:latin typeface="Times New Roman" panose="02020603050405020304" charset="0"/>
                          <a:cs typeface="Times New Roman" panose="02020603050405020304" charset="0"/>
                        </a:rPr>
                        <a:t>1.2V</a:t>
                      </a:r>
                      <a:endParaRPr sz="1400">
                        <a:solidFill>
                          <a:schemeClr val="tx1"/>
                        </a:solidFill>
                        <a:latin typeface="Times New Roman" panose="02020603050405020304" charset="0"/>
                        <a:cs typeface="Times New Roman" panose="02020603050405020304" charset="0"/>
                      </a:endParaRPr>
                    </a:p>
                  </a:txBody>
                  <a:tcPr marL="68580" marR="68580" marT="0" marB="0" anchor="t"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lnSpc>
                          <a:spcPct val="114000"/>
                        </a:lnSpc>
                        <a:spcBef>
                          <a:spcPct val="0"/>
                        </a:spcBef>
                        <a:spcAft>
                          <a:spcPts val="1000"/>
                        </a:spcAft>
                      </a:pPr>
                      <a:r>
                        <a:rPr sz="1400">
                          <a:solidFill>
                            <a:schemeClr val="tx1"/>
                          </a:solidFill>
                          <a:latin typeface="Times New Roman" panose="02020603050405020304" charset="0"/>
                          <a:cs typeface="Times New Roman" panose="02020603050405020304" charset="0"/>
                        </a:rPr>
                        <a:t>Rising to Falling</a:t>
                      </a:r>
                      <a:r>
                        <a:rPr lang="en-IN" sz="1400">
                          <a:solidFill>
                            <a:schemeClr val="tx1"/>
                          </a:solidFill>
                          <a:latin typeface="Times New Roman" panose="02020603050405020304" charset="0"/>
                          <a:cs typeface="Times New Roman" panose="02020603050405020304" charset="0"/>
                        </a:rPr>
                        <a:t> </a:t>
                      </a:r>
                      <a:r>
                        <a:rPr sz="1400">
                          <a:solidFill>
                            <a:schemeClr val="tx1"/>
                          </a:solidFill>
                          <a:latin typeface="Times New Roman" panose="02020603050405020304" charset="0"/>
                          <a:cs typeface="Times New Roman" panose="02020603050405020304" charset="0"/>
                        </a:rPr>
                        <a:t>Delay</a:t>
                      </a:r>
                      <a:endParaRPr sz="1400">
                        <a:solidFill>
                          <a:schemeClr val="tx1"/>
                        </a:solidFill>
                        <a:latin typeface="Times New Roman" panose="02020603050405020304" charset="0"/>
                        <a:cs typeface="Times New Roman" panose="02020603050405020304" charset="0"/>
                      </a:endParaRPr>
                    </a:p>
                    <a:p>
                      <a:pPr algn="ctr">
                        <a:lnSpc>
                          <a:spcPct val="114000"/>
                        </a:lnSpc>
                        <a:spcBef>
                          <a:spcPct val="0"/>
                        </a:spcBef>
                        <a:spcAft>
                          <a:spcPts val="1000"/>
                        </a:spcAft>
                      </a:pPr>
                      <a:r>
                        <a:rPr sz="1400">
                          <a:solidFill>
                            <a:schemeClr val="tx1"/>
                          </a:solidFill>
                          <a:latin typeface="Times New Roman" panose="02020603050405020304" charset="0"/>
                          <a:cs typeface="Times New Roman" panose="02020603050405020304" charset="0"/>
                        </a:rPr>
                        <a:t>1→0 </a:t>
                      </a:r>
                      <a:endParaRPr lang="en-GB" altLang="en-US" sz="1400">
                        <a:solidFill>
                          <a:schemeClr val="tx1"/>
                        </a:solidFill>
                        <a:latin typeface="Times New Roman" panose="02020603050405020304" charset="0"/>
                        <a:cs typeface="Times New Roman" panose="02020603050405020304" charset="0"/>
                      </a:endParaRPr>
                    </a:p>
                  </a:txBody>
                  <a:tcPr anchor="ctr"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sz="1400">
                          <a:solidFill>
                            <a:schemeClr val="tx1"/>
                          </a:solidFill>
                          <a:latin typeface="Times New Roman" panose="02020603050405020304" charset="0"/>
                          <a:cs typeface="Times New Roman" panose="02020603050405020304" charset="0"/>
                        </a:rPr>
                        <a:t>0.166 ns</a:t>
                      </a:r>
                      <a:endParaRPr lang="en-IN" altLang="en-GB" sz="1400">
                        <a:solidFill>
                          <a:schemeClr val="tx1"/>
                        </a:solidFill>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sz="1400">
                          <a:solidFill>
                            <a:schemeClr val="tx1"/>
                          </a:solidFill>
                          <a:latin typeface="Times New Roman" panose="02020603050405020304" charset="0"/>
                          <a:cs typeface="Times New Roman" panose="02020603050405020304" charset="0"/>
                        </a:rPr>
                        <a:t>0.180 ns</a:t>
                      </a:r>
                      <a:endParaRPr lang="en-IN" altLang="en-GB" sz="1400">
                        <a:solidFill>
                          <a:schemeClr val="tx1"/>
                        </a:solidFill>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r>
              <a:tr h="692150">
                <a:tc>
                  <a:txBody>
                    <a:bodyPr/>
                    <a:p>
                      <a:pPr algn="ctr">
                        <a:lnSpc>
                          <a:spcPct val="114000"/>
                        </a:lnSpc>
                        <a:spcBef>
                          <a:spcPct val="0"/>
                        </a:spcBef>
                        <a:spcAft>
                          <a:spcPts val="1000"/>
                        </a:spcAft>
                      </a:pPr>
                      <a:r>
                        <a:rPr sz="1400">
                          <a:solidFill>
                            <a:schemeClr val="tx1"/>
                          </a:solidFill>
                          <a:latin typeface="Times New Roman" panose="02020603050405020304" charset="0"/>
                          <a:cs typeface="Times New Roman" panose="02020603050405020304" charset="0"/>
                        </a:rPr>
                        <a:t>1.2V</a:t>
                      </a:r>
                      <a:endParaRPr sz="1400">
                        <a:solidFill>
                          <a:schemeClr val="tx1"/>
                        </a:solidFill>
                        <a:latin typeface="Times New Roman" panose="02020603050405020304" charset="0"/>
                        <a:cs typeface="Times New Roman" panose="02020603050405020304" charset="0"/>
                      </a:endParaRPr>
                    </a:p>
                  </a:txBody>
                  <a:tcPr marL="68580" marR="68580" marT="0" marB="0" anchor="t"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lnSpc>
                          <a:spcPct val="114000"/>
                        </a:lnSpc>
                        <a:spcBef>
                          <a:spcPct val="0"/>
                        </a:spcBef>
                        <a:spcAft>
                          <a:spcPts val="1000"/>
                        </a:spcAft>
                      </a:pPr>
                      <a:r>
                        <a:rPr sz="1400">
                          <a:solidFill>
                            <a:schemeClr val="tx1"/>
                          </a:solidFill>
                          <a:latin typeface="Times New Roman" panose="02020603050405020304" charset="0"/>
                          <a:cs typeface="Times New Roman" panose="02020603050405020304" charset="0"/>
                        </a:rPr>
                        <a:t>Falling to Rising</a:t>
                      </a:r>
                      <a:r>
                        <a:rPr lang="en-IN" sz="1400">
                          <a:solidFill>
                            <a:schemeClr val="tx1"/>
                          </a:solidFill>
                          <a:latin typeface="Times New Roman" panose="02020603050405020304" charset="0"/>
                          <a:cs typeface="Times New Roman" panose="02020603050405020304" charset="0"/>
                        </a:rPr>
                        <a:t> </a:t>
                      </a:r>
                      <a:r>
                        <a:rPr sz="1400">
                          <a:solidFill>
                            <a:schemeClr val="tx1"/>
                          </a:solidFill>
                          <a:latin typeface="Times New Roman" panose="02020603050405020304" charset="0"/>
                          <a:cs typeface="Times New Roman" panose="02020603050405020304" charset="0"/>
                        </a:rPr>
                        <a:t>Delay</a:t>
                      </a:r>
                      <a:endParaRPr sz="1400">
                        <a:solidFill>
                          <a:schemeClr val="tx1"/>
                        </a:solidFill>
                        <a:latin typeface="Times New Roman" panose="02020603050405020304" charset="0"/>
                        <a:cs typeface="Times New Roman" panose="02020603050405020304" charset="0"/>
                      </a:endParaRPr>
                    </a:p>
                    <a:p>
                      <a:pPr algn="ctr">
                        <a:lnSpc>
                          <a:spcPct val="114000"/>
                        </a:lnSpc>
                        <a:spcBef>
                          <a:spcPct val="0"/>
                        </a:spcBef>
                        <a:spcAft>
                          <a:spcPts val="1000"/>
                        </a:spcAft>
                      </a:pPr>
                      <a:r>
                        <a:rPr sz="1400">
                          <a:solidFill>
                            <a:schemeClr val="tx1"/>
                          </a:solidFill>
                          <a:latin typeface="Times New Roman" panose="02020603050405020304" charset="0"/>
                          <a:cs typeface="Times New Roman" panose="02020603050405020304" charset="0"/>
                        </a:rPr>
                        <a:t>0→1 </a:t>
                      </a:r>
                      <a:endParaRPr lang="en-GB" altLang="en-US" sz="1400">
                        <a:solidFill>
                          <a:schemeClr val="tx1"/>
                        </a:solidFill>
                        <a:latin typeface="Times New Roman" panose="02020603050405020304" charset="0"/>
                        <a:cs typeface="Times New Roman" panose="02020603050405020304" charset="0"/>
                      </a:endParaRPr>
                    </a:p>
                  </a:txBody>
                  <a:tcPr anchor="ctr"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sz="1400">
                          <a:solidFill>
                            <a:schemeClr val="tx1"/>
                          </a:solidFill>
                          <a:latin typeface="Times New Roman" panose="02020603050405020304" charset="0"/>
                          <a:cs typeface="Times New Roman" panose="02020603050405020304" charset="0"/>
                        </a:rPr>
                        <a:t>0.358 ns</a:t>
                      </a:r>
                      <a:endParaRPr lang="en-IN" altLang="en-GB" sz="1400">
                        <a:solidFill>
                          <a:schemeClr val="tx1"/>
                        </a:solidFill>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sz="1400">
                          <a:solidFill>
                            <a:schemeClr val="tx1"/>
                          </a:solidFill>
                          <a:latin typeface="Times New Roman" panose="02020603050405020304" charset="0"/>
                          <a:cs typeface="Times New Roman" panose="02020603050405020304" charset="0"/>
                        </a:rPr>
                        <a:t>0.340 ns</a:t>
                      </a:r>
                      <a:endParaRPr lang="en-IN" altLang="en-GB" sz="1400">
                        <a:solidFill>
                          <a:schemeClr val="tx1"/>
                        </a:solidFill>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r>
              <a:tr h="415925">
                <a:tc>
                  <a:txBody>
                    <a:bodyPr/>
                    <a:p>
                      <a:pPr algn="ctr">
                        <a:lnSpc>
                          <a:spcPct val="114000"/>
                        </a:lnSpc>
                        <a:spcBef>
                          <a:spcPct val="0"/>
                        </a:spcBef>
                        <a:spcAft>
                          <a:spcPts val="1000"/>
                        </a:spcAft>
                      </a:pPr>
                      <a:r>
                        <a:rPr sz="1400">
                          <a:solidFill>
                            <a:schemeClr val="tx1"/>
                          </a:solidFill>
                          <a:latin typeface="Times New Roman" panose="02020603050405020304" charset="0"/>
                          <a:cs typeface="Times New Roman" panose="02020603050405020304" charset="0"/>
                        </a:rPr>
                        <a:t>1.2V</a:t>
                      </a:r>
                      <a:endParaRPr sz="1400">
                        <a:solidFill>
                          <a:schemeClr val="tx1"/>
                        </a:solidFill>
                        <a:latin typeface="Times New Roman" panose="02020603050405020304" charset="0"/>
                        <a:cs typeface="Times New Roman" panose="02020603050405020304" charset="0"/>
                      </a:endParaRPr>
                    </a:p>
                  </a:txBody>
                  <a:tcPr marL="68580" marR="68580" marT="0" marB="0" anchor="t"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sz="1400">
                          <a:solidFill>
                            <a:schemeClr val="tx1"/>
                          </a:solidFill>
                          <a:latin typeface="Times New Roman" panose="02020603050405020304" charset="0"/>
                          <a:cs typeface="Times New Roman" panose="02020603050405020304" charset="0"/>
                        </a:rPr>
                        <a:t>Avg Power at</a:t>
                      </a:r>
                      <a:r>
                        <a:rPr lang="en-IN" sz="1400">
                          <a:solidFill>
                            <a:schemeClr val="tx1"/>
                          </a:solidFill>
                          <a:latin typeface="Times New Roman" panose="02020603050405020304" charset="0"/>
                          <a:cs typeface="Times New Roman" panose="02020603050405020304" charset="0"/>
                        </a:rPr>
                        <a:t> Q</a:t>
                      </a:r>
                      <a:endParaRPr lang="en-IN" sz="1400">
                        <a:solidFill>
                          <a:schemeClr val="tx1"/>
                        </a:solidFill>
                        <a:latin typeface="Times New Roman" panose="02020603050405020304" charset="0"/>
                        <a:cs typeface="Times New Roman" panose="02020603050405020304" charset="0"/>
                      </a:endParaRPr>
                    </a:p>
                  </a:txBody>
                  <a:tcPr anchor="ctr"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sz="1400">
                          <a:solidFill>
                            <a:schemeClr val="tx1"/>
                          </a:solidFill>
                          <a:latin typeface="Times New Roman" panose="02020603050405020304" charset="0"/>
                          <a:cs typeface="Times New Roman" panose="02020603050405020304" charset="0"/>
                        </a:rPr>
                        <a:t>-</a:t>
                      </a:r>
                      <a:endParaRPr lang="en-IN" altLang="en-GB" sz="1400">
                        <a:solidFill>
                          <a:schemeClr val="tx1"/>
                        </a:solidFill>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sz="1400">
                          <a:solidFill>
                            <a:schemeClr val="tx1"/>
                          </a:solidFill>
                          <a:latin typeface="Times New Roman" panose="02020603050405020304" charset="0"/>
                          <a:cs typeface="Times New Roman" panose="02020603050405020304" charset="0"/>
                        </a:rPr>
                        <a:t>0.599 mW</a:t>
                      </a:r>
                      <a:endParaRPr lang="en-IN" altLang="en-GB" sz="1400">
                        <a:solidFill>
                          <a:schemeClr val="tx1"/>
                        </a:solidFill>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r>
              <a:tr h="415290">
                <a:tc>
                  <a:txBody>
                    <a:bodyPr/>
                    <a:p>
                      <a:pPr algn="ctr">
                        <a:lnSpc>
                          <a:spcPct val="114000"/>
                        </a:lnSpc>
                        <a:spcBef>
                          <a:spcPct val="0"/>
                        </a:spcBef>
                        <a:spcAft>
                          <a:spcPts val="1000"/>
                        </a:spcAft>
                      </a:pPr>
                      <a:r>
                        <a:rPr sz="1400">
                          <a:solidFill>
                            <a:schemeClr val="tx1"/>
                          </a:solidFill>
                          <a:latin typeface="Times New Roman" panose="02020603050405020304" charset="0"/>
                          <a:cs typeface="Times New Roman" panose="02020603050405020304" charset="0"/>
                        </a:rPr>
                        <a:t>1.</a:t>
                      </a:r>
                      <a:r>
                        <a:rPr lang="en-IN" sz="1400">
                          <a:solidFill>
                            <a:schemeClr val="tx1"/>
                          </a:solidFill>
                          <a:latin typeface="Times New Roman" panose="02020603050405020304" charset="0"/>
                          <a:cs typeface="Times New Roman" panose="02020603050405020304" charset="0"/>
                        </a:rPr>
                        <a:t>2</a:t>
                      </a:r>
                      <a:r>
                        <a:rPr sz="1400">
                          <a:solidFill>
                            <a:schemeClr val="tx1"/>
                          </a:solidFill>
                          <a:latin typeface="Times New Roman" panose="02020603050405020304" charset="0"/>
                          <a:cs typeface="Times New Roman" panose="02020603050405020304" charset="0"/>
                        </a:rPr>
                        <a:t>V</a:t>
                      </a:r>
                      <a:endParaRPr sz="1400">
                        <a:solidFill>
                          <a:schemeClr val="tx1"/>
                        </a:solidFill>
                        <a:latin typeface="Times New Roman" panose="02020603050405020304" charset="0"/>
                        <a:cs typeface="Times New Roman" panose="02020603050405020304" charset="0"/>
                      </a:endParaRPr>
                    </a:p>
                  </a:txBody>
                  <a:tcPr marL="68580" marR="68580" marT="0" marB="0" anchor="t"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sz="1400">
                          <a:solidFill>
                            <a:schemeClr val="tx1"/>
                          </a:solidFill>
                          <a:latin typeface="Times New Roman" panose="02020603050405020304" charset="0"/>
                          <a:cs typeface="Times New Roman" panose="02020603050405020304" charset="0"/>
                        </a:rPr>
                        <a:t>Avg Power at</a:t>
                      </a:r>
                      <a:r>
                        <a:rPr lang="en-IN" sz="1400">
                          <a:solidFill>
                            <a:schemeClr val="tx1"/>
                          </a:solidFill>
                          <a:latin typeface="Times New Roman" panose="02020603050405020304" charset="0"/>
                          <a:cs typeface="Times New Roman" panose="02020603050405020304" charset="0"/>
                        </a:rPr>
                        <a:t> Qbar</a:t>
                      </a:r>
                      <a:endParaRPr lang="en-IN" sz="1400">
                        <a:solidFill>
                          <a:schemeClr val="tx1"/>
                        </a:solidFill>
                        <a:latin typeface="Times New Roman" panose="02020603050405020304" charset="0"/>
                        <a:cs typeface="Times New Roman" panose="02020603050405020304" charset="0"/>
                      </a:endParaRPr>
                    </a:p>
                  </a:txBody>
                  <a:tcPr anchor="ctr"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sz="1400">
                          <a:solidFill>
                            <a:schemeClr val="tx1"/>
                          </a:solidFill>
                          <a:latin typeface="Times New Roman" panose="02020603050405020304" charset="0"/>
                          <a:cs typeface="Times New Roman" panose="02020603050405020304" charset="0"/>
                        </a:rPr>
                        <a:t>-</a:t>
                      </a:r>
                      <a:endParaRPr lang="en-IN" altLang="en-GB" sz="1400">
                        <a:solidFill>
                          <a:schemeClr val="tx1"/>
                        </a:solidFill>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sz="1400">
                          <a:solidFill>
                            <a:schemeClr val="tx1"/>
                          </a:solidFill>
                          <a:latin typeface="Times New Roman" panose="02020603050405020304" charset="0"/>
                          <a:cs typeface="Times New Roman" panose="02020603050405020304" charset="0"/>
                        </a:rPr>
                        <a:t>0.598 mW</a:t>
                      </a:r>
                      <a:endParaRPr lang="en-IN" altLang="en-GB" sz="1400">
                        <a:solidFill>
                          <a:schemeClr val="tx1"/>
                        </a:solidFill>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Text Box 6"/>
          <p:cNvSpPr txBox="1"/>
          <p:nvPr/>
        </p:nvSpPr>
        <p:spPr>
          <a:xfrm>
            <a:off x="799465" y="655320"/>
            <a:ext cx="4064000" cy="368300"/>
          </a:xfrm>
          <a:prstGeom prst="rect">
            <a:avLst/>
          </a:prstGeom>
          <a:noFill/>
        </p:spPr>
        <p:txBody>
          <a:bodyPr wrap="square" rtlCol="0">
            <a:spAutoFit/>
          </a:bodyPr>
          <a:p>
            <a:pPr indent="0">
              <a:buFont typeface="Arial" panose="020B0604020202020204" pitchFamily="34" charset="0"/>
              <a:buNone/>
            </a:pPr>
            <a:r>
              <a:rPr lang="en-US" altLang="en-GB" b="1" u="sng">
                <a:latin typeface="Times New Roman" panose="02020603050405020304" charset="0"/>
                <a:cs typeface="Times New Roman" panose="02020603050405020304" charset="0"/>
              </a:rPr>
              <a:t>2.</a:t>
            </a:r>
            <a:r>
              <a:rPr lang="en-US" altLang="en-GB" b="1">
                <a:latin typeface="Times New Roman" panose="02020603050405020304" charset="0"/>
                <a:cs typeface="Times New Roman" panose="02020603050405020304" charset="0"/>
              </a:rPr>
              <a:t>   </a:t>
            </a:r>
            <a:r>
              <a:rPr lang="en-US" altLang="en-GB" b="1" u="sng">
                <a:latin typeface="Times New Roman" panose="02020603050405020304" charset="0"/>
                <a:cs typeface="Times New Roman" panose="02020603050405020304" charset="0"/>
              </a:rPr>
              <a:t>90 nM Technology Node :</a:t>
            </a:r>
            <a:endParaRPr lang="en-US" altLang="en-GB" b="1" u="sng">
              <a:latin typeface="Times New Roman" panose="02020603050405020304" charset="0"/>
              <a:cs typeface="Times New Roman" panose="02020603050405020304" charset="0"/>
            </a:endParaRPr>
          </a:p>
        </p:txBody>
      </p:sp>
      <p:graphicFrame>
        <p:nvGraphicFramePr>
          <p:cNvPr id="2" name="Table 1"/>
          <p:cNvGraphicFramePr/>
          <p:nvPr>
            <p:custDataLst>
              <p:tags r:id="rId1"/>
            </p:custDataLst>
          </p:nvPr>
        </p:nvGraphicFramePr>
        <p:xfrm>
          <a:off x="1253490" y="1717675"/>
          <a:ext cx="9930765" cy="4348480"/>
        </p:xfrm>
        <a:graphic>
          <a:graphicData uri="http://schemas.openxmlformats.org/drawingml/2006/table">
            <a:tbl>
              <a:tblPr firstRow="1" bandRow="1">
                <a:tableStyleId>{5C22544A-7EE6-4342-B048-85BDC9FD1C3A}</a:tableStyleId>
              </a:tblPr>
              <a:tblGrid>
                <a:gridCol w="1436370"/>
                <a:gridCol w="2574290"/>
                <a:gridCol w="3220720"/>
                <a:gridCol w="2410460"/>
              </a:tblGrid>
              <a:tr h="697865">
                <a:tc>
                  <a:txBody>
                    <a:bodyPr/>
                    <a:p>
                      <a:pPr algn="ctr">
                        <a:buNone/>
                      </a:pPr>
                      <a:r>
                        <a:rPr lang="en-IN" altLang="en-GB">
                          <a:latin typeface="Times New Roman" panose="02020603050405020304" charset="0"/>
                          <a:cs typeface="Times New Roman" panose="02020603050405020304" charset="0"/>
                        </a:rPr>
                        <a:t>VDD</a:t>
                      </a:r>
                      <a:endParaRPr lang="en-IN" altLang="en-GB">
                        <a:latin typeface="Times New Roman" panose="02020603050405020304" charset="0"/>
                        <a:cs typeface="Times New Roman" panose="02020603050405020304" charset="0"/>
                      </a:endParaRPr>
                    </a:p>
                  </a:txBody>
                  <a:tcPr anchor="ctr"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a:latin typeface="Times New Roman" panose="02020603050405020304" charset="0"/>
                          <a:cs typeface="Times New Roman" panose="02020603050405020304" charset="0"/>
                        </a:rPr>
                        <a:t>Measurement </a:t>
                      </a:r>
                      <a:endParaRPr lang="en-IN" altLang="en-GB">
                        <a:latin typeface="Times New Roman" panose="02020603050405020304" charset="0"/>
                        <a:cs typeface="Times New Roman" panose="02020603050405020304" charset="0"/>
                      </a:endParaRPr>
                    </a:p>
                  </a:txBody>
                  <a:tcPr anchor="ctr"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a:latin typeface="Times New Roman" panose="02020603050405020304" charset="0"/>
                          <a:cs typeface="Times New Roman" panose="02020603050405020304" charset="0"/>
                        </a:rPr>
                        <a:t>    Literature Paper Values </a:t>
                      </a:r>
                      <a:endParaRPr lang="en-IN" altLang="en-GB">
                        <a:latin typeface="Times New Roman" panose="02020603050405020304" charset="0"/>
                        <a:cs typeface="Times New Roman" panose="02020603050405020304" charset="0"/>
                      </a:endParaRPr>
                    </a:p>
                    <a:p>
                      <a:pPr algn="ctr">
                        <a:buNone/>
                      </a:pPr>
                      <a:r>
                        <a:rPr lang="en-IN" altLang="en-GB">
                          <a:latin typeface="Times New Roman" panose="02020603050405020304" charset="0"/>
                          <a:cs typeface="Times New Roman" panose="02020603050405020304" charset="0"/>
                        </a:rPr>
                        <a:t>         ( Ideal Values )</a:t>
                      </a:r>
                      <a:endParaRPr lang="en-IN" altLang="en-GB">
                        <a:latin typeface="Times New Roman" panose="02020603050405020304" charset="0"/>
                        <a:cs typeface="Times New Roman" panose="02020603050405020304" charset="0"/>
                      </a:endParaRPr>
                    </a:p>
                  </a:txBody>
                  <a:tcPr anchor="ctr"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a:latin typeface="Times New Roman" panose="02020603050405020304" charset="0"/>
                          <a:cs typeface="Times New Roman" panose="02020603050405020304" charset="0"/>
                        </a:rPr>
                        <a:t>Practical Values</a:t>
                      </a:r>
                      <a:endParaRPr lang="en-IN" altLang="en-GB">
                        <a:latin typeface="Times New Roman" panose="02020603050405020304" charset="0"/>
                        <a:cs typeface="Times New Roman" panose="02020603050405020304" charset="0"/>
                      </a:endParaRPr>
                    </a:p>
                  </a:txBody>
                  <a:tcPr anchor="ctr"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r>
              <a:tr h="692785">
                <a:tc>
                  <a:txBody>
                    <a:bodyPr/>
                    <a:p>
                      <a:pPr algn="ctr">
                        <a:lnSpc>
                          <a:spcPct val="114000"/>
                        </a:lnSpc>
                        <a:spcBef>
                          <a:spcPct val="0"/>
                        </a:spcBef>
                        <a:spcAft>
                          <a:spcPts val="1000"/>
                        </a:spcAft>
                      </a:pPr>
                      <a:r>
                        <a:rPr sz="1400">
                          <a:latin typeface="Times New Roman" panose="02020603050405020304" charset="0"/>
                          <a:cs typeface="Times New Roman" panose="02020603050405020304" charset="0"/>
                        </a:rPr>
                        <a:t>1.0V</a:t>
                      </a:r>
                      <a:endParaRPr sz="1400">
                        <a:latin typeface="Times New Roman" panose="02020603050405020304" charset="0"/>
                        <a:cs typeface="Times New Roman" panose="02020603050405020304" charset="0"/>
                      </a:endParaRPr>
                    </a:p>
                  </a:txBody>
                  <a:tcPr marL="68580" marR="68580" marT="0" marB="0" anchor="t"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lnSpc>
                          <a:spcPct val="114000"/>
                        </a:lnSpc>
                        <a:spcBef>
                          <a:spcPct val="0"/>
                        </a:spcBef>
                        <a:spcAft>
                          <a:spcPts val="1000"/>
                        </a:spcAft>
                      </a:pPr>
                      <a:r>
                        <a:rPr sz="1400">
                          <a:latin typeface="Times New Roman" panose="02020603050405020304" charset="0"/>
                          <a:cs typeface="Times New Roman" panose="02020603050405020304" charset="0"/>
                        </a:rPr>
                        <a:t>Rising to Falling</a:t>
                      </a:r>
                      <a:r>
                        <a:rPr lang="en-IN" sz="1400">
                          <a:latin typeface="Times New Roman" panose="02020603050405020304" charset="0"/>
                          <a:cs typeface="Times New Roman" panose="02020603050405020304" charset="0"/>
                        </a:rPr>
                        <a:t> </a:t>
                      </a:r>
                      <a:r>
                        <a:rPr sz="1400">
                          <a:latin typeface="Times New Roman" panose="02020603050405020304" charset="0"/>
                          <a:cs typeface="Times New Roman" panose="02020603050405020304" charset="0"/>
                        </a:rPr>
                        <a:t>Delay</a:t>
                      </a:r>
                      <a:endParaRPr sz="1400">
                        <a:latin typeface="Times New Roman" panose="02020603050405020304" charset="0"/>
                        <a:cs typeface="Times New Roman" panose="02020603050405020304" charset="0"/>
                      </a:endParaRPr>
                    </a:p>
                    <a:p>
                      <a:pPr algn="ctr">
                        <a:lnSpc>
                          <a:spcPct val="114000"/>
                        </a:lnSpc>
                        <a:spcBef>
                          <a:spcPct val="0"/>
                        </a:spcBef>
                        <a:spcAft>
                          <a:spcPts val="1000"/>
                        </a:spcAft>
                      </a:pPr>
                      <a:r>
                        <a:rPr sz="1400">
                          <a:latin typeface="Times New Roman" panose="02020603050405020304" charset="0"/>
                          <a:cs typeface="Times New Roman" panose="02020603050405020304" charset="0"/>
                        </a:rPr>
                        <a:t>1→0 </a:t>
                      </a:r>
                      <a:endParaRPr lang="en-GB" altLang="en-US" sz="1400">
                        <a:latin typeface="Times New Roman" panose="02020603050405020304" charset="0"/>
                        <a:cs typeface="Times New Roman" panose="02020603050405020304" charset="0"/>
                      </a:endParaRPr>
                    </a:p>
                  </a:txBody>
                  <a:tcPr anchor="ctr"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sz="1400">
                          <a:latin typeface="Times New Roman" panose="02020603050405020304" charset="0"/>
                          <a:cs typeface="Times New Roman" panose="02020603050405020304" charset="0"/>
                        </a:rPr>
                        <a:t>0.0912 ns</a:t>
                      </a:r>
                      <a:endParaRPr lang="en-IN" altLang="en-GB" sz="14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sz="1400">
                          <a:latin typeface="Times New Roman" panose="02020603050405020304" charset="0"/>
                          <a:cs typeface="Times New Roman" panose="02020603050405020304" charset="0"/>
                        </a:rPr>
                        <a:t>0.098 ns</a:t>
                      </a:r>
                      <a:endParaRPr lang="en-IN" altLang="en-GB" sz="14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r>
              <a:tr h="692150">
                <a:tc>
                  <a:txBody>
                    <a:bodyPr/>
                    <a:p>
                      <a:pPr algn="ctr">
                        <a:lnSpc>
                          <a:spcPct val="114000"/>
                        </a:lnSpc>
                        <a:spcBef>
                          <a:spcPct val="0"/>
                        </a:spcBef>
                        <a:spcAft>
                          <a:spcPts val="1000"/>
                        </a:spcAft>
                      </a:pPr>
                      <a:r>
                        <a:rPr sz="1400">
                          <a:latin typeface="Times New Roman" panose="02020603050405020304" charset="0"/>
                          <a:cs typeface="Times New Roman" panose="02020603050405020304" charset="0"/>
                        </a:rPr>
                        <a:t>1.0V</a:t>
                      </a:r>
                      <a:endParaRPr sz="1400">
                        <a:latin typeface="Times New Roman" panose="02020603050405020304" charset="0"/>
                        <a:cs typeface="Times New Roman" panose="02020603050405020304" charset="0"/>
                      </a:endParaRPr>
                    </a:p>
                  </a:txBody>
                  <a:tcPr marL="68580" marR="68580" marT="0" marB="0" anchor="t"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lnSpc>
                          <a:spcPct val="114000"/>
                        </a:lnSpc>
                        <a:spcBef>
                          <a:spcPct val="0"/>
                        </a:spcBef>
                        <a:spcAft>
                          <a:spcPts val="1000"/>
                        </a:spcAft>
                      </a:pPr>
                      <a:r>
                        <a:rPr lang="en-US" altLang="en-GB" sz="1400">
                          <a:latin typeface="Times New Roman" panose="02020603050405020304" charset="0"/>
                          <a:cs typeface="Times New Roman" panose="02020603050405020304" charset="0"/>
                        </a:rPr>
                        <a:t>Falling to Rising</a:t>
                      </a:r>
                      <a:r>
                        <a:rPr lang="en-IN" altLang="en-US" sz="1400">
                          <a:latin typeface="Times New Roman" panose="02020603050405020304" charset="0"/>
                          <a:cs typeface="Times New Roman" panose="02020603050405020304" charset="0"/>
                        </a:rPr>
                        <a:t> </a:t>
                      </a:r>
                      <a:r>
                        <a:rPr sz="1400">
                          <a:latin typeface="Times New Roman" panose="02020603050405020304" charset="0"/>
                          <a:cs typeface="Times New Roman" panose="02020603050405020304" charset="0"/>
                        </a:rPr>
                        <a:t>Delay</a:t>
                      </a:r>
                      <a:endParaRPr lang="en-US" altLang="en-GB" sz="1400">
                        <a:latin typeface="Times New Roman" panose="02020603050405020304" charset="0"/>
                        <a:cs typeface="Times New Roman" panose="02020603050405020304" charset="0"/>
                      </a:endParaRPr>
                    </a:p>
                    <a:p>
                      <a:pPr algn="ctr">
                        <a:lnSpc>
                          <a:spcPct val="114000"/>
                        </a:lnSpc>
                        <a:spcBef>
                          <a:spcPct val="0"/>
                        </a:spcBef>
                        <a:spcAft>
                          <a:spcPts val="1000"/>
                        </a:spcAft>
                      </a:pPr>
                      <a:r>
                        <a:rPr lang="en-US" altLang="en-GB" sz="1400">
                          <a:latin typeface="Times New Roman" panose="02020603050405020304" charset="0"/>
                          <a:cs typeface="Times New Roman" panose="02020603050405020304" charset="0"/>
                        </a:rPr>
                        <a:t>0</a:t>
                      </a:r>
                      <a:r>
                        <a:rPr lang="en-US" altLang="en-US" sz="1400">
                          <a:latin typeface="Times New Roman" panose="02020603050405020304" charset="0"/>
                          <a:cs typeface="Times New Roman" panose="02020603050405020304" charset="0"/>
                        </a:rPr>
                        <a:t>→</a:t>
                      </a:r>
                      <a:r>
                        <a:rPr lang="en-US" altLang="en-GB" sz="1400">
                          <a:latin typeface="Times New Roman" panose="02020603050405020304" charset="0"/>
                          <a:cs typeface="Times New Roman" panose="02020603050405020304" charset="0"/>
                        </a:rPr>
                        <a:t>1 </a:t>
                      </a:r>
                      <a:endParaRPr lang="en-US" altLang="en-GB" sz="1400">
                        <a:latin typeface="Times New Roman" panose="02020603050405020304" charset="0"/>
                        <a:cs typeface="Times New Roman" panose="02020603050405020304" charset="0"/>
                      </a:endParaRPr>
                    </a:p>
                  </a:txBody>
                  <a:tcPr anchor="ctr"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sz="1400">
                          <a:latin typeface="Times New Roman" panose="02020603050405020304" charset="0"/>
                          <a:cs typeface="Times New Roman" panose="02020603050405020304" charset="0"/>
                        </a:rPr>
                        <a:t>0.1403 ns</a:t>
                      </a:r>
                      <a:endParaRPr lang="en-IN" altLang="en-GB" sz="14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sz="1400">
                          <a:latin typeface="Times New Roman" panose="02020603050405020304" charset="0"/>
                          <a:cs typeface="Times New Roman" panose="02020603050405020304" charset="0"/>
                        </a:rPr>
                        <a:t>0.100 ns</a:t>
                      </a:r>
                      <a:endParaRPr lang="en-IN" altLang="en-GB" sz="14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r>
              <a:tr h="692785">
                <a:tc>
                  <a:txBody>
                    <a:bodyPr/>
                    <a:p>
                      <a:pPr algn="ctr">
                        <a:lnSpc>
                          <a:spcPct val="114000"/>
                        </a:lnSpc>
                        <a:spcBef>
                          <a:spcPct val="0"/>
                        </a:spcBef>
                        <a:spcAft>
                          <a:spcPts val="1000"/>
                        </a:spcAft>
                      </a:pPr>
                      <a:r>
                        <a:rPr sz="1400">
                          <a:latin typeface="Times New Roman" panose="02020603050405020304" charset="0"/>
                          <a:cs typeface="Times New Roman" panose="02020603050405020304" charset="0"/>
                        </a:rPr>
                        <a:t>1.2V</a:t>
                      </a:r>
                      <a:endParaRPr sz="1400">
                        <a:latin typeface="Times New Roman" panose="02020603050405020304" charset="0"/>
                        <a:cs typeface="Times New Roman" panose="02020603050405020304" charset="0"/>
                      </a:endParaRPr>
                    </a:p>
                  </a:txBody>
                  <a:tcPr marL="68580" marR="68580" marT="0" marB="0" anchor="t"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lnSpc>
                          <a:spcPct val="114000"/>
                        </a:lnSpc>
                        <a:spcBef>
                          <a:spcPct val="0"/>
                        </a:spcBef>
                        <a:spcAft>
                          <a:spcPts val="1000"/>
                        </a:spcAft>
                      </a:pPr>
                      <a:r>
                        <a:rPr sz="1400">
                          <a:latin typeface="Times New Roman" panose="02020603050405020304" charset="0"/>
                          <a:cs typeface="Times New Roman" panose="02020603050405020304" charset="0"/>
                        </a:rPr>
                        <a:t>Rising to Falling</a:t>
                      </a:r>
                      <a:r>
                        <a:rPr lang="en-IN" sz="1400">
                          <a:latin typeface="Times New Roman" panose="02020603050405020304" charset="0"/>
                          <a:cs typeface="Times New Roman" panose="02020603050405020304" charset="0"/>
                        </a:rPr>
                        <a:t> </a:t>
                      </a:r>
                      <a:r>
                        <a:rPr sz="1400">
                          <a:latin typeface="Times New Roman" panose="02020603050405020304" charset="0"/>
                          <a:cs typeface="Times New Roman" panose="02020603050405020304" charset="0"/>
                        </a:rPr>
                        <a:t>Delay</a:t>
                      </a:r>
                      <a:endParaRPr sz="1400">
                        <a:latin typeface="Times New Roman" panose="02020603050405020304" charset="0"/>
                        <a:cs typeface="Times New Roman" panose="02020603050405020304" charset="0"/>
                      </a:endParaRPr>
                    </a:p>
                    <a:p>
                      <a:pPr algn="ctr">
                        <a:lnSpc>
                          <a:spcPct val="114000"/>
                        </a:lnSpc>
                        <a:spcBef>
                          <a:spcPct val="0"/>
                        </a:spcBef>
                        <a:spcAft>
                          <a:spcPts val="1000"/>
                        </a:spcAft>
                      </a:pPr>
                      <a:r>
                        <a:rPr sz="1400">
                          <a:latin typeface="Times New Roman" panose="02020603050405020304" charset="0"/>
                          <a:cs typeface="Times New Roman" panose="02020603050405020304" charset="0"/>
                        </a:rPr>
                        <a:t>1→0 </a:t>
                      </a:r>
                      <a:endParaRPr lang="en-GB" altLang="en-US" sz="1400">
                        <a:latin typeface="Times New Roman" panose="02020603050405020304" charset="0"/>
                        <a:cs typeface="Times New Roman" panose="02020603050405020304" charset="0"/>
                      </a:endParaRPr>
                    </a:p>
                  </a:txBody>
                  <a:tcPr anchor="ctr"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sz="1400">
                          <a:latin typeface="Times New Roman" panose="02020603050405020304" charset="0"/>
                          <a:cs typeface="Times New Roman" panose="02020603050405020304" charset="0"/>
                        </a:rPr>
                        <a:t>0.067 ns</a:t>
                      </a:r>
                      <a:endParaRPr lang="en-IN" altLang="en-GB" sz="14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sz="1400">
                          <a:latin typeface="Times New Roman" panose="02020603050405020304" charset="0"/>
                          <a:cs typeface="Times New Roman" panose="02020603050405020304" charset="0"/>
                        </a:rPr>
                        <a:t>0.039 ns</a:t>
                      </a:r>
                      <a:endParaRPr lang="en-IN" altLang="en-GB" sz="14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r>
              <a:tr h="692150">
                <a:tc>
                  <a:txBody>
                    <a:bodyPr/>
                    <a:p>
                      <a:pPr algn="ctr">
                        <a:lnSpc>
                          <a:spcPct val="114000"/>
                        </a:lnSpc>
                        <a:spcBef>
                          <a:spcPct val="0"/>
                        </a:spcBef>
                        <a:spcAft>
                          <a:spcPts val="1000"/>
                        </a:spcAft>
                      </a:pPr>
                      <a:r>
                        <a:rPr sz="1400">
                          <a:latin typeface="Times New Roman" panose="02020603050405020304" charset="0"/>
                          <a:cs typeface="Times New Roman" panose="02020603050405020304" charset="0"/>
                        </a:rPr>
                        <a:t>1.2V</a:t>
                      </a:r>
                      <a:endParaRPr sz="1400">
                        <a:latin typeface="Times New Roman" panose="02020603050405020304" charset="0"/>
                        <a:cs typeface="Times New Roman" panose="02020603050405020304" charset="0"/>
                      </a:endParaRPr>
                    </a:p>
                  </a:txBody>
                  <a:tcPr marL="68580" marR="68580" marT="0" marB="0" anchor="t"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lnSpc>
                          <a:spcPct val="114000"/>
                        </a:lnSpc>
                        <a:spcBef>
                          <a:spcPct val="0"/>
                        </a:spcBef>
                        <a:spcAft>
                          <a:spcPts val="1000"/>
                        </a:spcAft>
                      </a:pPr>
                      <a:r>
                        <a:rPr sz="1400">
                          <a:latin typeface="Times New Roman" panose="02020603050405020304" charset="0"/>
                          <a:cs typeface="Times New Roman" panose="02020603050405020304" charset="0"/>
                        </a:rPr>
                        <a:t>Falling to Rising</a:t>
                      </a:r>
                      <a:r>
                        <a:rPr lang="en-IN" sz="1400">
                          <a:latin typeface="Times New Roman" panose="02020603050405020304" charset="0"/>
                          <a:cs typeface="Times New Roman" panose="02020603050405020304" charset="0"/>
                        </a:rPr>
                        <a:t> </a:t>
                      </a:r>
                      <a:r>
                        <a:rPr sz="1400">
                          <a:latin typeface="Times New Roman" panose="02020603050405020304" charset="0"/>
                          <a:cs typeface="Times New Roman" panose="02020603050405020304" charset="0"/>
                        </a:rPr>
                        <a:t>Delay</a:t>
                      </a:r>
                      <a:endParaRPr sz="1400">
                        <a:latin typeface="Times New Roman" panose="02020603050405020304" charset="0"/>
                        <a:cs typeface="Times New Roman" panose="02020603050405020304" charset="0"/>
                      </a:endParaRPr>
                    </a:p>
                    <a:p>
                      <a:pPr algn="ctr">
                        <a:lnSpc>
                          <a:spcPct val="114000"/>
                        </a:lnSpc>
                        <a:spcBef>
                          <a:spcPct val="0"/>
                        </a:spcBef>
                        <a:spcAft>
                          <a:spcPts val="1000"/>
                        </a:spcAft>
                      </a:pPr>
                      <a:r>
                        <a:rPr sz="1400">
                          <a:latin typeface="Times New Roman" panose="02020603050405020304" charset="0"/>
                          <a:cs typeface="Times New Roman" panose="02020603050405020304" charset="0"/>
                        </a:rPr>
                        <a:t>0→1 </a:t>
                      </a:r>
                      <a:endParaRPr lang="en-GB" altLang="en-US" sz="1400">
                        <a:latin typeface="Times New Roman" panose="02020603050405020304" charset="0"/>
                        <a:cs typeface="Times New Roman" panose="02020603050405020304" charset="0"/>
                      </a:endParaRPr>
                    </a:p>
                  </a:txBody>
                  <a:tcPr anchor="ctr"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sz="1400">
                          <a:latin typeface="Times New Roman" panose="02020603050405020304" charset="0"/>
                          <a:cs typeface="Times New Roman" panose="02020603050405020304" charset="0"/>
                        </a:rPr>
                        <a:t>0.119 ns</a:t>
                      </a:r>
                      <a:endParaRPr lang="en-IN" altLang="en-GB" sz="14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sz="1400">
                          <a:latin typeface="Times New Roman" panose="02020603050405020304" charset="0"/>
                          <a:cs typeface="Times New Roman" panose="02020603050405020304" charset="0"/>
                        </a:rPr>
                        <a:t>0.100 ns</a:t>
                      </a:r>
                      <a:endParaRPr lang="en-IN" altLang="en-GB" sz="14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r>
              <a:tr h="415925">
                <a:tc>
                  <a:txBody>
                    <a:bodyPr/>
                    <a:p>
                      <a:pPr algn="ctr">
                        <a:lnSpc>
                          <a:spcPct val="114000"/>
                        </a:lnSpc>
                        <a:spcBef>
                          <a:spcPct val="0"/>
                        </a:spcBef>
                        <a:spcAft>
                          <a:spcPts val="1000"/>
                        </a:spcAft>
                      </a:pPr>
                      <a:r>
                        <a:rPr sz="1400">
                          <a:latin typeface="Times New Roman" panose="02020603050405020304" charset="0"/>
                          <a:cs typeface="Times New Roman" panose="02020603050405020304" charset="0"/>
                        </a:rPr>
                        <a:t>1.2V</a:t>
                      </a:r>
                      <a:endParaRPr sz="1400">
                        <a:latin typeface="Times New Roman" panose="02020603050405020304" charset="0"/>
                        <a:cs typeface="Times New Roman" panose="02020603050405020304" charset="0"/>
                      </a:endParaRPr>
                    </a:p>
                  </a:txBody>
                  <a:tcPr marL="68580" marR="68580" marT="0" marB="0" anchor="t"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sz="1400">
                          <a:latin typeface="Times New Roman" panose="02020603050405020304" charset="0"/>
                          <a:cs typeface="Times New Roman" panose="02020603050405020304" charset="0"/>
                        </a:rPr>
                        <a:t>Avg Power at</a:t>
                      </a:r>
                      <a:r>
                        <a:rPr lang="en-IN" sz="1400">
                          <a:latin typeface="Times New Roman" panose="02020603050405020304" charset="0"/>
                          <a:cs typeface="Times New Roman" panose="02020603050405020304" charset="0"/>
                        </a:rPr>
                        <a:t> Q</a:t>
                      </a:r>
                      <a:endParaRPr lang="en-IN" sz="1400">
                        <a:latin typeface="Times New Roman" panose="02020603050405020304" charset="0"/>
                        <a:cs typeface="Times New Roman" panose="02020603050405020304" charset="0"/>
                      </a:endParaRPr>
                    </a:p>
                  </a:txBody>
                  <a:tcPr anchor="ctr"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sz="1400">
                          <a:latin typeface="Times New Roman" panose="02020603050405020304" charset="0"/>
                          <a:cs typeface="Times New Roman" panose="02020603050405020304" charset="0"/>
                        </a:rPr>
                        <a:t>-</a:t>
                      </a:r>
                      <a:endParaRPr lang="en-IN" altLang="en-GB" sz="14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sz="1400">
                          <a:latin typeface="Times New Roman" panose="02020603050405020304" charset="0"/>
                          <a:cs typeface="Times New Roman" panose="02020603050405020304" charset="0"/>
                        </a:rPr>
                        <a:t>0.625 mW</a:t>
                      </a:r>
                      <a:endParaRPr lang="en-IN" altLang="en-GB" sz="14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r>
              <a:tr h="415290">
                <a:tc>
                  <a:txBody>
                    <a:bodyPr/>
                    <a:p>
                      <a:pPr algn="ctr">
                        <a:lnSpc>
                          <a:spcPct val="114000"/>
                        </a:lnSpc>
                        <a:spcBef>
                          <a:spcPct val="0"/>
                        </a:spcBef>
                        <a:spcAft>
                          <a:spcPts val="1000"/>
                        </a:spcAft>
                      </a:pPr>
                      <a:r>
                        <a:rPr sz="1400">
                          <a:latin typeface="Times New Roman" panose="02020603050405020304" charset="0"/>
                          <a:cs typeface="Times New Roman" panose="02020603050405020304" charset="0"/>
                        </a:rPr>
                        <a:t>1.</a:t>
                      </a:r>
                      <a:r>
                        <a:rPr lang="en-IN" sz="1400">
                          <a:latin typeface="Times New Roman" panose="02020603050405020304" charset="0"/>
                          <a:cs typeface="Times New Roman" panose="02020603050405020304" charset="0"/>
                        </a:rPr>
                        <a:t>2</a:t>
                      </a:r>
                      <a:r>
                        <a:rPr sz="1400">
                          <a:latin typeface="Times New Roman" panose="02020603050405020304" charset="0"/>
                          <a:cs typeface="Times New Roman" panose="02020603050405020304" charset="0"/>
                        </a:rPr>
                        <a:t>V</a:t>
                      </a:r>
                      <a:endParaRPr sz="1400">
                        <a:latin typeface="Times New Roman" panose="02020603050405020304" charset="0"/>
                        <a:cs typeface="Times New Roman" panose="02020603050405020304" charset="0"/>
                      </a:endParaRPr>
                    </a:p>
                  </a:txBody>
                  <a:tcPr marL="68580" marR="68580" marT="0" marB="0" anchor="t"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sz="1400">
                          <a:latin typeface="Times New Roman" panose="02020603050405020304" charset="0"/>
                          <a:cs typeface="Times New Roman" panose="02020603050405020304" charset="0"/>
                        </a:rPr>
                        <a:t>Avg Power at</a:t>
                      </a:r>
                      <a:r>
                        <a:rPr lang="en-IN" sz="1400">
                          <a:latin typeface="Times New Roman" panose="02020603050405020304" charset="0"/>
                          <a:cs typeface="Times New Roman" panose="02020603050405020304" charset="0"/>
                        </a:rPr>
                        <a:t> Qbar</a:t>
                      </a:r>
                      <a:endParaRPr lang="en-IN" sz="1400">
                        <a:latin typeface="Times New Roman" panose="02020603050405020304" charset="0"/>
                        <a:cs typeface="Times New Roman" panose="02020603050405020304" charset="0"/>
                      </a:endParaRPr>
                    </a:p>
                  </a:txBody>
                  <a:tcPr anchor="ctr"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sz="1400">
                          <a:latin typeface="Times New Roman" panose="02020603050405020304" charset="0"/>
                          <a:cs typeface="Times New Roman" panose="02020603050405020304" charset="0"/>
                        </a:rPr>
                        <a:t>-</a:t>
                      </a:r>
                      <a:endParaRPr lang="en-IN" altLang="en-GB" sz="14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sz="1400">
                          <a:latin typeface="Times New Roman" panose="02020603050405020304" charset="0"/>
                          <a:cs typeface="Times New Roman" panose="02020603050405020304" charset="0"/>
                        </a:rPr>
                        <a:t>0.403 mW</a:t>
                      </a:r>
                      <a:endParaRPr lang="en-IN" altLang="en-GB" sz="14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Text Box 5"/>
          <p:cNvSpPr txBox="1"/>
          <p:nvPr/>
        </p:nvSpPr>
        <p:spPr>
          <a:xfrm>
            <a:off x="791210" y="655320"/>
            <a:ext cx="4110990" cy="368300"/>
          </a:xfrm>
          <a:prstGeom prst="rect">
            <a:avLst/>
          </a:prstGeom>
          <a:noFill/>
        </p:spPr>
        <p:txBody>
          <a:bodyPr wrap="square" rtlCol="0">
            <a:spAutoFit/>
          </a:bodyPr>
          <a:p>
            <a:pPr indent="0">
              <a:buFont typeface="Arial" panose="020B0604020202020204" pitchFamily="34" charset="0"/>
              <a:buNone/>
            </a:pPr>
            <a:r>
              <a:rPr lang="en-US" altLang="en-GB" b="1" u="sng">
                <a:latin typeface="Times New Roman" panose="02020603050405020304" charset="0"/>
                <a:cs typeface="Times New Roman" panose="02020603050405020304" charset="0"/>
              </a:rPr>
              <a:t>3.</a:t>
            </a:r>
            <a:r>
              <a:rPr lang="en-US" altLang="en-GB" b="1">
                <a:latin typeface="Times New Roman" panose="02020603050405020304" charset="0"/>
                <a:cs typeface="Times New Roman" panose="02020603050405020304" charset="0"/>
              </a:rPr>
              <a:t> </a:t>
            </a:r>
            <a:r>
              <a:rPr lang="en-US" altLang="en-GB" b="1" u="sng">
                <a:latin typeface="Times New Roman" panose="02020603050405020304" charset="0"/>
                <a:cs typeface="Times New Roman" panose="02020603050405020304" charset="0"/>
              </a:rPr>
              <a:t> 45</a:t>
            </a:r>
            <a:r>
              <a:rPr lang="en-US" altLang="en-GB" b="1" u="sng">
                <a:latin typeface="Times New Roman" panose="02020603050405020304" charset="0"/>
                <a:cs typeface="Times New Roman" panose="02020603050405020304" charset="0"/>
              </a:rPr>
              <a:t> nM Technology Node :</a:t>
            </a:r>
            <a:endParaRPr lang="en-US" altLang="en-GB" b="1" u="sng">
              <a:latin typeface="Times New Roman" panose="02020603050405020304" charset="0"/>
              <a:cs typeface="Times New Roman" panose="02020603050405020304" charset="0"/>
            </a:endParaRPr>
          </a:p>
        </p:txBody>
      </p:sp>
      <p:graphicFrame>
        <p:nvGraphicFramePr>
          <p:cNvPr id="3" name="Table 2"/>
          <p:cNvGraphicFramePr/>
          <p:nvPr>
            <p:custDataLst>
              <p:tags r:id="rId1"/>
            </p:custDataLst>
          </p:nvPr>
        </p:nvGraphicFramePr>
        <p:xfrm>
          <a:off x="1253490" y="1717675"/>
          <a:ext cx="9930765" cy="4348480"/>
        </p:xfrm>
        <a:graphic>
          <a:graphicData uri="http://schemas.openxmlformats.org/drawingml/2006/table">
            <a:tbl>
              <a:tblPr firstRow="1" bandRow="1">
                <a:tableStyleId>{5C22544A-7EE6-4342-B048-85BDC9FD1C3A}</a:tableStyleId>
              </a:tblPr>
              <a:tblGrid>
                <a:gridCol w="1436370"/>
                <a:gridCol w="2574290"/>
                <a:gridCol w="3220720"/>
                <a:gridCol w="2410460"/>
              </a:tblGrid>
              <a:tr h="697865">
                <a:tc>
                  <a:txBody>
                    <a:bodyPr/>
                    <a:p>
                      <a:pPr algn="ctr">
                        <a:buNone/>
                      </a:pPr>
                      <a:r>
                        <a:rPr lang="en-IN" altLang="en-GB">
                          <a:latin typeface="Times New Roman" panose="02020603050405020304" charset="0"/>
                          <a:cs typeface="Times New Roman" panose="02020603050405020304" charset="0"/>
                        </a:rPr>
                        <a:t>VDD</a:t>
                      </a:r>
                      <a:endParaRPr lang="en-IN" altLang="en-GB">
                        <a:latin typeface="Times New Roman" panose="02020603050405020304" charset="0"/>
                        <a:cs typeface="Times New Roman" panose="02020603050405020304" charset="0"/>
                      </a:endParaRPr>
                    </a:p>
                  </a:txBody>
                  <a:tcPr anchor="ctr"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a:latin typeface="Times New Roman" panose="02020603050405020304" charset="0"/>
                          <a:cs typeface="Times New Roman" panose="02020603050405020304" charset="0"/>
                        </a:rPr>
                        <a:t>Measurement </a:t>
                      </a:r>
                      <a:endParaRPr lang="en-IN" altLang="en-GB">
                        <a:latin typeface="Times New Roman" panose="02020603050405020304" charset="0"/>
                        <a:cs typeface="Times New Roman" panose="02020603050405020304" charset="0"/>
                      </a:endParaRPr>
                    </a:p>
                  </a:txBody>
                  <a:tcPr anchor="ctr"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a:latin typeface="Times New Roman" panose="02020603050405020304" charset="0"/>
                          <a:cs typeface="Times New Roman" panose="02020603050405020304" charset="0"/>
                        </a:rPr>
                        <a:t>    Literature Paper Values </a:t>
                      </a:r>
                      <a:endParaRPr lang="en-IN" altLang="en-GB">
                        <a:latin typeface="Times New Roman" panose="02020603050405020304" charset="0"/>
                        <a:cs typeface="Times New Roman" panose="02020603050405020304" charset="0"/>
                      </a:endParaRPr>
                    </a:p>
                    <a:p>
                      <a:pPr algn="ctr">
                        <a:buNone/>
                      </a:pPr>
                      <a:r>
                        <a:rPr lang="en-IN" altLang="en-GB">
                          <a:latin typeface="Times New Roman" panose="02020603050405020304" charset="0"/>
                          <a:cs typeface="Times New Roman" panose="02020603050405020304" charset="0"/>
                        </a:rPr>
                        <a:t>         ( Ideal Values )</a:t>
                      </a:r>
                      <a:endParaRPr lang="en-IN" altLang="en-GB">
                        <a:latin typeface="Times New Roman" panose="02020603050405020304" charset="0"/>
                        <a:cs typeface="Times New Roman" panose="02020603050405020304" charset="0"/>
                      </a:endParaRPr>
                    </a:p>
                  </a:txBody>
                  <a:tcPr anchor="ctr"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a:latin typeface="Times New Roman" panose="02020603050405020304" charset="0"/>
                          <a:cs typeface="Times New Roman" panose="02020603050405020304" charset="0"/>
                        </a:rPr>
                        <a:t>Practical Values</a:t>
                      </a:r>
                      <a:endParaRPr lang="en-IN" altLang="en-GB">
                        <a:latin typeface="Times New Roman" panose="02020603050405020304" charset="0"/>
                        <a:cs typeface="Times New Roman" panose="02020603050405020304" charset="0"/>
                      </a:endParaRPr>
                    </a:p>
                  </a:txBody>
                  <a:tcPr anchor="ctr"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r>
              <a:tr h="692785">
                <a:tc>
                  <a:txBody>
                    <a:bodyPr/>
                    <a:p>
                      <a:pPr algn="ctr">
                        <a:lnSpc>
                          <a:spcPct val="114000"/>
                        </a:lnSpc>
                        <a:spcBef>
                          <a:spcPct val="0"/>
                        </a:spcBef>
                        <a:spcAft>
                          <a:spcPts val="1000"/>
                        </a:spcAft>
                      </a:pPr>
                      <a:r>
                        <a:rPr sz="1400">
                          <a:latin typeface="Times New Roman" panose="02020603050405020304" charset="0"/>
                          <a:cs typeface="Times New Roman" panose="02020603050405020304" charset="0"/>
                        </a:rPr>
                        <a:t>1.0V</a:t>
                      </a:r>
                      <a:endParaRPr sz="1400">
                        <a:latin typeface="Times New Roman" panose="02020603050405020304" charset="0"/>
                        <a:cs typeface="Times New Roman" panose="02020603050405020304" charset="0"/>
                      </a:endParaRPr>
                    </a:p>
                  </a:txBody>
                  <a:tcPr marL="68580" marR="68580" marT="0" marB="0" anchor="t"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lnSpc>
                          <a:spcPct val="114000"/>
                        </a:lnSpc>
                        <a:spcBef>
                          <a:spcPct val="0"/>
                        </a:spcBef>
                        <a:spcAft>
                          <a:spcPts val="1000"/>
                        </a:spcAft>
                      </a:pPr>
                      <a:r>
                        <a:rPr sz="1400">
                          <a:latin typeface="Times New Roman" panose="02020603050405020304" charset="0"/>
                          <a:cs typeface="Times New Roman" panose="02020603050405020304" charset="0"/>
                        </a:rPr>
                        <a:t>Rising to Falling</a:t>
                      </a:r>
                      <a:r>
                        <a:rPr lang="en-IN" sz="1400">
                          <a:latin typeface="Times New Roman" panose="02020603050405020304" charset="0"/>
                          <a:cs typeface="Times New Roman" panose="02020603050405020304" charset="0"/>
                        </a:rPr>
                        <a:t> </a:t>
                      </a:r>
                      <a:r>
                        <a:rPr sz="1400">
                          <a:latin typeface="Times New Roman" panose="02020603050405020304" charset="0"/>
                          <a:cs typeface="Times New Roman" panose="02020603050405020304" charset="0"/>
                        </a:rPr>
                        <a:t>Delay</a:t>
                      </a:r>
                      <a:endParaRPr sz="1400">
                        <a:latin typeface="Times New Roman" panose="02020603050405020304" charset="0"/>
                        <a:cs typeface="Times New Roman" panose="02020603050405020304" charset="0"/>
                      </a:endParaRPr>
                    </a:p>
                    <a:p>
                      <a:pPr algn="ctr">
                        <a:lnSpc>
                          <a:spcPct val="114000"/>
                        </a:lnSpc>
                        <a:spcBef>
                          <a:spcPct val="0"/>
                        </a:spcBef>
                        <a:spcAft>
                          <a:spcPts val="1000"/>
                        </a:spcAft>
                      </a:pPr>
                      <a:r>
                        <a:rPr sz="1400">
                          <a:latin typeface="Times New Roman" panose="02020603050405020304" charset="0"/>
                          <a:cs typeface="Times New Roman" panose="02020603050405020304" charset="0"/>
                        </a:rPr>
                        <a:t>1→0 </a:t>
                      </a:r>
                      <a:endParaRPr lang="en-GB" altLang="en-US" sz="1400">
                        <a:latin typeface="Times New Roman" panose="02020603050405020304" charset="0"/>
                        <a:cs typeface="Times New Roman" panose="02020603050405020304" charset="0"/>
                      </a:endParaRPr>
                    </a:p>
                  </a:txBody>
                  <a:tcPr anchor="ctr"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sz="1400">
                          <a:latin typeface="Times New Roman" panose="02020603050405020304" charset="0"/>
                          <a:cs typeface="Times New Roman" panose="02020603050405020304" charset="0"/>
                        </a:rPr>
                        <a:t>0.062 ns</a:t>
                      </a:r>
                      <a:endParaRPr lang="en-IN" altLang="en-GB" sz="14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sz="1400">
                          <a:latin typeface="Times New Roman" panose="02020603050405020304" charset="0"/>
                          <a:cs typeface="Times New Roman" panose="02020603050405020304" charset="0"/>
                        </a:rPr>
                        <a:t>0.019 ns</a:t>
                      </a:r>
                      <a:endParaRPr lang="en-IN" altLang="en-GB" sz="14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r>
              <a:tr h="692150">
                <a:tc>
                  <a:txBody>
                    <a:bodyPr/>
                    <a:p>
                      <a:pPr algn="ctr">
                        <a:lnSpc>
                          <a:spcPct val="114000"/>
                        </a:lnSpc>
                        <a:spcBef>
                          <a:spcPct val="0"/>
                        </a:spcBef>
                        <a:spcAft>
                          <a:spcPts val="1000"/>
                        </a:spcAft>
                      </a:pPr>
                      <a:r>
                        <a:rPr sz="1400">
                          <a:latin typeface="Times New Roman" panose="02020603050405020304" charset="0"/>
                          <a:cs typeface="Times New Roman" panose="02020603050405020304" charset="0"/>
                        </a:rPr>
                        <a:t>1.0V</a:t>
                      </a:r>
                      <a:endParaRPr sz="1400">
                        <a:latin typeface="Times New Roman" panose="02020603050405020304" charset="0"/>
                        <a:cs typeface="Times New Roman" panose="02020603050405020304" charset="0"/>
                      </a:endParaRPr>
                    </a:p>
                  </a:txBody>
                  <a:tcPr marL="68580" marR="68580" marT="0" marB="0" anchor="t"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lnSpc>
                          <a:spcPct val="114000"/>
                        </a:lnSpc>
                        <a:spcBef>
                          <a:spcPct val="0"/>
                        </a:spcBef>
                        <a:spcAft>
                          <a:spcPts val="1000"/>
                        </a:spcAft>
                      </a:pPr>
                      <a:r>
                        <a:rPr lang="en-US" altLang="en-GB" sz="1400">
                          <a:latin typeface="Times New Roman" panose="02020603050405020304" charset="0"/>
                          <a:cs typeface="Times New Roman" panose="02020603050405020304" charset="0"/>
                        </a:rPr>
                        <a:t>Falling to Rising</a:t>
                      </a:r>
                      <a:r>
                        <a:rPr lang="en-IN" altLang="en-US" sz="1400">
                          <a:latin typeface="Times New Roman" panose="02020603050405020304" charset="0"/>
                          <a:cs typeface="Times New Roman" panose="02020603050405020304" charset="0"/>
                        </a:rPr>
                        <a:t> </a:t>
                      </a:r>
                      <a:r>
                        <a:rPr sz="1400">
                          <a:latin typeface="Times New Roman" panose="02020603050405020304" charset="0"/>
                          <a:cs typeface="Times New Roman" panose="02020603050405020304" charset="0"/>
                        </a:rPr>
                        <a:t>Delay</a:t>
                      </a:r>
                      <a:endParaRPr lang="en-US" altLang="en-GB" sz="1400">
                        <a:latin typeface="Times New Roman" panose="02020603050405020304" charset="0"/>
                        <a:cs typeface="Times New Roman" panose="02020603050405020304" charset="0"/>
                      </a:endParaRPr>
                    </a:p>
                    <a:p>
                      <a:pPr algn="ctr">
                        <a:lnSpc>
                          <a:spcPct val="114000"/>
                        </a:lnSpc>
                        <a:spcBef>
                          <a:spcPct val="0"/>
                        </a:spcBef>
                        <a:spcAft>
                          <a:spcPts val="1000"/>
                        </a:spcAft>
                      </a:pPr>
                      <a:r>
                        <a:rPr lang="en-US" altLang="en-GB" sz="1400">
                          <a:latin typeface="Times New Roman" panose="02020603050405020304" charset="0"/>
                          <a:cs typeface="Times New Roman" panose="02020603050405020304" charset="0"/>
                        </a:rPr>
                        <a:t>0</a:t>
                      </a:r>
                      <a:r>
                        <a:rPr lang="en-US" altLang="en-US" sz="1400">
                          <a:latin typeface="Times New Roman" panose="02020603050405020304" charset="0"/>
                          <a:cs typeface="Times New Roman" panose="02020603050405020304" charset="0"/>
                        </a:rPr>
                        <a:t>→</a:t>
                      </a:r>
                      <a:r>
                        <a:rPr lang="en-US" altLang="en-GB" sz="1400">
                          <a:latin typeface="Times New Roman" panose="02020603050405020304" charset="0"/>
                          <a:cs typeface="Times New Roman" panose="02020603050405020304" charset="0"/>
                        </a:rPr>
                        <a:t>1 </a:t>
                      </a:r>
                      <a:endParaRPr lang="en-US" altLang="en-GB" sz="1400">
                        <a:latin typeface="Times New Roman" panose="02020603050405020304" charset="0"/>
                        <a:cs typeface="Times New Roman" panose="02020603050405020304" charset="0"/>
                      </a:endParaRPr>
                    </a:p>
                  </a:txBody>
                  <a:tcPr anchor="ctr"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sz="1400">
                          <a:latin typeface="Times New Roman" panose="02020603050405020304" charset="0"/>
                          <a:cs typeface="Times New Roman" panose="02020603050405020304" charset="0"/>
                        </a:rPr>
                        <a:t>0.082 ns</a:t>
                      </a:r>
                      <a:endParaRPr lang="en-IN" altLang="en-GB" sz="14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sz="1400">
                          <a:latin typeface="Times New Roman" panose="02020603050405020304" charset="0"/>
                          <a:cs typeface="Times New Roman" panose="02020603050405020304" charset="0"/>
                        </a:rPr>
                        <a:t>0.020 ns</a:t>
                      </a:r>
                      <a:endParaRPr lang="en-IN" altLang="en-GB" sz="14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r>
              <a:tr h="692785">
                <a:tc>
                  <a:txBody>
                    <a:bodyPr/>
                    <a:p>
                      <a:pPr algn="ctr">
                        <a:lnSpc>
                          <a:spcPct val="114000"/>
                        </a:lnSpc>
                        <a:spcBef>
                          <a:spcPct val="0"/>
                        </a:spcBef>
                        <a:spcAft>
                          <a:spcPts val="1000"/>
                        </a:spcAft>
                      </a:pPr>
                      <a:r>
                        <a:rPr sz="1400">
                          <a:latin typeface="Times New Roman" panose="02020603050405020304" charset="0"/>
                          <a:cs typeface="Times New Roman" panose="02020603050405020304" charset="0"/>
                        </a:rPr>
                        <a:t>1.2V</a:t>
                      </a:r>
                      <a:endParaRPr sz="1400">
                        <a:latin typeface="Times New Roman" panose="02020603050405020304" charset="0"/>
                        <a:cs typeface="Times New Roman" panose="02020603050405020304" charset="0"/>
                      </a:endParaRPr>
                    </a:p>
                  </a:txBody>
                  <a:tcPr marL="68580" marR="68580" marT="0" marB="0" anchor="t"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lnSpc>
                          <a:spcPct val="114000"/>
                        </a:lnSpc>
                        <a:spcBef>
                          <a:spcPct val="0"/>
                        </a:spcBef>
                        <a:spcAft>
                          <a:spcPts val="1000"/>
                        </a:spcAft>
                      </a:pPr>
                      <a:r>
                        <a:rPr sz="1400">
                          <a:latin typeface="Times New Roman" panose="02020603050405020304" charset="0"/>
                          <a:cs typeface="Times New Roman" panose="02020603050405020304" charset="0"/>
                        </a:rPr>
                        <a:t>Rising to Falling</a:t>
                      </a:r>
                      <a:r>
                        <a:rPr lang="en-IN" sz="1400">
                          <a:latin typeface="Times New Roman" panose="02020603050405020304" charset="0"/>
                          <a:cs typeface="Times New Roman" panose="02020603050405020304" charset="0"/>
                        </a:rPr>
                        <a:t> </a:t>
                      </a:r>
                      <a:r>
                        <a:rPr sz="1400">
                          <a:latin typeface="Times New Roman" panose="02020603050405020304" charset="0"/>
                          <a:cs typeface="Times New Roman" panose="02020603050405020304" charset="0"/>
                        </a:rPr>
                        <a:t>Delay</a:t>
                      </a:r>
                      <a:endParaRPr sz="1400">
                        <a:latin typeface="Times New Roman" panose="02020603050405020304" charset="0"/>
                        <a:cs typeface="Times New Roman" panose="02020603050405020304" charset="0"/>
                      </a:endParaRPr>
                    </a:p>
                    <a:p>
                      <a:pPr algn="ctr">
                        <a:lnSpc>
                          <a:spcPct val="114000"/>
                        </a:lnSpc>
                        <a:spcBef>
                          <a:spcPct val="0"/>
                        </a:spcBef>
                        <a:spcAft>
                          <a:spcPts val="1000"/>
                        </a:spcAft>
                      </a:pPr>
                      <a:r>
                        <a:rPr sz="1400">
                          <a:latin typeface="Times New Roman" panose="02020603050405020304" charset="0"/>
                          <a:cs typeface="Times New Roman" panose="02020603050405020304" charset="0"/>
                        </a:rPr>
                        <a:t>1→0 </a:t>
                      </a:r>
                      <a:endParaRPr lang="en-GB" altLang="en-US" sz="1400">
                        <a:latin typeface="Times New Roman" panose="02020603050405020304" charset="0"/>
                        <a:cs typeface="Times New Roman" panose="02020603050405020304" charset="0"/>
                      </a:endParaRPr>
                    </a:p>
                  </a:txBody>
                  <a:tcPr anchor="ctr"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sz="1400">
                          <a:latin typeface="Times New Roman" panose="02020603050405020304" charset="0"/>
                          <a:cs typeface="Times New Roman" panose="02020603050405020304" charset="0"/>
                        </a:rPr>
                        <a:t>0.0378 ns</a:t>
                      </a:r>
                      <a:endParaRPr lang="en-IN" altLang="en-GB" sz="14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sz="1400">
                          <a:latin typeface="Times New Roman" panose="02020603050405020304" charset="0"/>
                          <a:cs typeface="Times New Roman" panose="02020603050405020304" charset="0"/>
                        </a:rPr>
                        <a:t>0.011 ns</a:t>
                      </a:r>
                      <a:endParaRPr lang="en-IN" altLang="en-GB" sz="14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r>
              <a:tr h="692150">
                <a:tc>
                  <a:txBody>
                    <a:bodyPr/>
                    <a:p>
                      <a:pPr algn="ctr">
                        <a:lnSpc>
                          <a:spcPct val="114000"/>
                        </a:lnSpc>
                        <a:spcBef>
                          <a:spcPct val="0"/>
                        </a:spcBef>
                        <a:spcAft>
                          <a:spcPts val="1000"/>
                        </a:spcAft>
                      </a:pPr>
                      <a:r>
                        <a:rPr sz="1400">
                          <a:latin typeface="Times New Roman" panose="02020603050405020304" charset="0"/>
                          <a:cs typeface="Times New Roman" panose="02020603050405020304" charset="0"/>
                        </a:rPr>
                        <a:t>1.2V</a:t>
                      </a:r>
                      <a:endParaRPr sz="1400">
                        <a:latin typeface="Times New Roman" panose="02020603050405020304" charset="0"/>
                        <a:cs typeface="Times New Roman" panose="02020603050405020304" charset="0"/>
                      </a:endParaRPr>
                    </a:p>
                  </a:txBody>
                  <a:tcPr marL="68580" marR="68580" marT="0" marB="0" anchor="t"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lnSpc>
                          <a:spcPct val="114000"/>
                        </a:lnSpc>
                        <a:spcBef>
                          <a:spcPct val="0"/>
                        </a:spcBef>
                        <a:spcAft>
                          <a:spcPts val="1000"/>
                        </a:spcAft>
                      </a:pPr>
                      <a:r>
                        <a:rPr sz="1400">
                          <a:latin typeface="Times New Roman" panose="02020603050405020304" charset="0"/>
                          <a:cs typeface="Times New Roman" panose="02020603050405020304" charset="0"/>
                        </a:rPr>
                        <a:t>Falling to Rising</a:t>
                      </a:r>
                      <a:r>
                        <a:rPr lang="en-IN" sz="1400">
                          <a:latin typeface="Times New Roman" panose="02020603050405020304" charset="0"/>
                          <a:cs typeface="Times New Roman" panose="02020603050405020304" charset="0"/>
                        </a:rPr>
                        <a:t> </a:t>
                      </a:r>
                      <a:r>
                        <a:rPr sz="1400">
                          <a:latin typeface="Times New Roman" panose="02020603050405020304" charset="0"/>
                          <a:cs typeface="Times New Roman" panose="02020603050405020304" charset="0"/>
                        </a:rPr>
                        <a:t>Delay</a:t>
                      </a:r>
                      <a:endParaRPr sz="1400">
                        <a:latin typeface="Times New Roman" panose="02020603050405020304" charset="0"/>
                        <a:cs typeface="Times New Roman" panose="02020603050405020304" charset="0"/>
                      </a:endParaRPr>
                    </a:p>
                    <a:p>
                      <a:pPr algn="ctr">
                        <a:lnSpc>
                          <a:spcPct val="114000"/>
                        </a:lnSpc>
                        <a:spcBef>
                          <a:spcPct val="0"/>
                        </a:spcBef>
                        <a:spcAft>
                          <a:spcPts val="1000"/>
                        </a:spcAft>
                      </a:pPr>
                      <a:r>
                        <a:rPr sz="1400">
                          <a:latin typeface="Times New Roman" panose="02020603050405020304" charset="0"/>
                          <a:cs typeface="Times New Roman" panose="02020603050405020304" charset="0"/>
                        </a:rPr>
                        <a:t>0→1 </a:t>
                      </a:r>
                      <a:endParaRPr lang="en-GB" altLang="en-US" sz="1400">
                        <a:latin typeface="Times New Roman" panose="02020603050405020304" charset="0"/>
                        <a:cs typeface="Times New Roman" panose="02020603050405020304" charset="0"/>
                      </a:endParaRPr>
                    </a:p>
                  </a:txBody>
                  <a:tcPr anchor="ctr"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sz="1400">
                          <a:latin typeface="Times New Roman" panose="02020603050405020304" charset="0"/>
                          <a:cs typeface="Times New Roman" panose="02020603050405020304" charset="0"/>
                        </a:rPr>
                        <a:t>0.0477 ns</a:t>
                      </a:r>
                      <a:endParaRPr lang="en-IN" altLang="en-GB" sz="14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sz="1400">
                          <a:latin typeface="Times New Roman" panose="02020603050405020304" charset="0"/>
                          <a:cs typeface="Times New Roman" panose="02020603050405020304" charset="0"/>
                        </a:rPr>
                        <a:t>0.020 ns</a:t>
                      </a:r>
                      <a:endParaRPr lang="en-IN" altLang="en-GB" sz="14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r>
              <a:tr h="415925">
                <a:tc>
                  <a:txBody>
                    <a:bodyPr/>
                    <a:p>
                      <a:pPr algn="ctr">
                        <a:lnSpc>
                          <a:spcPct val="114000"/>
                        </a:lnSpc>
                        <a:spcBef>
                          <a:spcPct val="0"/>
                        </a:spcBef>
                        <a:spcAft>
                          <a:spcPts val="1000"/>
                        </a:spcAft>
                      </a:pPr>
                      <a:r>
                        <a:rPr sz="1400">
                          <a:latin typeface="Times New Roman" panose="02020603050405020304" charset="0"/>
                          <a:cs typeface="Times New Roman" panose="02020603050405020304" charset="0"/>
                        </a:rPr>
                        <a:t>1.2V</a:t>
                      </a:r>
                      <a:endParaRPr sz="1400">
                        <a:latin typeface="Times New Roman" panose="02020603050405020304" charset="0"/>
                        <a:cs typeface="Times New Roman" panose="02020603050405020304" charset="0"/>
                      </a:endParaRPr>
                    </a:p>
                  </a:txBody>
                  <a:tcPr marL="68580" marR="68580" marT="0" marB="0" anchor="t"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sz="1400">
                          <a:latin typeface="Times New Roman" panose="02020603050405020304" charset="0"/>
                          <a:cs typeface="Times New Roman" panose="02020603050405020304" charset="0"/>
                        </a:rPr>
                        <a:t>Avg Power at</a:t>
                      </a:r>
                      <a:r>
                        <a:rPr lang="en-IN" sz="1400">
                          <a:latin typeface="Times New Roman" panose="02020603050405020304" charset="0"/>
                          <a:cs typeface="Times New Roman" panose="02020603050405020304" charset="0"/>
                        </a:rPr>
                        <a:t> Q</a:t>
                      </a:r>
                      <a:endParaRPr lang="en-IN" sz="1400">
                        <a:latin typeface="Times New Roman" panose="02020603050405020304" charset="0"/>
                        <a:cs typeface="Times New Roman" panose="02020603050405020304" charset="0"/>
                      </a:endParaRPr>
                    </a:p>
                  </a:txBody>
                  <a:tcPr anchor="ctr"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sz="1400">
                          <a:latin typeface="Times New Roman" panose="02020603050405020304" charset="0"/>
                          <a:cs typeface="Times New Roman" panose="02020603050405020304" charset="0"/>
                        </a:rPr>
                        <a:t>-</a:t>
                      </a:r>
                      <a:endParaRPr lang="en-IN" altLang="en-GB" sz="14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sz="1400">
                          <a:latin typeface="Times New Roman" panose="02020603050405020304" charset="0"/>
                          <a:cs typeface="Times New Roman" panose="02020603050405020304" charset="0"/>
                        </a:rPr>
                        <a:t>0.586 mW</a:t>
                      </a:r>
                      <a:endParaRPr lang="en-IN" altLang="en-GB" sz="14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r>
              <a:tr h="415290">
                <a:tc>
                  <a:txBody>
                    <a:bodyPr/>
                    <a:p>
                      <a:pPr algn="ctr">
                        <a:lnSpc>
                          <a:spcPct val="114000"/>
                        </a:lnSpc>
                        <a:spcBef>
                          <a:spcPct val="0"/>
                        </a:spcBef>
                        <a:spcAft>
                          <a:spcPts val="1000"/>
                        </a:spcAft>
                      </a:pPr>
                      <a:r>
                        <a:rPr sz="1400">
                          <a:latin typeface="Times New Roman" panose="02020603050405020304" charset="0"/>
                          <a:cs typeface="Times New Roman" panose="02020603050405020304" charset="0"/>
                        </a:rPr>
                        <a:t>1.</a:t>
                      </a:r>
                      <a:r>
                        <a:rPr lang="en-IN" sz="1400">
                          <a:latin typeface="Times New Roman" panose="02020603050405020304" charset="0"/>
                          <a:cs typeface="Times New Roman" panose="02020603050405020304" charset="0"/>
                        </a:rPr>
                        <a:t>2</a:t>
                      </a:r>
                      <a:r>
                        <a:rPr sz="1400">
                          <a:latin typeface="Times New Roman" panose="02020603050405020304" charset="0"/>
                          <a:cs typeface="Times New Roman" panose="02020603050405020304" charset="0"/>
                        </a:rPr>
                        <a:t>V</a:t>
                      </a:r>
                      <a:endParaRPr sz="1400">
                        <a:latin typeface="Times New Roman" panose="02020603050405020304" charset="0"/>
                        <a:cs typeface="Times New Roman" panose="02020603050405020304" charset="0"/>
                      </a:endParaRPr>
                    </a:p>
                  </a:txBody>
                  <a:tcPr marL="68580" marR="68580" marT="0" marB="0" anchor="t"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sz="1400">
                          <a:latin typeface="Times New Roman" panose="02020603050405020304" charset="0"/>
                          <a:cs typeface="Times New Roman" panose="02020603050405020304" charset="0"/>
                        </a:rPr>
                        <a:t>Avg Power at</a:t>
                      </a:r>
                      <a:r>
                        <a:rPr lang="en-IN" sz="1400">
                          <a:latin typeface="Times New Roman" panose="02020603050405020304" charset="0"/>
                          <a:cs typeface="Times New Roman" panose="02020603050405020304" charset="0"/>
                        </a:rPr>
                        <a:t> Qbar</a:t>
                      </a:r>
                      <a:endParaRPr lang="en-IN" sz="1400">
                        <a:latin typeface="Times New Roman" panose="02020603050405020304" charset="0"/>
                        <a:cs typeface="Times New Roman" panose="02020603050405020304" charset="0"/>
                      </a:endParaRPr>
                    </a:p>
                  </a:txBody>
                  <a:tcPr anchor="ctr"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sz="1400">
                          <a:latin typeface="Times New Roman" panose="02020603050405020304" charset="0"/>
                          <a:cs typeface="Times New Roman" panose="02020603050405020304" charset="0"/>
                        </a:rPr>
                        <a:t>-</a:t>
                      </a:r>
                      <a:endParaRPr lang="en-IN" altLang="en-GB" sz="14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sz="1400">
                          <a:latin typeface="Times New Roman" panose="02020603050405020304" charset="0"/>
                          <a:cs typeface="Times New Roman" panose="02020603050405020304" charset="0"/>
                        </a:rPr>
                        <a:t>0.610 mW</a:t>
                      </a:r>
                      <a:endParaRPr lang="en-IN" altLang="en-GB" sz="14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10160"/>
            <a:ext cx="7321550" cy="1325880"/>
          </a:xfrm>
        </p:spPr>
        <p:txBody>
          <a:bodyPr/>
          <a:p>
            <a:r>
              <a:rPr lang="en-US" altLang="en-US" sz="2800" b="1">
                <a:latin typeface="Times New Roman" panose="02020603050405020304" charset="0"/>
                <a:cs typeface="Times New Roman" panose="02020603050405020304" charset="0"/>
              </a:rPr>
              <a:t>Limitations &amp; Sources of Error</a:t>
            </a:r>
            <a:endParaRPr lang="en-US" altLang="en-US" sz="2800"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838200" y="1336040"/>
            <a:ext cx="10515600" cy="4021455"/>
          </a:xfrm>
        </p:spPr>
        <p:txBody>
          <a:bodyPr>
            <a:noAutofit/>
          </a:bodyPr>
          <a:p>
            <a:pPr algn="just">
              <a:lnSpc>
                <a:spcPct val="90000"/>
              </a:lnSpc>
            </a:pPr>
            <a:r>
              <a:rPr lang="en-US" altLang="en-US" sz="2000">
                <a:latin typeface="Times New Roman" panose="02020603050405020304" charset="0"/>
                <a:cs typeface="Times New Roman" panose="02020603050405020304" charset="0"/>
              </a:rPr>
              <a:t>Limitations: Reduced noise margin and increased leakage at smaller technology nodes.</a:t>
            </a:r>
            <a:endParaRPr lang="en-US" altLang="en-US" sz="2000">
              <a:latin typeface="Times New Roman" panose="02020603050405020304" charset="0"/>
              <a:cs typeface="Times New Roman" panose="02020603050405020304" charset="0"/>
            </a:endParaRPr>
          </a:p>
          <a:p>
            <a:pPr algn="just">
              <a:lnSpc>
                <a:spcPct val="90000"/>
              </a:lnSpc>
            </a:pPr>
            <a:r>
              <a:rPr lang="en-US" altLang="en-US" sz="2000">
                <a:latin typeface="Times New Roman" panose="02020603050405020304" charset="0"/>
                <a:cs typeface="Times New Roman" panose="02020603050405020304" charset="0"/>
              </a:rPr>
              <a:t>Sources of error: Process variation, simulation tool limitations, and parasitic effects in layout.</a:t>
            </a:r>
            <a:endParaRPr lang="en-US" altLang="en-US" sz="2000">
              <a:latin typeface="Times New Roman" panose="02020603050405020304" charset="0"/>
              <a:cs typeface="Times New Roman" panose="02020603050405020304" charset="0"/>
            </a:endParaRPr>
          </a:p>
          <a:p>
            <a:pPr algn="just">
              <a:lnSpc>
                <a:spcPct val="90000"/>
              </a:lnSpc>
            </a:pPr>
            <a:r>
              <a:rPr lang="en-US" altLang="en-US" sz="2000">
                <a:latin typeface="Times New Roman" panose="02020603050405020304" charset="0"/>
                <a:cs typeface="Times New Roman" panose="02020603050405020304" charset="0"/>
              </a:rPr>
              <a:t>Limitation: Temperature dependence of stability in SRAM operation.</a:t>
            </a:r>
            <a:endParaRPr lang="en-US" altLang="en-US" sz="2000">
              <a:latin typeface="Times New Roman" panose="02020603050405020304" charset="0"/>
              <a:cs typeface="Times New Roman" panose="02020603050405020304" charset="0"/>
            </a:endParaRPr>
          </a:p>
          <a:p>
            <a:pPr algn="just">
              <a:lnSpc>
                <a:spcPct val="90000"/>
              </a:lnSpc>
            </a:pPr>
            <a:r>
              <a:rPr lang="en-US" altLang="en-US" sz="2000">
                <a:latin typeface="Times New Roman" panose="02020603050405020304" charset="0"/>
                <a:cs typeface="Times New Roman" panose="02020603050405020304" charset="0"/>
              </a:rPr>
              <a:t>Error source: Human errors in schematic or layout creation leading to incorrect results.</a:t>
            </a:r>
            <a:endParaRPr lang="en-US" altLang="en-US" sz="2000">
              <a:latin typeface="Times New Roman" panose="02020603050405020304" charset="0"/>
              <a:cs typeface="Times New Roman" panose="02020603050405020304" charset="0"/>
            </a:endParaRPr>
          </a:p>
        </p:txBody>
      </p:sp>
      <p:pic>
        <p:nvPicPr>
          <p:cNvPr id="16" name="Picture 15"/>
          <p:cNvPicPr>
            <a:picLocks noChangeAspect="1"/>
          </p:cNvPicPr>
          <p:nvPr/>
        </p:nvPicPr>
        <p:blipFill>
          <a:blip r:embed="rId1"/>
          <a:stretch>
            <a:fillRect/>
          </a:stretch>
        </p:blipFill>
        <p:spPr>
          <a:xfrm>
            <a:off x="7590155" y="227965"/>
            <a:ext cx="4146550" cy="48069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10160"/>
            <a:ext cx="7321550" cy="1325880"/>
          </a:xfrm>
        </p:spPr>
        <p:txBody>
          <a:bodyPr/>
          <a:p>
            <a:r>
              <a:rPr lang="en-US" altLang="en-US" sz="2800" b="1">
                <a:latin typeface="Times New Roman" panose="02020603050405020304" charset="0"/>
                <a:cs typeface="Times New Roman" panose="02020603050405020304" charset="0"/>
              </a:rPr>
              <a:t>Conclusion</a:t>
            </a:r>
            <a:endParaRPr lang="en-US" altLang="en-US" sz="2800"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838200" y="1336040"/>
            <a:ext cx="10515600" cy="4021455"/>
          </a:xfrm>
        </p:spPr>
        <p:txBody>
          <a:bodyPr>
            <a:noAutofit/>
          </a:bodyPr>
          <a:p>
            <a:pPr marL="0" indent="0" algn="just">
              <a:lnSpc>
                <a:spcPct val="90000"/>
              </a:lnSpc>
              <a:buNone/>
            </a:pPr>
            <a:r>
              <a:rPr lang="en-US" altLang="en-GB" sz="2400">
                <a:latin typeface="Times New Roman" panose="02020603050405020304" charset="0"/>
                <a:cs typeface="Times New Roman" panose="02020603050405020304" charset="0"/>
              </a:rPr>
              <a:t>The project successfully demonstrates that technology scaling plays a vital role in improving SRAM efficiency. The 45 nm technology offers better performance in terms of speed and power consumption, making it ideal for low-power and high-speed applications. The 90 nm node provides a balanced trade-off between stability and power, while 180 nm offers higher noise immunity with larger area and delay. Thus, optimized transistor sizing and design techniques are essential to ensure reliable and energy-efficient SRAM operation in advanced VLSI systems.</a:t>
            </a:r>
            <a:endParaRPr lang="en-US" altLang="en-GB" sz="2400">
              <a:latin typeface="Times New Roman" panose="02020603050405020304" charset="0"/>
              <a:cs typeface="Times New Roman" panose="02020603050405020304" charset="0"/>
            </a:endParaRPr>
          </a:p>
        </p:txBody>
      </p:sp>
      <p:pic>
        <p:nvPicPr>
          <p:cNvPr id="16" name="Picture 15"/>
          <p:cNvPicPr>
            <a:picLocks noChangeAspect="1"/>
          </p:cNvPicPr>
          <p:nvPr/>
        </p:nvPicPr>
        <p:blipFill>
          <a:blip r:embed="rId1"/>
          <a:stretch>
            <a:fillRect/>
          </a:stretch>
        </p:blipFill>
        <p:spPr>
          <a:xfrm>
            <a:off x="7590155" y="227965"/>
            <a:ext cx="4146550" cy="480695"/>
          </a:xfrm>
          <a:prstGeom prst="rect">
            <a:avLst/>
          </a:prstGeom>
        </p:spPr>
      </p:pic>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5.xml><?xml version="1.0" encoding="utf-8"?>
<p:tagLst xmlns:p="http://schemas.openxmlformats.org/presentationml/2006/main">
  <p:tag name="TABLE_ENDDRAG_ORIGIN_RECT" val="320*127"/>
  <p:tag name="TABLE_ENDDRAG_RECT" val="326*255*320*127"/>
</p:tagLst>
</file>

<file path=ppt/tags/tag6.xml><?xml version="1.0" encoding="utf-8"?>
<p:tagLst xmlns:p="http://schemas.openxmlformats.org/presentationml/2006/main">
  <p:tag name="TABLE_ENDDRAG_ORIGIN_RECT" val="889*428"/>
  <p:tag name="TABLE_ENDDRAG_RECT" val="33*49*889*428"/>
</p:tagLst>
</file>

<file path=ppt/tags/tag7.xml><?xml version="1.0" encoding="utf-8"?>
<p:tagLst xmlns:p="http://schemas.openxmlformats.org/presentationml/2006/main">
  <p:tag name="TABLE_ENDDRAG_ORIGIN_RECT" val="945*477"/>
  <p:tag name="TABLE_ENDDRAG_RECT" val="8*56*945*477"/>
</p:tagLst>
</file>

<file path=ppt/tags/tag8.xml><?xml version="1.0" encoding="utf-8"?>
<p:tagLst xmlns:p="http://schemas.openxmlformats.org/presentationml/2006/main">
  <p:tag name="TABLE_ENDDRAG_ORIGIN_RECT" val="922*462"/>
  <p:tag name="TABLE_ENDDRAG_RECT" val="12*62*922*462"/>
</p:tagLst>
</file>

<file path=ppt/tags/tag9.xml><?xml version="1.0" encoding="utf-8"?>
<p:tagLst xmlns:p="http://schemas.openxmlformats.org/presentationml/2006/main">
  <p:tag name="TABLE_ENDDRAG_ORIGIN_RECT" val="671*338"/>
  <p:tag name="TABLE_ENDDRAG_RECT" val="98*135*671*338"/>
</p:tagLst>
</file>

<file path=ppt/tags/tag10.xml><?xml version="1.0" encoding="utf-8"?>
<p:tagLst xmlns:p="http://schemas.openxmlformats.org/presentationml/2006/main">
  <p:tag name="TABLE_ENDDRAG_ORIGIN_RECT" val="671*338"/>
  <p:tag name="TABLE_ENDDRAG_RECT" val="98*135*671*338"/>
</p:tagLst>
</file>

<file path=ppt/tags/tag11.xml><?xml version="1.0" encoding="utf-8"?>
<p:tagLst xmlns:p="http://schemas.openxmlformats.org/presentationml/2006/main">
  <p:tag name="TABLE_ENDDRAG_ORIGIN_RECT" val="671*338"/>
  <p:tag name="TABLE_ENDDRAG_RECT" val="98*135*671*338"/>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9221</Words>
  <Application>WPS Presentation</Application>
  <PresentationFormat>Widescreen</PresentationFormat>
  <Paragraphs>561</Paragraphs>
  <Slides>20</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20</vt:i4>
      </vt:variant>
    </vt:vector>
  </HeadingPairs>
  <TitlesOfParts>
    <vt:vector size="32" baseType="lpstr">
      <vt:lpstr>Arial</vt:lpstr>
      <vt:lpstr>SimSun</vt:lpstr>
      <vt:lpstr>Wingdings</vt:lpstr>
      <vt:lpstr>Times New Roman</vt:lpstr>
      <vt:lpstr>Arial</vt:lpstr>
      <vt:lpstr>Calibri</vt:lpstr>
      <vt:lpstr>Microsoft YaHei</vt:lpstr>
      <vt:lpstr>Arial Unicode MS</vt:lpstr>
      <vt:lpstr>Calibri Light</vt:lpstr>
      <vt:lpstr>ＭＳ 明朝</vt:lpstr>
      <vt:lpstr>Segoe Print</vt:lpstr>
      <vt:lpstr>Office Theme</vt:lpstr>
      <vt:lpstr>PowerPoint 演示文稿</vt:lpstr>
      <vt:lpstr>Problem Statement</vt:lpstr>
      <vt:lpstr>Introduction</vt:lpstr>
      <vt:lpstr>Why Choose 6T SRAM?</vt:lpstr>
      <vt:lpstr>PowerPoint 演示文稿</vt:lpstr>
      <vt:lpstr>PowerPoint 演示文稿</vt:lpstr>
      <vt:lpstr>PowerPoint 演示文稿</vt:lpstr>
      <vt:lpstr>PowerPoint 演示文稿</vt:lpstr>
      <vt:lpstr>Methodology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Limitations &amp; Sources of Error</vt:lpstr>
      <vt:lpstr>Conclusion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
  <cp:lastModifiedBy>Aditya Max</cp:lastModifiedBy>
  <cp:revision>44</cp:revision>
  <dcterms:created xsi:type="dcterms:W3CDTF">2025-04-15T05:15:00Z</dcterms:created>
  <dcterms:modified xsi:type="dcterms:W3CDTF">2025-12-02T13:05:30Z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A6BC43E22EA14E92A257C73029675F56_13</vt:lpwstr>
  </property>
  <property fmtid="{D5CDD505-2E9C-101B-9397-08002B2CF9AE}" pid="3" name="KSOProductBuildVer">
    <vt:lpwstr>2057-12.2.0.21183</vt:lpwstr>
  </property>
</Properties>
</file>