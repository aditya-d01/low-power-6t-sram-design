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310" r:id="rId7"/>
    <p:sldId id="301" r:id="rId8"/>
    <p:sldId id="302" r:id="rId9"/>
    <p:sldId id="311" r:id="rId10"/>
    <p:sldId id="314" r:id="rId11"/>
    <p:sldId id="324" r:id="rId12"/>
    <p:sldId id="320" r:id="rId13"/>
    <p:sldId id="315" r:id="rId14"/>
    <p:sldId id="328" r:id="rId15"/>
    <p:sldId id="329" r:id="rId16"/>
    <p:sldId id="330" r:id="rId17"/>
    <p:sldId id="331" r:id="rId18"/>
    <p:sldId id="326" r:id="rId19"/>
    <p:sldId id="332" r:id="rId20"/>
    <p:sldId id="327" r:id="rId21"/>
    <p:sldId id="308" r:id="rId22"/>
    <p:sldId id="30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839657" y="1825624"/>
            <a:ext cx="10512686" cy="4351338"/>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
        <p:nvSpPr>
          <p:cNvPr id="12" name="TextBox 11"/>
          <p:cNvSpPr txBox="1"/>
          <p:nvPr/>
        </p:nvSpPr>
        <p:spPr>
          <a:xfrm>
            <a:off x="2381250" y="2592070"/>
            <a:ext cx="8138160" cy="600075"/>
          </a:xfrm>
          <a:prstGeom prst="rect">
            <a:avLst/>
          </a:prstGeom>
          <a:noFill/>
        </p:spPr>
        <p:txBody>
          <a:bodyPr wrap="square" rtlCol="0">
            <a:noAutofit/>
          </a:bodyPr>
          <a:lstStyle/>
          <a:p>
            <a:pPr algn="ctr"/>
            <a:r>
              <a:rPr lang="en-US" altLang="en-US" sz="2000" b="1" dirty="0">
                <a:latin typeface="Times New Roman" panose="02020603050405020304" charset="0"/>
                <a:cs typeface="Times New Roman" panose="02020603050405020304" charset="0"/>
              </a:rPr>
              <a:t>“ Design And Analysis of a Low-Power 6T SRAM Cell ” </a:t>
            </a:r>
            <a:endParaRPr lang="en-US" altLang="en-US" sz="2000" b="1" dirty="0">
              <a:latin typeface="Times New Roman" panose="02020603050405020304" charset="0"/>
              <a:cs typeface="Times New Roman" panose="02020603050405020304" charset="0"/>
            </a:endParaRPr>
          </a:p>
        </p:txBody>
      </p:sp>
      <p:sp>
        <p:nvSpPr>
          <p:cNvPr id="14" name="TextBox 13"/>
          <p:cNvSpPr txBox="1"/>
          <p:nvPr/>
        </p:nvSpPr>
        <p:spPr>
          <a:xfrm>
            <a:off x="4594225" y="5130165"/>
            <a:ext cx="3002915" cy="1198880"/>
          </a:xfrm>
          <a:prstGeom prst="rect">
            <a:avLst/>
          </a:prstGeom>
          <a:noFill/>
        </p:spPr>
        <p:txBody>
          <a:bodyPr wrap="square" rtlCol="0">
            <a:spAutoFit/>
          </a:bodyPr>
          <a:lstStyle/>
          <a:p>
            <a:pPr algn="ctr"/>
            <a:r>
              <a:rPr lang="en-US" dirty="0">
                <a:latin typeface="Times New Roman" panose="02020603050405020304" charset="0"/>
                <a:cs typeface="Times New Roman" panose="02020603050405020304" charset="0"/>
              </a:rPr>
              <a:t>Under the Guidance of</a:t>
            </a:r>
            <a:endParaRPr lang="en-US" dirty="0">
              <a:latin typeface="Times New Roman" panose="02020603050405020304" charset="0"/>
              <a:cs typeface="Times New Roman" panose="02020603050405020304" charset="0"/>
            </a:endParaRPr>
          </a:p>
          <a:p>
            <a:pPr algn="ctr"/>
            <a:r>
              <a:rPr lang="en-US" dirty="0">
                <a:latin typeface="Times New Roman" panose="02020603050405020304" charset="0"/>
                <a:cs typeface="Times New Roman" panose="02020603050405020304" charset="0"/>
              </a:rPr>
              <a:t>Prof : Rashmi </a:t>
            </a:r>
            <a:r>
              <a:rPr lang="en-GB" altLang="en-US" dirty="0">
                <a:latin typeface="Times New Roman" panose="02020603050405020304" charset="0"/>
                <a:cs typeface="Times New Roman" panose="02020603050405020304" charset="0"/>
              </a:rPr>
              <a:t>P</a:t>
            </a:r>
            <a:endParaRPr lang="en-IN" altLang="en-GB" dirty="0">
              <a:latin typeface="Times New Roman" panose="02020603050405020304" charset="0"/>
              <a:cs typeface="Times New Roman" panose="02020603050405020304" charset="0"/>
            </a:endParaRPr>
          </a:p>
          <a:p>
            <a:pPr algn="ctr"/>
            <a:r>
              <a:rPr lang="en-US" altLang="en-IN" dirty="0">
                <a:latin typeface="Times New Roman" panose="02020603050405020304" charset="0"/>
                <a:cs typeface="Times New Roman" panose="02020603050405020304" charset="0"/>
              </a:rPr>
              <a:t>Dr : Swati M</a:t>
            </a:r>
            <a:endParaRPr lang="en-US" dirty="0">
              <a:latin typeface="Times New Roman" panose="02020603050405020304" charset="0"/>
              <a:cs typeface="Times New Roman" panose="02020603050405020304" charset="0"/>
            </a:endParaRPr>
          </a:p>
          <a:p>
            <a:pPr algn="ctr"/>
            <a:endParaRPr lang="en-US" dirty="0">
              <a:latin typeface="Times New Roman" panose="02020603050405020304" charset="0"/>
              <a:cs typeface="Times New Roman" panose="02020603050405020304" charset="0"/>
            </a:endParaRPr>
          </a:p>
        </p:txBody>
      </p:sp>
      <p:sp>
        <p:nvSpPr>
          <p:cNvPr id="15" name="Footer Placeholder 14"/>
          <p:cNvSpPr>
            <a:spLocks noGrp="1"/>
          </p:cNvSpPr>
          <p:nvPr>
            <p:ph type="ftr" sz="quarter" idx="11"/>
          </p:nvPr>
        </p:nvSpPr>
        <p:spPr/>
        <p:txBody>
          <a:bodyPr/>
          <a:lstStyle/>
          <a:p>
            <a:r>
              <a:rPr lang="en-US"/>
              <a:t>Dept. of ECE</a:t>
            </a:r>
            <a:endParaRPr lang="en-US"/>
          </a:p>
        </p:txBody>
      </p:sp>
      <p:sp>
        <p:nvSpPr>
          <p:cNvPr id="16" name="Slide Number Placeholder 15"/>
          <p:cNvSpPr>
            <a:spLocks noGrp="1"/>
          </p:cNvSpPr>
          <p:nvPr>
            <p:ph type="sldNum" sz="quarter" idx="12"/>
          </p:nvPr>
        </p:nvSpPr>
        <p:spPr/>
        <p:txBody>
          <a:bodyPr/>
          <a:lstStyle/>
          <a:p>
            <a:fld id="{14664CE2-A199-492D-95BF-8BD1FF457610}" type="slidenum">
              <a:rPr lang="en-US" smtClean="0"/>
            </a:fld>
            <a:endParaRPr lang="en-US"/>
          </a:p>
        </p:txBody>
      </p:sp>
      <p:sp>
        <p:nvSpPr>
          <p:cNvPr id="17" name="TextBox 16"/>
          <p:cNvSpPr txBox="1"/>
          <p:nvPr/>
        </p:nvSpPr>
        <p:spPr>
          <a:xfrm>
            <a:off x="2696026" y="1510782"/>
            <a:ext cx="7594600" cy="46037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 </a:t>
            </a:r>
            <a:endParaRPr lang="en-US" sz="2400" dirty="0">
              <a:latin typeface="Times New Roman" panose="02020603050405020304" charset="0"/>
              <a:cs typeface="Times New Roman" panose="02020603050405020304" charset="0"/>
            </a:endParaRPr>
          </a:p>
        </p:txBody>
      </p:sp>
      <p:sp>
        <p:nvSpPr>
          <p:cNvPr id="3" name="Text Box 2"/>
          <p:cNvSpPr txBox="1"/>
          <p:nvPr/>
        </p:nvSpPr>
        <p:spPr>
          <a:xfrm>
            <a:off x="4146550" y="2223770"/>
            <a:ext cx="4064000" cy="368300"/>
          </a:xfrm>
          <a:prstGeom prst="rect">
            <a:avLst/>
          </a:prstGeom>
          <a:noFill/>
        </p:spPr>
        <p:txBody>
          <a:bodyPr wrap="square" rtlCol="0">
            <a:spAutoFit/>
          </a:bodyPr>
          <a:p>
            <a:pPr algn="ctr">
              <a:defRPr lang="en-US"/>
            </a:pPr>
            <a:r>
              <a:rPr lang="en-US">
                <a:latin typeface="Times New Roman" panose="02020603050405020304" charset="0"/>
                <a:cs typeface="Times New Roman" panose="02020603050405020304" charset="0"/>
              </a:rPr>
              <a:t>SENIOR DESIGN PROJECT</a:t>
            </a:r>
            <a:endParaRPr lang="en-US">
              <a:latin typeface="Times New Roman" panose="02020603050405020304" charset="0"/>
              <a:cs typeface="Times New Roman" panose="02020603050405020304" charset="0"/>
            </a:endParaRPr>
          </a:p>
        </p:txBody>
      </p:sp>
      <p:graphicFrame>
        <p:nvGraphicFramePr>
          <p:cNvPr id="4" name="Table1"/>
          <p:cNvGraphicFramePr>
            <a:graphicFrameLocks noGrp="1"/>
          </p:cNvGraphicFramePr>
          <p:nvPr>
            <p:custDataLst>
              <p:tags r:id="rId3"/>
            </p:custDataLst>
          </p:nvPr>
        </p:nvGraphicFramePr>
        <p:xfrm>
          <a:off x="4146550" y="3239770"/>
          <a:ext cx="4064000" cy="1670050"/>
        </p:xfrm>
        <a:graphic>
          <a:graphicData uri="http://schemas.openxmlformats.org/drawingml/2006/table">
            <a:tbl>
              <a:tblPr>
                <a:noFill/>
              </a:tblPr>
              <a:tblGrid>
                <a:gridCol w="935355"/>
                <a:gridCol w="3128645"/>
              </a:tblGrid>
              <a:tr h="334010">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SL.NO.</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NAME</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01</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Sakshi More</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02</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Sejal Jadhav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03</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err="1">
                          <a:latin typeface="Times New Roman" panose="02020603050405020304" charset="0"/>
                          <a:cs typeface="Times New Roman" panose="02020603050405020304" charset="0"/>
                          <a:sym typeface="+mn-ea"/>
                        </a:rPr>
                        <a:t>Sanket</a:t>
                      </a:r>
                      <a:r>
                        <a:rPr sz="1600" dirty="0">
                          <a:latin typeface="Times New Roman" panose="02020603050405020304" charset="0"/>
                          <a:cs typeface="Times New Roman" panose="02020603050405020304" charset="0"/>
                          <a:sym typeface="+mn-ea"/>
                        </a:rPr>
                        <a:t> </a:t>
                      </a:r>
                      <a:r>
                        <a:rPr sz="1600" dirty="0" err="1">
                          <a:latin typeface="Times New Roman" panose="02020603050405020304" charset="0"/>
                          <a:cs typeface="Times New Roman" panose="02020603050405020304" charset="0"/>
                          <a:sym typeface="+mn-ea"/>
                        </a:rPr>
                        <a:t>Kammar</a:t>
                      </a:r>
                      <a:endParaRPr sz="1600" dirty="0" err="1">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04</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Aditya Donk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235585"/>
            <a:ext cx="5197475" cy="1010920"/>
          </a:xfrm>
        </p:spPr>
        <p:txBody>
          <a:bodyPr/>
          <a:lstStyle/>
          <a:p>
            <a:pPr algn="l"/>
            <a:r>
              <a:rPr lang="en-US" sz="2800" b="1" dirty="0">
                <a:latin typeface="Times New Roman" panose="02020603050405020304" charset="0"/>
                <a:cs typeface="Times New Roman" panose="02020603050405020304" charset="0"/>
              </a:rPr>
              <a:t>Problem Statement</a:t>
            </a:r>
            <a:endParaRPr lang="en-US" sz="28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9160" y="1246505"/>
            <a:ext cx="10515600" cy="1015365"/>
          </a:xfrm>
        </p:spPr>
        <p:txBody>
          <a:bodyPr/>
          <a:lstStyle/>
          <a:p>
            <a:pPr marL="0" indent="0" algn="just">
              <a:buNone/>
            </a:pPr>
            <a:r>
              <a:rPr lang="en-US" altLang="en-US" sz="2000" dirty="0">
                <a:latin typeface="Times New Roman" panose="02020603050405020304" charset="0"/>
                <a:cs typeface="Times New Roman" panose="02020603050405020304" charset="0"/>
                <a:sym typeface="+mn-ea"/>
              </a:rPr>
              <a:t>Modern VLSI systems require fast, low-power, and area-efficient memory with stable performance across PVT variations. An optimized 6T SRAM cell can meet these requirements by ensuring reliable operation and reduced power consumption in advanced CMOS technologies.</a:t>
            </a:r>
            <a:endParaRPr lang="en-US" altLang="en-US" sz="2000" dirty="0">
              <a:latin typeface="Times New Roman" panose="02020603050405020304" charset="0"/>
              <a:cs typeface="Times New Roman" panose="02020603050405020304" charset="0"/>
              <a:sym typeface="+mn-ea"/>
            </a:endParaRPr>
          </a:p>
          <a:p>
            <a:pPr marL="0" indent="0" algn="just">
              <a:buNone/>
            </a:pPr>
            <a:endParaRPr lang="en-US" altLang="en-US" sz="2000"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lstStyle/>
          <a:p>
            <a:r>
              <a:rPr lang="en-US"/>
              <a:t>Dept. of ECE</a:t>
            </a:r>
            <a:endParaRPr lang="en-US"/>
          </a:p>
        </p:txBody>
      </p:sp>
      <p:sp>
        <p:nvSpPr>
          <p:cNvPr id="5" name="Slide Number Placeholder 4"/>
          <p:cNvSpPr>
            <a:spLocks noGrp="1"/>
          </p:cNvSpPr>
          <p:nvPr>
            <p:ph type="sldNum" sz="quarter" idx="12"/>
          </p:nvPr>
        </p:nvSpPr>
        <p:spPr/>
        <p:txBody>
          <a:bodyPr/>
          <a:lstStyle/>
          <a:p>
            <a:fld id="{14664CE2-A199-492D-95BF-8BD1FF457610}" type="slidenum">
              <a:rPr lang="en-US" smtClean="0"/>
            </a:fld>
            <a:endParaRPr lang="en-US"/>
          </a:p>
        </p:txBody>
      </p:sp>
      <p:sp>
        <p:nvSpPr>
          <p:cNvPr id="7" name="Content Placeholder 2"/>
          <p:cNvSpPr>
            <a:spLocks noGrp="1"/>
          </p:cNvSpPr>
          <p:nvPr/>
        </p:nvSpPr>
        <p:spPr>
          <a:xfrm>
            <a:off x="899160" y="3192780"/>
            <a:ext cx="10515600" cy="2832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altLang="en-GB" sz="2000" dirty="0">
                <a:latin typeface="Times New Roman" panose="02020603050405020304" charset="0"/>
                <a:cs typeface="Times New Roman" panose="02020603050405020304" charset="0"/>
              </a:rPr>
              <a:t>Modern portable and embedded electronic systems demand on-chip memories that consume extremely low power without sacrificing data stability. There is a critical need to design a low-power 6T SRAM cell that can reduce both leakage power during standby and dynamic power during read/write operations, while ensuring sufficient noise margins, reliable operation across PVT variations, and minimal impact on silicon area.</a:t>
            </a:r>
            <a:endParaRPr lang="en-US" altLang="en-GB" sz="2000" dirty="0">
              <a:latin typeface="Times New Roman" panose="02020603050405020304" charset="0"/>
              <a:cs typeface="Times New Roman" panose="02020603050405020304" charset="0"/>
            </a:endParaRPr>
          </a:p>
        </p:txBody>
      </p:sp>
      <p:sp>
        <p:nvSpPr>
          <p:cNvPr id="8" name="Text Box 7"/>
          <p:cNvSpPr txBox="1"/>
          <p:nvPr/>
        </p:nvSpPr>
        <p:spPr>
          <a:xfrm>
            <a:off x="4664075" y="5939790"/>
            <a:ext cx="4064000" cy="368300"/>
          </a:xfrm>
          <a:prstGeom prst="rect">
            <a:avLst/>
          </a:prstGeom>
          <a:noFill/>
        </p:spPr>
        <p:txBody>
          <a:bodyPr wrap="square" rtlCol="0">
            <a:spAutoFit/>
          </a:bodyPr>
          <a:p>
            <a:endParaRPr lang="en-US"/>
          </a:p>
        </p:txBody>
      </p:sp>
      <p:sp>
        <p:nvSpPr>
          <p:cNvPr id="15" name="Title 1"/>
          <p:cNvSpPr>
            <a:spLocks noGrp="1"/>
          </p:cNvSpPr>
          <p:nvPr/>
        </p:nvSpPr>
        <p:spPr>
          <a:xfrm>
            <a:off x="899160" y="2112645"/>
            <a:ext cx="5197475" cy="1010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en-IN" altLang="en-US" sz="2800" b="1" dirty="0">
              <a:latin typeface="Times New Roman" panose="02020603050405020304" charset="0"/>
              <a:cs typeface="Times New Roman" panose="02020603050405020304" charset="0"/>
            </a:endParaRPr>
          </a:p>
          <a:p>
            <a:pPr algn="l"/>
            <a:r>
              <a:rPr lang="en-IN" altLang="en-US" sz="2800" b="1" dirty="0">
                <a:latin typeface="Times New Roman" panose="02020603050405020304" charset="0"/>
                <a:cs typeface="Times New Roman" panose="02020603050405020304" charset="0"/>
              </a:rPr>
              <a:t>Need</a:t>
            </a:r>
            <a:r>
              <a:rPr lang="en-US" sz="2800" b="1" dirty="0">
                <a:latin typeface="Times New Roman" panose="02020603050405020304" charset="0"/>
                <a:cs typeface="Times New Roman" panose="02020603050405020304" charset="0"/>
              </a:rPr>
              <a:t> Statement</a:t>
            </a:r>
            <a:endParaRPr lang="en-US" sz="2800" b="1" dirty="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GB" altLang="en-US" sz="2800" b="1">
                <a:latin typeface="Times New Roman" panose="02020603050405020304" charset="0"/>
                <a:cs typeface="Times New Roman" panose="02020603050405020304" charset="0"/>
              </a:rPr>
              <a:t>Introduction</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This project focuses on the design and comparative analysis of a low-power 6T SRAM cell at 180nm, 90nm, and 45nm technology nodes using Cadence Virtuoso. The 6T SRAM cell is widely used in high-speed memory applications due to its simple structure, fast access time, and low power consumption. As technology scales down, transistors become smaller and faster, reducing dynamic power but introducing issues like increased leakage current, process variability, and reduced stability. Through simulation and analysis, this work evaluates how scaling affects SRAM performance parameters such as speed, power efficiency, and area, aiming to achieve an optimal balance between performance and reliability in advanced VLSI designs.</a:t>
            </a:r>
            <a:endParaRPr lang="en-US" altLang="en-GB" sz="2400">
              <a:latin typeface="Times New Roman" panose="02020603050405020304" charset="0"/>
              <a:cs typeface="Times New Roman" panose="02020603050405020304" charset="0"/>
            </a:endParaRPr>
          </a:p>
          <a:p>
            <a:pPr marL="0" indent="0" algn="just">
              <a:lnSpc>
                <a:spcPct val="90000"/>
              </a:lnSpc>
              <a:buNone/>
            </a:pP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4565"/>
          </a:xfrm>
        </p:spPr>
        <p:txBody>
          <a:bodyPr/>
          <a:p>
            <a:r>
              <a:rPr lang="en-US" altLang="en-GB" sz="2800" b="1">
                <a:latin typeface="Times New Roman" panose="02020603050405020304" charset="0"/>
                <a:cs typeface="Times New Roman" panose="02020603050405020304" charset="0"/>
                <a:sym typeface="+mn-ea"/>
              </a:rPr>
              <a:t>Why Choose 6T SRAM?</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55065"/>
            <a:ext cx="10515600" cy="5022215"/>
          </a:xfrm>
        </p:spPr>
        <p:txBody>
          <a:bodyPr>
            <a:normAutofit/>
          </a:bodyPr>
          <a:p>
            <a:r>
              <a:rPr lang="en-US" altLang="en-GB" sz="2400">
                <a:latin typeface="Times New Roman" panose="02020603050405020304" charset="0"/>
                <a:cs typeface="Times New Roman" panose="02020603050405020304" charset="0"/>
              </a:rPr>
              <a:t>Compact Cell Size: Only 6 transistors per cell, saving area</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Low Power Consumption: Ideal for portable, battery-powered devices</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Fast Access: Quick read/write performance</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Stable &amp; Reliable: Good data retention and noise margins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17245" y="259080"/>
            <a:ext cx="4745355" cy="54800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Literature Review</a:t>
            </a:r>
            <a:endParaRPr lang="en-US" sz="2800"/>
          </a:p>
        </p:txBody>
      </p:sp>
      <p:pic>
        <p:nvPicPr>
          <p:cNvPr id="7" name="Picture 6"/>
          <p:cNvPicPr>
            <a:picLocks noChangeAspect="1"/>
          </p:cNvPicPr>
          <p:nvPr/>
        </p:nvPicPr>
        <p:blipFill>
          <a:blip r:embed="rId1"/>
          <a:stretch>
            <a:fillRect/>
          </a:stretch>
        </p:blipFill>
        <p:spPr>
          <a:xfrm>
            <a:off x="7355840" y="153035"/>
            <a:ext cx="4146550" cy="480695"/>
          </a:xfrm>
          <a:prstGeom prst="rect">
            <a:avLst/>
          </a:prstGeom>
        </p:spPr>
      </p:pic>
      <p:graphicFrame>
        <p:nvGraphicFramePr>
          <p:cNvPr id="15" name="Table 14"/>
          <p:cNvGraphicFramePr/>
          <p:nvPr>
            <p:custDataLst>
              <p:tags r:id="rId2"/>
            </p:custDataLst>
          </p:nvPr>
        </p:nvGraphicFramePr>
        <p:xfrm>
          <a:off x="443230" y="956945"/>
          <a:ext cx="11290300" cy="5633720"/>
        </p:xfrm>
        <a:graphic>
          <a:graphicData uri="http://schemas.openxmlformats.org/drawingml/2006/table">
            <a:tbl>
              <a:tblPr firstRow="1" bandRow="1">
                <a:tableStyleId>{5C22544A-7EE6-4342-B048-85BDC9FD1C3A}</a:tableStyleId>
              </a:tblPr>
              <a:tblGrid>
                <a:gridCol w="988060"/>
                <a:gridCol w="2500630"/>
                <a:gridCol w="2846705"/>
                <a:gridCol w="2696845"/>
                <a:gridCol w="2258060"/>
              </a:tblGrid>
              <a:tr h="914400">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35125">
                <a:tc>
                  <a:txBody>
                    <a:bodyPr/>
                    <a:p>
                      <a:pPr>
                        <a:buNone/>
                      </a:pPr>
                      <a:r>
                        <a:rPr lang="en-GB" altLang="en-US" sz="1600">
                          <a:latin typeface="Times New Roman" panose="02020603050405020304" charset="0"/>
                          <a:cs typeface="Times New Roman" panose="02020603050405020304" charset="0"/>
                        </a:rPr>
                        <a:t>1.</a:t>
                      </a:r>
                      <a:endParaRPr lang="en-GB" altLang="en-US" sz="1600">
                        <a:latin typeface="Times New Roman" panose="02020603050405020304" charset="0"/>
                        <a:cs typeface="Times New Roman" panose="02020603050405020304" charset="0"/>
                      </a:endParaRPr>
                    </a:p>
                  </a:txBody>
                  <a:tcPr/>
                </a:tc>
                <a:tc>
                  <a:txBody>
                    <a:bodyPr/>
                    <a:p>
                      <a:pPr algn="l"/>
                      <a:r>
                        <a:rPr lang="en-US" altLang="en-US" sz="1600">
                          <a:latin typeface="Times New Roman" panose="02020603050405020304" charset="0"/>
                          <a:cs typeface="Times New Roman" panose="02020603050405020304" charset="0"/>
                        </a:rPr>
                        <a:t>Design and Optimization of 6T SRAM Cell at Different Technology Nodes using CMOS for Low Power and High Speed</a:t>
                      </a:r>
                      <a:endParaRPr lang="en-US" altLang="en-US" sz="1600">
                        <a:latin typeface="Times New Roman" panose="02020603050405020304" charset="0"/>
                        <a:cs typeface="Times New Roman" panose="02020603050405020304" charset="0"/>
                      </a:endParaRPr>
                    </a:p>
                  </a:txBody>
                  <a:tcPr anchor="t" anchorCtr="0"/>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To design and optimize 6T SRAM cells at various CMOS technology nodes (45 nm &amp; 22 nm) for reduced leakage, high stability, and low delay.</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Virtuoso design and simulation; transistor sizing optimization; supply voltage scaling; delay and leakage measurement under different node sizes.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Requires precise sizing to maintain write stability; scaling reduces delay but increases leakage power.</a:t>
                      </a:r>
                      <a:endParaRPr lang="en-US" altLang="en-US" sz="1600" dirty="0">
                        <a:latin typeface="Times New Roman" panose="02020603050405020304" charset="0"/>
                        <a:cs typeface="Times New Roman" panose="02020603050405020304" charset="0"/>
                      </a:endParaRPr>
                    </a:p>
                  </a:txBody>
                  <a:tcPr/>
                </a:tc>
              </a:tr>
              <a:tr h="1111885">
                <a:tc>
                  <a:txBody>
                    <a:bodyPr/>
                    <a:p>
                      <a:pPr>
                        <a:buNone/>
                      </a:pPr>
                      <a:r>
                        <a:rPr lang="en-GB" altLang="en-US" sz="1600">
                          <a:latin typeface="Times New Roman" panose="02020603050405020304" charset="0"/>
                          <a:cs typeface="Times New Roman" panose="02020603050405020304" charset="0"/>
                        </a:rPr>
                        <a:t>2.</a:t>
                      </a:r>
                      <a:endParaRPr lang="en-GB" altLang="en-US" sz="1600">
                        <a:latin typeface="Times New Roman" panose="02020603050405020304" charset="0"/>
                        <a:cs typeface="Times New Roman" panose="02020603050405020304" charset="0"/>
                      </a:endParaRPr>
                    </a:p>
                  </a:txBody>
                  <a:tcPr/>
                </a:tc>
                <a:tc>
                  <a:txBody>
                    <a:bodyPr/>
                    <a:p>
                      <a:pPr algn="l">
                        <a:buNone/>
                      </a:pPr>
                      <a:r>
                        <a:rPr lang="en-US" altLang="en-US" sz="1600" dirty="0">
                          <a:latin typeface="Times New Roman" panose="02020603050405020304" charset="0"/>
                          <a:cs typeface="Times New Roman" panose="02020603050405020304" charset="0"/>
                          <a:sym typeface="+mn-ea"/>
                        </a:rPr>
                        <a:t>Design and Performance Analysis of 6T SRAM Cell on 90 nm Technology</a:t>
                      </a:r>
                      <a:endParaRPr lang="en-US" altLang="en-US" sz="1600" dirty="0">
                        <a:latin typeface="Times New Roman" panose="02020603050405020304" charset="0"/>
                        <a:cs typeface="Times New Roman" panose="02020603050405020304" charset="0"/>
                        <a:sym typeface="+mn-ea"/>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read delay, write delay, power consumption, and RSNM of 6T SRAM at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simulations for performance metrics.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Area overhead due to extra circuitry; trade-off between power saving and access speed.</a:t>
                      </a:r>
                      <a:endParaRPr lang="en-US" alt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r>
              <a:tr h="1529715">
                <a:tc>
                  <a:txBody>
                    <a:bodyPr/>
                    <a:p>
                      <a:pPr>
                        <a:buNone/>
                      </a:pPr>
                      <a:r>
                        <a:rPr lang="en-US" sz="1600">
                          <a:latin typeface="Times New Roman" panose="02020603050405020304" charset="0"/>
                          <a:cs typeface="Times New Roman" panose="02020603050405020304" charset="0"/>
                        </a:rPr>
                        <a:t>3.</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Performance Analysis of Low Power 6T SRAM Cell in 180 nm and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compare power, delay, and stability of 6T SRAM cells at 180 nm and 90 nm technology nodes.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schematic &amp; layout; wordline and bitline capacitance extraction; DRC/LVS verification.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Smaller node reduces power but may cause read stability issues under voltage fluctuations.</a:t>
                      </a:r>
                      <a:endParaRPr lang="en-US" altLang="en-US" sz="160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1600" y="711200"/>
          <a:ext cx="12004675" cy="4233545"/>
        </p:xfrm>
        <a:graphic>
          <a:graphicData uri="http://schemas.openxmlformats.org/drawingml/2006/table">
            <a:tbl>
              <a:tblPr firstRow="1" bandRow="1">
                <a:tableStyleId>{5C22544A-7EE6-4342-B048-85BDC9FD1C3A}</a:tableStyleId>
              </a:tblPr>
              <a:tblGrid>
                <a:gridCol w="886460"/>
                <a:gridCol w="2610485"/>
                <a:gridCol w="2640965"/>
                <a:gridCol w="3015615"/>
                <a:gridCol w="2851150"/>
              </a:tblGrid>
              <a:tr h="823595">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45285">
                <a:tc>
                  <a:txBody>
                    <a:bodyPr/>
                    <a:p>
                      <a:pPr>
                        <a:buNone/>
                      </a:pPr>
                      <a:r>
                        <a:rPr lang="en-US" sz="1600">
                          <a:latin typeface="Times New Roman" panose="02020603050405020304" charset="0"/>
                          <a:cs typeface="Times New Roman" panose="02020603050405020304" charset="0"/>
                        </a:rPr>
                        <a:t>4.</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Design and Performance Analysis of 6T SRAM Cell on Different CMOS Technologies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evaluate write delay, read delay, and power dissipation across multiple technology nodes (90 nm, 70 nm, 50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Technology scaling analysis; Cadence simulation for timing and power,transistor sizing for stability.</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Scaling improves speed and reduces power but increases susceptibility to process variation.</a:t>
                      </a:r>
                      <a:endParaRPr lang="en-US" altLang="en-US" sz="1600">
                        <a:latin typeface="Times New Roman" panose="02020603050405020304" charset="0"/>
                        <a:cs typeface="Times New Roman" panose="02020603050405020304" charset="0"/>
                      </a:endParaRPr>
                    </a:p>
                  </a:txBody>
                  <a:tcPr/>
                </a:tc>
              </a:tr>
              <a:tr h="1764665">
                <a:tc>
                  <a:txBody>
                    <a:bodyPr/>
                    <a:p>
                      <a:pPr>
                        <a:buNone/>
                      </a:pPr>
                      <a:r>
                        <a:rPr lang="en-US" sz="1600">
                          <a:latin typeface="Times New Roman" panose="02020603050405020304" charset="0"/>
                          <a:cs typeface="Times New Roman" panose="02020603050405020304" charset="0"/>
                        </a:rPr>
                        <a:t>5.</a:t>
                      </a:r>
                      <a:endParaRPr lang="en-US" sz="1600">
                        <a:latin typeface="Times New Roman" panose="02020603050405020304" charset="0"/>
                        <a:cs typeface="Times New Roman" panose="02020603050405020304" charset="0"/>
                      </a:endParaRPr>
                    </a:p>
                  </a:txBody>
                  <a:tcPr/>
                </a:tc>
                <a:tc>
                  <a:txBody>
                    <a:bodyPr/>
                    <a:p>
                      <a:r>
                        <a:rPr lang="en-US" altLang="en-US" sz="1600">
                          <a:latin typeface="Times New Roman" panose="02020603050405020304" charset="0"/>
                          <a:cs typeface="Times New Roman" panose="02020603050405020304" charset="0"/>
                        </a:rPr>
                        <a:t>Design, Modeling and Comparative Analysis of SRAM Performance under Subthreshold Operation</a:t>
                      </a:r>
                      <a:endParaRPr lang="en-US" altLang="en-US" sz="1600">
                        <a:latin typeface="Times New Roman" panose="02020603050405020304" charset="0"/>
                        <a:cs typeface="Times New Roman" panose="02020603050405020304" charset="0"/>
                      </a:endParaRPr>
                    </a:p>
                  </a:txBody>
                  <a:tcPr marL="0" marR="0" marT="0" marB="0" anchor="t" anchorCtr="0"/>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6T SRAM in 180 nm, 90 nm, and 45 nm under subthreshold regime for low-power operation.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simulation; delay, leakage and stability analysis.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Higher sensitivity to temperature and process variations; lower noise margin in subthreshold operation.</a:t>
                      </a:r>
                      <a:endParaRPr lang="en-US" altLang="en-US" sz="1600">
                        <a:latin typeface="Times New Roman" panose="02020603050405020304" charset="0"/>
                        <a:cs typeface="Times New Roman" panose="02020603050405020304" charset="0"/>
                      </a:endParaRPr>
                    </a:p>
                  </a:txBody>
                  <a:tcPr/>
                </a:tc>
              </a:tr>
            </a:tbl>
          </a:graphicData>
        </a:graphic>
      </p:graphicFrame>
      <p:pic>
        <p:nvPicPr>
          <p:cNvPr id="7" name="Picture 6"/>
          <p:cNvPicPr>
            <a:picLocks noChangeAspect="1"/>
          </p:cNvPicPr>
          <p:nvPr/>
        </p:nvPicPr>
        <p:blipFill>
          <a:blip r:embed="rId2"/>
          <a:stretch>
            <a:fillRect/>
          </a:stretch>
        </p:blipFill>
        <p:spPr>
          <a:xfrm>
            <a:off x="7355840" y="153035"/>
            <a:ext cx="4146550" cy="480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custDataLst>
              <p:tags r:id="rId1"/>
            </p:custDataLst>
          </p:nvPr>
        </p:nvGraphicFramePr>
        <p:xfrm>
          <a:off x="102235" y="583565"/>
          <a:ext cx="11988165" cy="6050915"/>
        </p:xfrm>
        <a:graphic>
          <a:graphicData uri="http://schemas.openxmlformats.org/drawingml/2006/table">
            <a:tbl>
              <a:tblPr firstRow="1" bandRow="1">
                <a:tableStyleId>{5940675A-B579-460E-94D1-54222C63F5DA}</a:tableStyleId>
              </a:tblPr>
              <a:tblGrid>
                <a:gridCol w="1404000"/>
                <a:gridCol w="756000"/>
                <a:gridCol w="756000"/>
                <a:gridCol w="756000"/>
                <a:gridCol w="756000"/>
                <a:gridCol w="756000"/>
                <a:gridCol w="756000"/>
                <a:gridCol w="756000"/>
                <a:gridCol w="756000"/>
                <a:gridCol w="756000"/>
                <a:gridCol w="756000"/>
                <a:gridCol w="756000"/>
                <a:gridCol w="756000"/>
                <a:gridCol w="756000"/>
                <a:gridCol w="756000"/>
              </a:tblGrid>
              <a:tr h="396000">
                <a:tc>
                  <a:txBody>
                    <a:bodyPr/>
                    <a:p>
                      <a:pPr algn="l">
                        <a:buNone/>
                      </a:pPr>
                      <a:endParaRPr lang="en-GB" altLang="en-US">
                        <a:latin typeface="Times New Roman" panose="02020603050405020304" charset="0"/>
                        <a:cs typeface="Times New Roman" panose="02020603050405020304" charset="0"/>
                      </a:endParaRPr>
                    </a:p>
                  </a:txBody>
                  <a:tcPr/>
                </a:tc>
                <a:tc gridSpan="4">
                  <a:txBody>
                    <a:bodyPr/>
                    <a:p>
                      <a:pPr algn="ctr">
                        <a:buNone/>
                      </a:pPr>
                      <a:r>
                        <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August</a:t>
                      </a:r>
                      <a:endPar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September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October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2">
                  <a:txBody>
                    <a:bodyPr/>
                    <a:p>
                      <a:pPr algn="ctr">
                        <a:buNone/>
                      </a:pPr>
                      <a:r>
                        <a:rPr lang="en-GB" altLang="en-US">
                          <a:latin typeface="Times New Roman" panose="02020603050405020304" charset="0"/>
                          <a:cs typeface="Times New Roman" panose="02020603050405020304" charset="0"/>
                        </a:rPr>
                        <a:t>November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r>
              <a:tr h="546735">
                <a:tc>
                  <a:txBody>
                    <a:bodyPr/>
                    <a:p>
                      <a:pPr algn="l">
                        <a:buNone/>
                      </a:pPr>
                      <a:r>
                        <a:rPr lang="en-GB" altLang="en-US" sz="1600">
                          <a:latin typeface="Times New Roman" panose="02020603050405020304" charset="0"/>
                          <a:cs typeface="Times New Roman" panose="02020603050405020304" charset="0"/>
                        </a:rPr>
                        <a:t>Task</a:t>
                      </a:r>
                      <a:endParaRPr lang="en-GB" altLang="en-US" sz="1600">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a:t>
                      </a:r>
                      <a:endParaRPr lang="en-GB" altLang="en-US" sz="1600">
                        <a:latin typeface="Times New Roman" panose="02020603050405020304" charset="0"/>
                        <a:cs typeface="Times New Roman" panose="02020603050405020304" charset="0"/>
                      </a:endParaRPr>
                    </a:p>
                    <a:p>
                      <a:pPr algn="l">
                        <a:buNone/>
                      </a:pPr>
                      <a:r>
                        <a:rPr lang="en-GB" altLang="en-US" sz="1600">
                          <a:latin typeface="Times New Roman" panose="02020603050405020304" charset="0"/>
                          <a:cs typeface="Times New Roman" panose="02020603050405020304" charset="0"/>
                        </a:rPr>
                        <a:t>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r>
              <a:tr h="540000">
                <a:tc>
                  <a:txBody>
                    <a:bodyPr/>
                    <a:p>
                      <a:pPr algn="l">
                        <a:buNone/>
                      </a:pPr>
                      <a:r>
                        <a:rPr lang="en-GB" altLang="en-US" sz="1600">
                          <a:latin typeface="Times New Roman" panose="02020603050405020304" charset="0"/>
                          <a:cs typeface="Times New Roman" panose="02020603050405020304" charset="0"/>
                          <a:sym typeface="+mn-ea"/>
                        </a:rPr>
                        <a:t>Lit</a:t>
                      </a:r>
                      <a:r>
                        <a:rPr lang="en-IN" altLang="en-GB" sz="1600">
                          <a:latin typeface="Times New Roman" panose="02020603050405020304" charset="0"/>
                          <a:cs typeface="Times New Roman" panose="02020603050405020304" charset="0"/>
                          <a:sym typeface="+mn-ea"/>
                        </a:rPr>
                        <a:t>era</a:t>
                      </a:r>
                      <a:r>
                        <a:rPr lang="en-GB" altLang="en-US" sz="1600">
                          <a:latin typeface="Times New Roman" panose="02020603050405020304" charset="0"/>
                          <a:cs typeface="Times New Roman" panose="02020603050405020304" charset="0"/>
                          <a:sym typeface="+mn-ea"/>
                        </a:rPr>
                        <a:t>ture </a:t>
                      </a:r>
                      <a:r>
                        <a:rPr lang="en-IN" altLang="en-GB" sz="1600">
                          <a:latin typeface="Times New Roman" panose="02020603050405020304" charset="0"/>
                          <a:cs typeface="Times New Roman" panose="02020603050405020304" charset="0"/>
                          <a:sym typeface="+mn-ea"/>
                        </a:rPr>
                        <a:t>Survey</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IN" altLang="en-GB" sz="1600">
                          <a:latin typeface="Times New Roman" panose="02020603050405020304" charset="0"/>
                          <a:cs typeface="Times New Roman" panose="02020603050405020304" charset="0"/>
                        </a:rPr>
                        <a:t>Problem &amp; Need Statemenr</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GB" altLang="en-US" sz="1600">
                          <a:latin typeface="Times New Roman" panose="02020603050405020304" charset="0"/>
                          <a:cs typeface="Times New Roman" panose="02020603050405020304" charset="0"/>
                          <a:sym typeface="+mn-ea"/>
                        </a:rPr>
                        <a:t>Schematic </a:t>
                      </a:r>
                      <a:r>
                        <a:rPr lang="en-IN" altLang="en-GB" sz="1600">
                          <a:latin typeface="Times New Roman" panose="02020603050405020304" charset="0"/>
                          <a:cs typeface="Times New Roman" panose="02020603050405020304" charset="0"/>
                          <a:sym typeface="+mn-ea"/>
                        </a:rPr>
                        <a:t>Design</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US" altLang="en-GB" sz="1600">
                          <a:latin typeface="Times New Roman" panose="02020603050405020304" charset="0"/>
                          <a:cs typeface="Times New Roman" panose="02020603050405020304" charset="0"/>
                        </a:rPr>
                        <a:t>Simulation &amp; Analysis</a:t>
                      </a:r>
                      <a:endParaRPr lang="en-US"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IN" altLang="en-GB" sz="1600">
                          <a:latin typeface="Times New Roman" panose="02020603050405020304" charset="0"/>
                          <a:cs typeface="Times New Roman" panose="02020603050405020304" charset="0"/>
                        </a:rPr>
                        <a:t>Layout Design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43230">
                <a:tc>
                  <a:txBody>
                    <a:bodyPr/>
                    <a:p>
                      <a:pPr algn="l">
                        <a:buNone/>
                      </a:pPr>
                      <a:r>
                        <a:rPr lang="en-IN" altLang="en-GB" sz="1600">
                          <a:latin typeface="Times New Roman" panose="02020603050405020304" charset="0"/>
                          <a:cs typeface="Times New Roman" panose="02020603050405020304" charset="0"/>
                        </a:rPr>
                        <a:t>DRC</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9255">
                <a:tc>
                  <a:txBody>
                    <a:bodyPr/>
                    <a:p>
                      <a:pPr algn="l">
                        <a:buNone/>
                      </a:pPr>
                      <a:r>
                        <a:rPr lang="en-IN" altLang="en-GB" sz="1600">
                          <a:latin typeface="Times New Roman" panose="02020603050405020304" charset="0"/>
                          <a:cs typeface="Times New Roman" panose="02020603050405020304" charset="0"/>
                        </a:rPr>
                        <a:t>LVS</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P-EX</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Final Docum-entation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Pentagon 9"/>
          <p:cNvSpPr/>
          <p:nvPr/>
        </p:nvSpPr>
        <p:spPr>
          <a:xfrm>
            <a:off x="1596390" y="1646555"/>
            <a:ext cx="256730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1" name="Pentagon 10"/>
          <p:cNvSpPr/>
          <p:nvPr/>
        </p:nvSpPr>
        <p:spPr>
          <a:xfrm>
            <a:off x="1596390" y="2292985"/>
            <a:ext cx="1386840" cy="43624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2" name="Pentagon 11"/>
          <p:cNvSpPr/>
          <p:nvPr/>
        </p:nvSpPr>
        <p:spPr>
          <a:xfrm>
            <a:off x="4163695" y="3040380"/>
            <a:ext cx="145224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4" name="Text Box 13"/>
          <p:cNvSpPr txBox="1"/>
          <p:nvPr/>
        </p:nvSpPr>
        <p:spPr>
          <a:xfrm>
            <a:off x="560070" y="0"/>
            <a:ext cx="4064000" cy="460375"/>
          </a:xfrm>
          <a:prstGeom prst="rect">
            <a:avLst/>
          </a:prstGeom>
          <a:noFill/>
        </p:spPr>
        <p:txBody>
          <a:bodyPr wrap="square" rtlCol="0">
            <a:spAutoFit/>
          </a:bodyPr>
          <a:p>
            <a:r>
              <a:rPr lang="en-GB" altLang="en-US" sz="2400" b="1">
                <a:latin typeface="Times New Roman" panose="02020603050405020304" charset="0"/>
                <a:cs typeface="Times New Roman" panose="02020603050405020304" charset="0"/>
              </a:rPr>
              <a:t>Gantt Chart</a:t>
            </a:r>
            <a:endParaRPr lang="en-GB" altLang="en-US" sz="2400" b="1">
              <a:latin typeface="Times New Roman" panose="02020603050405020304" charset="0"/>
              <a:cs typeface="Times New Roman" panose="02020603050405020304" charset="0"/>
            </a:endParaRPr>
          </a:p>
        </p:txBody>
      </p:sp>
      <p:sp>
        <p:nvSpPr>
          <p:cNvPr id="2" name="Pentagon 1"/>
          <p:cNvSpPr/>
          <p:nvPr/>
        </p:nvSpPr>
        <p:spPr>
          <a:xfrm>
            <a:off x="5332730" y="3639820"/>
            <a:ext cx="72961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 name="Pentagon 2"/>
          <p:cNvSpPr/>
          <p:nvPr/>
        </p:nvSpPr>
        <p:spPr>
          <a:xfrm>
            <a:off x="6062345" y="4209415"/>
            <a:ext cx="2241550"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Pentagon 3"/>
          <p:cNvSpPr/>
          <p:nvPr/>
        </p:nvSpPr>
        <p:spPr>
          <a:xfrm>
            <a:off x="8118475" y="4779010"/>
            <a:ext cx="1011555" cy="34036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Pentagon 4"/>
          <p:cNvSpPr/>
          <p:nvPr/>
        </p:nvSpPr>
        <p:spPr>
          <a:xfrm>
            <a:off x="8119745" y="5203190"/>
            <a:ext cx="1011555" cy="31242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7" name="Pentagon 6"/>
          <p:cNvSpPr/>
          <p:nvPr/>
        </p:nvSpPr>
        <p:spPr>
          <a:xfrm>
            <a:off x="8115935" y="5591810"/>
            <a:ext cx="1011555" cy="40576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9" name="Pentagon 8"/>
          <p:cNvSpPr/>
          <p:nvPr/>
        </p:nvSpPr>
        <p:spPr>
          <a:xfrm>
            <a:off x="9127490" y="6134735"/>
            <a:ext cx="223202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590155" y="227965"/>
            <a:ext cx="4146550" cy="480695"/>
          </a:xfrm>
          <a:prstGeom prst="rect">
            <a:avLst/>
          </a:prstGeom>
        </p:spPr>
      </p:pic>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IN" sz="2800" b="1" dirty="0">
                <a:latin typeface="Times New Roman" panose="02020603050405020304" charset="0"/>
                <a:cs typeface="Times New Roman" panose="02020603050405020304" charset="0"/>
              </a:rPr>
              <a:t>Work Breakdown Structure</a:t>
            </a:r>
            <a:endParaRPr lang="en-GB" altLang="en-IN" sz="2800" b="1" dirty="0">
              <a:latin typeface="Times New Roman" panose="02020603050405020304" charset="0"/>
              <a:cs typeface="Times New Roman" panose="02020603050405020304" charset="0"/>
            </a:endParaRPr>
          </a:p>
        </p:txBody>
      </p:sp>
      <p:sp>
        <p:nvSpPr>
          <p:cNvPr id="4" name="Rectangles 3"/>
          <p:cNvSpPr/>
          <p:nvPr/>
        </p:nvSpPr>
        <p:spPr>
          <a:xfrm>
            <a:off x="2026920" y="918210"/>
            <a:ext cx="7901940" cy="542925"/>
          </a:xfrm>
          <a:prstGeom prst="rect">
            <a:avLst/>
          </a:prstGeom>
          <a:solidFill>
            <a:schemeClr val="accent6">
              <a:lumMod val="40000"/>
              <a:lumOff val="6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b="1" dirty="0">
                <a:solidFill>
                  <a:schemeClr val="tx1"/>
                </a:solidFill>
                <a:latin typeface="Times New Roman" panose="02020603050405020304" charset="0"/>
                <a:cs typeface="Times New Roman" panose="02020603050405020304" charset="0"/>
                <a:sym typeface="+mn-ea"/>
              </a:rPr>
              <a:t>“ Design And Analysis of a Low-Power 6T SRAM Cell ” </a:t>
            </a:r>
            <a:endParaRPr lang="en-US" altLang="en-US" b="1" dirty="0">
              <a:solidFill>
                <a:schemeClr val="tx1"/>
              </a:solidFill>
              <a:latin typeface="Times New Roman" panose="02020603050405020304" charset="0"/>
              <a:cs typeface="Times New Roman" panose="02020603050405020304" charset="0"/>
              <a:sym typeface="+mn-ea"/>
            </a:endParaRPr>
          </a:p>
        </p:txBody>
      </p:sp>
      <p:sp>
        <p:nvSpPr>
          <p:cNvPr id="6" name="Rounded Rectangle 5"/>
          <p:cNvSpPr/>
          <p:nvPr/>
        </p:nvSpPr>
        <p:spPr>
          <a:xfrm>
            <a:off x="1026096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Documentation &amp; Presentation</a:t>
            </a:r>
            <a:endParaRPr lang="en-US" altLang="en-GB">
              <a:latin typeface="Times New Roman" panose="02020603050405020304" charset="0"/>
              <a:cs typeface="Times New Roman" panose="02020603050405020304" charset="0"/>
            </a:endParaRPr>
          </a:p>
        </p:txBody>
      </p:sp>
      <p:sp>
        <p:nvSpPr>
          <p:cNvPr id="17" name="Rounded Rectangle 16"/>
          <p:cNvSpPr/>
          <p:nvPr/>
        </p:nvSpPr>
        <p:spPr>
          <a:xfrm>
            <a:off x="829373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Testing &amp; Optimization</a:t>
            </a:r>
            <a:endParaRPr lang="en-US" altLang="en-GB">
              <a:latin typeface="Times New Roman" panose="02020603050405020304" charset="0"/>
              <a:cs typeface="Times New Roman" panose="02020603050405020304" charset="0"/>
            </a:endParaRPr>
          </a:p>
        </p:txBody>
      </p:sp>
      <p:sp>
        <p:nvSpPr>
          <p:cNvPr id="19" name="Rounded Rectangle 18"/>
          <p:cNvSpPr/>
          <p:nvPr/>
        </p:nvSpPr>
        <p:spPr>
          <a:xfrm>
            <a:off x="6326505" y="2106295"/>
            <a:ext cx="1750695"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Implementation</a:t>
            </a:r>
            <a:endParaRPr lang="en-US" altLang="en-GB">
              <a:latin typeface="Times New Roman" panose="02020603050405020304" charset="0"/>
              <a:cs typeface="Times New Roman" panose="02020603050405020304" charset="0"/>
            </a:endParaRPr>
          </a:p>
        </p:txBody>
      </p:sp>
      <p:sp>
        <p:nvSpPr>
          <p:cNvPr id="20" name="Rounded Rectangle 19"/>
          <p:cNvSpPr/>
          <p:nvPr/>
        </p:nvSpPr>
        <p:spPr>
          <a:xfrm>
            <a:off x="435927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Design</a:t>
            </a:r>
            <a:endParaRPr lang="en-US" altLang="en-GB">
              <a:latin typeface="Times New Roman" panose="02020603050405020304" charset="0"/>
              <a:cs typeface="Times New Roman" panose="02020603050405020304" charset="0"/>
            </a:endParaRPr>
          </a:p>
        </p:txBody>
      </p:sp>
      <p:sp>
        <p:nvSpPr>
          <p:cNvPr id="22" name="Rounded Rectangle 21"/>
          <p:cNvSpPr/>
          <p:nvPr/>
        </p:nvSpPr>
        <p:spPr>
          <a:xfrm>
            <a:off x="239204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Planning and Analysis</a:t>
            </a:r>
            <a:endParaRPr lang="en-US" altLang="en-GB">
              <a:latin typeface="Times New Roman" panose="02020603050405020304" charset="0"/>
              <a:cs typeface="Times New Roman" panose="02020603050405020304" charset="0"/>
            </a:endParaRPr>
          </a:p>
        </p:txBody>
      </p:sp>
      <p:sp>
        <p:nvSpPr>
          <p:cNvPr id="24" name="Rounded Rectangle 23"/>
          <p:cNvSpPr/>
          <p:nvPr/>
        </p:nvSpPr>
        <p:spPr>
          <a:xfrm>
            <a:off x="35115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Project Initiation</a:t>
            </a:r>
            <a:endParaRPr lang="en-US" altLang="en-GB">
              <a:latin typeface="Times New Roman" panose="02020603050405020304" charset="0"/>
              <a:cs typeface="Times New Roman" panose="02020603050405020304" charset="0"/>
            </a:endParaRPr>
          </a:p>
        </p:txBody>
      </p:sp>
      <p:sp>
        <p:nvSpPr>
          <p:cNvPr id="27" name="Rounded Rectangle 26"/>
          <p:cNvSpPr/>
          <p:nvPr/>
        </p:nvSpPr>
        <p:spPr>
          <a:xfrm>
            <a:off x="35115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Problem &amp; Objectives</a:t>
            </a:r>
            <a:endParaRPr lang="en-US" altLang="en-GB">
              <a:solidFill>
                <a:schemeClr val="tx1"/>
              </a:solidFill>
              <a:latin typeface="Times New Roman" panose="02020603050405020304" charset="0"/>
              <a:cs typeface="Times New Roman" panose="02020603050405020304" charset="0"/>
            </a:endParaRPr>
          </a:p>
        </p:txBody>
      </p:sp>
      <p:sp>
        <p:nvSpPr>
          <p:cNvPr id="29" name="Rounded Rectangle 28"/>
          <p:cNvSpPr/>
          <p:nvPr/>
        </p:nvSpPr>
        <p:spPr>
          <a:xfrm>
            <a:off x="351155" y="5939155"/>
            <a:ext cx="1739900" cy="745490"/>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Identifying Software Deliverables</a:t>
            </a:r>
            <a:endParaRPr lang="en-US" altLang="en-GB">
              <a:solidFill>
                <a:schemeClr val="tx1"/>
              </a:solidFill>
              <a:latin typeface="Times New Roman" panose="02020603050405020304" charset="0"/>
              <a:cs typeface="Times New Roman" panose="02020603050405020304" charset="0"/>
            </a:endParaRPr>
          </a:p>
        </p:txBody>
      </p:sp>
      <p:sp>
        <p:nvSpPr>
          <p:cNvPr id="30" name="Rounded Rectangle 29"/>
          <p:cNvSpPr/>
          <p:nvPr/>
        </p:nvSpPr>
        <p:spPr>
          <a:xfrm>
            <a:off x="35115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Defining Software Scope</a:t>
            </a:r>
            <a:endParaRPr lang="en-US" altLang="en-GB">
              <a:solidFill>
                <a:schemeClr val="tx1"/>
              </a:solidFill>
              <a:latin typeface="Times New Roman" panose="02020603050405020304" charset="0"/>
              <a:cs typeface="Times New Roman" panose="02020603050405020304" charset="0"/>
            </a:endParaRPr>
          </a:p>
        </p:txBody>
      </p:sp>
      <p:sp>
        <p:nvSpPr>
          <p:cNvPr id="31" name="Rounded Rectangle 30"/>
          <p:cNvSpPr/>
          <p:nvPr/>
        </p:nvSpPr>
        <p:spPr>
          <a:xfrm>
            <a:off x="35115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Literature Survey</a:t>
            </a:r>
            <a:endParaRPr lang="en-US" altLang="en-GB">
              <a:solidFill>
                <a:schemeClr val="tx1"/>
              </a:solidFill>
              <a:latin typeface="Times New Roman" panose="02020603050405020304" charset="0"/>
              <a:cs typeface="Times New Roman" panose="02020603050405020304" charset="0"/>
            </a:endParaRPr>
          </a:p>
        </p:txBody>
      </p:sp>
      <p:sp>
        <p:nvSpPr>
          <p:cNvPr id="32" name="Rounded Rectangle 31"/>
          <p:cNvSpPr/>
          <p:nvPr/>
        </p:nvSpPr>
        <p:spPr>
          <a:xfrm>
            <a:off x="435927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Design Optimization</a:t>
            </a:r>
            <a:endParaRPr lang="en-US" altLang="en-GB">
              <a:solidFill>
                <a:schemeClr val="tx1"/>
              </a:solidFill>
              <a:latin typeface="Times New Roman" panose="02020603050405020304" charset="0"/>
              <a:cs typeface="Times New Roman" panose="02020603050405020304" charset="0"/>
            </a:endParaRPr>
          </a:p>
        </p:txBody>
      </p:sp>
      <p:sp>
        <p:nvSpPr>
          <p:cNvPr id="33" name="Rounded Rectangle 32"/>
          <p:cNvSpPr/>
          <p:nvPr/>
        </p:nvSpPr>
        <p:spPr>
          <a:xfrm>
            <a:off x="435927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Simulation Setup</a:t>
            </a:r>
            <a:endParaRPr lang="en-US" altLang="en-GB">
              <a:solidFill>
                <a:schemeClr val="tx1"/>
              </a:solidFill>
              <a:latin typeface="Times New Roman" panose="02020603050405020304" charset="0"/>
              <a:cs typeface="Times New Roman" panose="02020603050405020304" charset="0"/>
            </a:endParaRPr>
          </a:p>
        </p:txBody>
      </p:sp>
      <p:sp>
        <p:nvSpPr>
          <p:cNvPr id="34" name="Rounded Rectangle 33"/>
          <p:cNvSpPr/>
          <p:nvPr/>
        </p:nvSpPr>
        <p:spPr>
          <a:xfrm>
            <a:off x="632650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LVS &amp; DRC Verification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35" name="Rounded Rectangle 34"/>
          <p:cNvSpPr/>
          <p:nvPr/>
        </p:nvSpPr>
        <p:spPr>
          <a:xfrm>
            <a:off x="632650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Layout Design</a:t>
            </a:r>
            <a:endParaRPr lang="en-US" altLang="en-GB">
              <a:solidFill>
                <a:schemeClr val="tx1"/>
              </a:solidFill>
              <a:latin typeface="Times New Roman" panose="02020603050405020304" charset="0"/>
              <a:cs typeface="Times New Roman" panose="02020603050405020304" charset="0"/>
              <a:sym typeface="+mn-ea"/>
            </a:endParaRPr>
          </a:p>
        </p:txBody>
      </p:sp>
      <p:sp>
        <p:nvSpPr>
          <p:cNvPr id="36" name="Rounded Rectangle 35"/>
          <p:cNvSpPr/>
          <p:nvPr/>
        </p:nvSpPr>
        <p:spPr>
          <a:xfrm>
            <a:off x="632650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Running Simulations</a:t>
            </a:r>
            <a:endParaRPr lang="en-US" altLang="en-GB">
              <a:solidFill>
                <a:schemeClr val="tx1"/>
              </a:solidFill>
              <a:latin typeface="Times New Roman" panose="02020603050405020304" charset="0"/>
              <a:cs typeface="Times New Roman" panose="02020603050405020304" charset="0"/>
              <a:sym typeface="+mn-ea"/>
            </a:endParaRPr>
          </a:p>
        </p:txBody>
      </p:sp>
      <p:sp>
        <p:nvSpPr>
          <p:cNvPr id="38" name="Rounded Rectangle 37"/>
          <p:cNvSpPr/>
          <p:nvPr/>
        </p:nvSpPr>
        <p:spPr>
          <a:xfrm>
            <a:off x="239204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Technology &amp; Tool Selection</a:t>
            </a:r>
            <a:endParaRPr lang="en-US" altLang="en-GB">
              <a:solidFill>
                <a:schemeClr val="tx1"/>
              </a:solidFill>
              <a:latin typeface="Times New Roman" panose="02020603050405020304" charset="0"/>
              <a:cs typeface="Times New Roman" panose="02020603050405020304" charset="0"/>
            </a:endParaRPr>
          </a:p>
        </p:txBody>
      </p:sp>
      <p:sp>
        <p:nvSpPr>
          <p:cNvPr id="39" name="Rounded Rectangle 38"/>
          <p:cNvSpPr/>
          <p:nvPr/>
        </p:nvSpPr>
        <p:spPr>
          <a:xfrm>
            <a:off x="435927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Schematic Design</a:t>
            </a:r>
            <a:endParaRPr lang="en-US" altLang="en-GB">
              <a:solidFill>
                <a:schemeClr val="tx1"/>
              </a:solidFill>
              <a:latin typeface="Times New Roman" panose="02020603050405020304" charset="0"/>
              <a:cs typeface="Times New Roman" panose="02020603050405020304" charset="0"/>
            </a:endParaRPr>
          </a:p>
        </p:txBody>
      </p:sp>
      <p:sp>
        <p:nvSpPr>
          <p:cNvPr id="40" name="Rounded Rectangle 39"/>
          <p:cNvSpPr/>
          <p:nvPr/>
        </p:nvSpPr>
        <p:spPr>
          <a:xfrm>
            <a:off x="632650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Setting up EDA Tools</a:t>
            </a:r>
            <a:endParaRPr lang="en-US" altLang="en-GB">
              <a:solidFill>
                <a:schemeClr val="tx1"/>
              </a:solidFill>
              <a:latin typeface="Times New Roman" panose="02020603050405020304" charset="0"/>
              <a:cs typeface="Times New Roman" panose="02020603050405020304" charset="0"/>
              <a:sym typeface="+mn-ea"/>
            </a:endParaRPr>
          </a:p>
        </p:txBody>
      </p:sp>
      <p:sp>
        <p:nvSpPr>
          <p:cNvPr id="43" name="Rounded Rectangle 42"/>
          <p:cNvSpPr/>
          <p:nvPr/>
        </p:nvSpPr>
        <p:spPr>
          <a:xfrm>
            <a:off x="8293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Parasitic Extraction</a:t>
            </a:r>
            <a:endParaRPr lang="en-US" altLang="en-GB">
              <a:solidFill>
                <a:schemeClr val="tx1"/>
              </a:solidFill>
              <a:latin typeface="Times New Roman" panose="02020603050405020304" charset="0"/>
              <a:cs typeface="Times New Roman" panose="02020603050405020304" charset="0"/>
            </a:endParaRPr>
          </a:p>
        </p:txBody>
      </p:sp>
      <p:sp>
        <p:nvSpPr>
          <p:cNvPr id="44" name="Rounded Rectangle 43"/>
          <p:cNvSpPr/>
          <p:nvPr/>
        </p:nvSpPr>
        <p:spPr>
          <a:xfrm>
            <a:off x="8293735" y="5049520"/>
            <a:ext cx="1739900" cy="72580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Layout vs Schematic Checks</a:t>
            </a:r>
            <a:endParaRPr lang="en-US" altLang="en-GB">
              <a:solidFill>
                <a:schemeClr val="tx1"/>
              </a:solidFill>
              <a:latin typeface="Times New Roman" panose="02020603050405020304" charset="0"/>
              <a:cs typeface="Times New Roman" panose="02020603050405020304" charset="0"/>
            </a:endParaRPr>
          </a:p>
        </p:txBody>
      </p:sp>
      <p:sp>
        <p:nvSpPr>
          <p:cNvPr id="45" name="Rounded Rectangle 44"/>
          <p:cNvSpPr/>
          <p:nvPr/>
        </p:nvSpPr>
        <p:spPr>
          <a:xfrm>
            <a:off x="8293735" y="4068445"/>
            <a:ext cx="1739900" cy="70421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Power &amp; Performance Analysis</a:t>
            </a:r>
            <a:endParaRPr lang="en-US" altLang="en-GB">
              <a:solidFill>
                <a:schemeClr val="tx1"/>
              </a:solidFill>
              <a:latin typeface="Times New Roman" panose="02020603050405020304" charset="0"/>
              <a:cs typeface="Times New Roman" panose="02020603050405020304" charset="0"/>
            </a:endParaRPr>
          </a:p>
        </p:txBody>
      </p:sp>
      <p:sp>
        <p:nvSpPr>
          <p:cNvPr id="46" name="Rounded Rectangle 45"/>
          <p:cNvSpPr/>
          <p:nvPr/>
        </p:nvSpPr>
        <p:spPr>
          <a:xfrm>
            <a:off x="8293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Functional Simulation</a:t>
            </a:r>
            <a:endParaRPr lang="en-US" altLang="en-GB">
              <a:solidFill>
                <a:schemeClr val="tx1"/>
              </a:solidFill>
              <a:latin typeface="Times New Roman" panose="02020603050405020304" charset="0"/>
              <a:cs typeface="Times New Roman" panose="02020603050405020304" charset="0"/>
            </a:endParaRPr>
          </a:p>
        </p:txBody>
      </p:sp>
      <p:sp>
        <p:nvSpPr>
          <p:cNvPr id="47" name="Rounded Rectangle 46"/>
          <p:cNvSpPr/>
          <p:nvPr/>
        </p:nvSpPr>
        <p:spPr>
          <a:xfrm>
            <a:off x="10325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a:solidFill>
                  <a:schemeClr val="tx1"/>
                </a:solidFill>
                <a:latin typeface="Times New Roman" panose="02020603050405020304" charset="0"/>
                <a:cs typeface="Times New Roman" panose="02020603050405020304" charset="0"/>
              </a:rPr>
              <a:t>Final Review</a:t>
            </a:r>
            <a:endParaRPr lang="en-GB" altLang="en-US">
              <a:solidFill>
                <a:schemeClr val="tx1"/>
              </a:solidFill>
              <a:latin typeface="Times New Roman" panose="02020603050405020304" charset="0"/>
              <a:cs typeface="Times New Roman" panose="02020603050405020304" charset="0"/>
            </a:endParaRPr>
          </a:p>
        </p:txBody>
      </p:sp>
      <p:sp>
        <p:nvSpPr>
          <p:cNvPr id="48" name="Rounded Rectangle 47"/>
          <p:cNvSpPr/>
          <p:nvPr/>
        </p:nvSpPr>
        <p:spPr>
          <a:xfrm>
            <a:off x="1032573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Documentation Compilation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49" name="Rounded Rectangle 48"/>
          <p:cNvSpPr/>
          <p:nvPr/>
        </p:nvSpPr>
        <p:spPr>
          <a:xfrm>
            <a:off x="10325735" y="4068445"/>
            <a:ext cx="1739900" cy="69913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Final Presentation Preparation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50" name="Rounded Rectangle 49"/>
          <p:cNvSpPr/>
          <p:nvPr/>
        </p:nvSpPr>
        <p:spPr>
          <a:xfrm>
            <a:off x="10325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Report</a:t>
            </a:r>
            <a:r>
              <a:rPr lang="en-GB" altLang="en-US">
                <a:solidFill>
                  <a:schemeClr val="tx1"/>
                </a:solidFill>
                <a:latin typeface="Times New Roman" panose="02020603050405020304" charset="0"/>
                <a:cs typeface="Times New Roman" panose="02020603050405020304" charset="0"/>
              </a:rPr>
              <a:t> making</a:t>
            </a:r>
            <a:endParaRPr lang="en-GB" altLang="en-US">
              <a:solidFill>
                <a:schemeClr val="tx1"/>
              </a:solidFill>
              <a:latin typeface="Times New Roman" panose="02020603050405020304" charset="0"/>
              <a:cs typeface="Times New Roman" panose="02020603050405020304" charset="0"/>
            </a:endParaRPr>
          </a:p>
        </p:txBody>
      </p:sp>
      <p:sp>
        <p:nvSpPr>
          <p:cNvPr id="51" name="Rounded Rectangle 50"/>
          <p:cNvSpPr/>
          <p:nvPr/>
        </p:nvSpPr>
        <p:spPr>
          <a:xfrm>
            <a:off x="235521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Prepare Gantt Chart &amp; WBS</a:t>
            </a:r>
            <a:endParaRPr lang="en-US" altLang="en-GB">
              <a:solidFill>
                <a:schemeClr val="tx1"/>
              </a:solidFill>
              <a:latin typeface="Times New Roman" panose="02020603050405020304" charset="0"/>
              <a:cs typeface="Times New Roman" panose="02020603050405020304" charset="0"/>
            </a:endParaRPr>
          </a:p>
        </p:txBody>
      </p:sp>
      <p:sp>
        <p:nvSpPr>
          <p:cNvPr id="52" name="Rounded Rectangle 51"/>
          <p:cNvSpPr/>
          <p:nvPr/>
        </p:nvSpPr>
        <p:spPr>
          <a:xfrm>
            <a:off x="2392045" y="496633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Schedule &amp; Task Allocation</a:t>
            </a:r>
            <a:endParaRPr lang="en-US" altLang="en-GB">
              <a:solidFill>
                <a:schemeClr val="tx1"/>
              </a:solidFill>
              <a:latin typeface="Times New Roman" panose="02020603050405020304" charset="0"/>
              <a:cs typeface="Times New Roman" panose="02020603050405020304" charset="0"/>
            </a:endParaRPr>
          </a:p>
        </p:txBody>
      </p:sp>
      <p:sp>
        <p:nvSpPr>
          <p:cNvPr id="53" name="Rounded Rectangle 52"/>
          <p:cNvSpPr/>
          <p:nvPr/>
        </p:nvSpPr>
        <p:spPr>
          <a:xfrm>
            <a:off x="239204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Requirement Analysis</a:t>
            </a:r>
            <a:endParaRPr lang="en-US" altLang="en-GB">
              <a:solidFill>
                <a:schemeClr val="tx1"/>
              </a:solidFill>
              <a:latin typeface="Times New Roman" panose="02020603050405020304" charset="0"/>
              <a:cs typeface="Times New Roman" panose="02020603050405020304" charset="0"/>
            </a:endParaRPr>
          </a:p>
        </p:txBody>
      </p:sp>
      <p:sp>
        <p:nvSpPr>
          <p:cNvPr id="54" name="Rounded Rectangle 53"/>
          <p:cNvSpPr/>
          <p:nvPr/>
        </p:nvSpPr>
        <p:spPr>
          <a:xfrm>
            <a:off x="435927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Post-Layout Simulation</a:t>
            </a:r>
            <a:endParaRPr lang="en-US" altLang="en-GB">
              <a:solidFill>
                <a:schemeClr val="tx1"/>
              </a:solidFill>
              <a:latin typeface="Times New Roman" panose="02020603050405020304" charset="0"/>
              <a:cs typeface="Times New Roman" panose="02020603050405020304" charset="0"/>
            </a:endParaRPr>
          </a:p>
        </p:txBody>
      </p:sp>
      <p:cxnSp>
        <p:nvCxnSpPr>
          <p:cNvPr id="59" name="Straight Arrow Connector 58"/>
          <p:cNvCxnSpPr>
            <a:stCxn id="24" idx="2"/>
            <a:endCxn id="27" idx="0"/>
          </p:cNvCxnSpPr>
          <p:nvPr/>
        </p:nvCxnSpPr>
        <p:spPr>
          <a:xfrm>
            <a:off x="1221105" y="278892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0" name="Straight Arrow Connector 59"/>
          <p:cNvCxnSpPr/>
          <p:nvPr/>
        </p:nvCxnSpPr>
        <p:spPr>
          <a:xfrm>
            <a:off x="923734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Straight Arrow Connector 60"/>
          <p:cNvCxnSpPr/>
          <p:nvPr/>
        </p:nvCxnSpPr>
        <p:spPr>
          <a:xfrm>
            <a:off x="522922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Straight Arrow Connector 61"/>
          <p:cNvCxnSpPr/>
          <p:nvPr/>
        </p:nvCxnSpPr>
        <p:spPr>
          <a:xfrm>
            <a:off x="730313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3" name="Straight Arrow Connector 62"/>
          <p:cNvCxnSpPr/>
          <p:nvPr/>
        </p:nvCxnSpPr>
        <p:spPr>
          <a:xfrm>
            <a:off x="1119568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4" name="Straight Arrow Connector 63"/>
          <p:cNvCxnSpPr/>
          <p:nvPr/>
        </p:nvCxnSpPr>
        <p:spPr>
          <a:xfrm>
            <a:off x="3255010"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5" name="Straight Arrow Connector 64"/>
          <p:cNvCxnSpPr/>
          <p:nvPr/>
        </p:nvCxnSpPr>
        <p:spPr>
          <a:xfrm>
            <a:off x="3255010" y="56489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6" name="Straight Arrow Connector 65"/>
          <p:cNvCxnSpPr/>
          <p:nvPr/>
        </p:nvCxnSpPr>
        <p:spPr>
          <a:xfrm>
            <a:off x="122110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7" name="Straight Arrow Connector 66"/>
          <p:cNvCxnSpPr/>
          <p:nvPr/>
        </p:nvCxnSpPr>
        <p:spPr>
          <a:xfrm>
            <a:off x="122110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8" name="Straight Arrow Connector 67"/>
          <p:cNvCxnSpPr/>
          <p:nvPr/>
        </p:nvCxnSpPr>
        <p:spPr>
          <a:xfrm>
            <a:off x="3255010"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9" name="Straight Arrow Connector 68"/>
          <p:cNvCxnSpPr/>
          <p:nvPr/>
        </p:nvCxnSpPr>
        <p:spPr>
          <a:xfrm>
            <a:off x="730313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0" name="Straight Arrow Connector 69"/>
          <p:cNvCxnSpPr/>
          <p:nvPr/>
        </p:nvCxnSpPr>
        <p:spPr>
          <a:xfrm>
            <a:off x="923734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1" name="Straight Arrow Connector 70"/>
          <p:cNvCxnSpPr/>
          <p:nvPr/>
        </p:nvCxnSpPr>
        <p:spPr>
          <a:xfrm>
            <a:off x="5229225" y="476758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2" name="Straight Arrow Connector 71"/>
          <p:cNvCxnSpPr/>
          <p:nvPr/>
        </p:nvCxnSpPr>
        <p:spPr>
          <a:xfrm>
            <a:off x="1119568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Straight Arrow Connector 72"/>
          <p:cNvCxnSpPr/>
          <p:nvPr/>
        </p:nvCxnSpPr>
        <p:spPr>
          <a:xfrm>
            <a:off x="9237345" y="37223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Straight Arrow Connector 73"/>
          <p:cNvCxnSpPr/>
          <p:nvPr/>
        </p:nvCxnSpPr>
        <p:spPr>
          <a:xfrm>
            <a:off x="730313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Straight Arrow Connector 74"/>
          <p:cNvCxnSpPr/>
          <p:nvPr/>
        </p:nvCxnSpPr>
        <p:spPr>
          <a:xfrm>
            <a:off x="522922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a:off x="1119568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Straight Arrow Connector 76"/>
          <p:cNvCxnSpPr>
            <a:stCxn id="32" idx="2"/>
            <a:endCxn id="54" idx="0"/>
          </p:cNvCxnSpPr>
          <p:nvPr/>
        </p:nvCxnSpPr>
        <p:spPr>
          <a:xfrm>
            <a:off x="522922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8" name="Straight Arrow Connector 77"/>
          <p:cNvCxnSpPr/>
          <p:nvPr/>
        </p:nvCxnSpPr>
        <p:spPr>
          <a:xfrm>
            <a:off x="122110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9" name="Straight Arrow Connector 78"/>
          <p:cNvCxnSpPr/>
          <p:nvPr/>
        </p:nvCxnSpPr>
        <p:spPr>
          <a:xfrm>
            <a:off x="1119568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0" name="Straight Arrow Connector 79"/>
          <p:cNvCxnSpPr/>
          <p:nvPr/>
        </p:nvCxnSpPr>
        <p:spPr>
          <a:xfrm>
            <a:off x="923734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1" name="Straight Arrow Connector 80"/>
          <p:cNvCxnSpPr/>
          <p:nvPr/>
        </p:nvCxnSpPr>
        <p:spPr>
          <a:xfrm>
            <a:off x="7303135" y="577913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2" name="Straight Arrow Connector 81"/>
          <p:cNvCxnSpPr/>
          <p:nvPr/>
        </p:nvCxnSpPr>
        <p:spPr>
          <a:xfrm>
            <a:off x="3255010" y="475107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3" name="Straight Connector 82"/>
          <p:cNvCxnSpPr/>
          <p:nvPr/>
        </p:nvCxnSpPr>
        <p:spPr>
          <a:xfrm>
            <a:off x="1118235" y="1734820"/>
            <a:ext cx="10114915" cy="31750"/>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cxnSp>
        <p:nvCxnSpPr>
          <p:cNvPr id="84" name="Straight Arrow Connector 83"/>
          <p:cNvCxnSpPr/>
          <p:nvPr/>
        </p:nvCxnSpPr>
        <p:spPr>
          <a:xfrm>
            <a:off x="11182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7" name="Straight Arrow Connector 86"/>
          <p:cNvCxnSpPr/>
          <p:nvPr/>
        </p:nvCxnSpPr>
        <p:spPr>
          <a:xfrm>
            <a:off x="923734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8" name="Straight Arrow Connector 87"/>
          <p:cNvCxnSpPr/>
          <p:nvPr/>
        </p:nvCxnSpPr>
        <p:spPr>
          <a:xfrm>
            <a:off x="73031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9" name="Straight Arrow Connector 88"/>
          <p:cNvCxnSpPr/>
          <p:nvPr/>
        </p:nvCxnSpPr>
        <p:spPr>
          <a:xfrm>
            <a:off x="522922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0" name="Straight Arrow Connector 89"/>
          <p:cNvCxnSpPr/>
          <p:nvPr/>
        </p:nvCxnSpPr>
        <p:spPr>
          <a:xfrm>
            <a:off x="325501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1" name="Straight Arrow Connector 90"/>
          <p:cNvCxnSpPr/>
          <p:nvPr/>
        </p:nvCxnSpPr>
        <p:spPr>
          <a:xfrm>
            <a:off x="1123315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2" name="Straight Connector 91"/>
          <p:cNvCxnSpPr>
            <a:stCxn id="4" idx="2"/>
          </p:cNvCxnSpPr>
          <p:nvPr/>
        </p:nvCxnSpPr>
        <p:spPr>
          <a:xfrm flipH="1">
            <a:off x="5972810" y="1461135"/>
            <a:ext cx="5080" cy="263525"/>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0500"/>
            <a:ext cx="10515600" cy="695325"/>
          </a:xfrm>
        </p:spPr>
        <p:txBody>
          <a:bodyPr/>
          <a:p>
            <a:r>
              <a:rPr lang="en-US" altLang="en-GB" sz="2800" b="1">
                <a:latin typeface="Times New Roman" panose="02020603050405020304" charset="0"/>
                <a:cs typeface="Times New Roman" panose="02020603050405020304" charset="0"/>
              </a:rPr>
              <a:t>Methodology</a:t>
            </a:r>
            <a:r>
              <a:rPr lang="en-GB" altLang="en-US" sz="2800" b="1">
                <a:latin typeface="Times New Roman" panose="02020603050405020304" charset="0"/>
                <a:cs typeface="Times New Roman" panose="02020603050405020304" charset="0"/>
              </a:rPr>
              <a:t> :</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85825"/>
            <a:ext cx="10515600" cy="5022215"/>
          </a:xfrm>
        </p:spPr>
        <p:txBody>
          <a:bodyPr>
            <a:noAutofit/>
          </a:bodyPr>
          <a:p>
            <a:pPr>
              <a:buAutoNum type="arabicPeriod"/>
            </a:pPr>
            <a:r>
              <a:rPr lang="en-US" altLang="en-GB" sz="1500" u="sng">
                <a:latin typeface="Times New Roman" panose="02020603050405020304" charset="0"/>
                <a:cs typeface="Times New Roman" panose="02020603050405020304" charset="0"/>
              </a:rPr>
              <a:t>Selection of Technology Nodes:</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6T SRAM cell designed using 180nm, 90nm, and 45nm CMOS technologies to study scaling effects on area, power, and delay.</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2.   </a:t>
            </a:r>
            <a:r>
              <a:rPr lang="en-US" altLang="en-GB" sz="1500" u="sng">
                <a:latin typeface="Times New Roman" panose="02020603050405020304" charset="0"/>
                <a:cs typeface="Times New Roman" panose="02020603050405020304" charset="0"/>
              </a:rPr>
              <a:t>Schematic Design: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Implemented a standard 6T SRAM cell using two cross-coupled inverters and two access transistors in Cadence Virtuoso with appropriate PDK/BSIM models.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3.  </a:t>
            </a:r>
            <a:r>
              <a:rPr lang="en-GB" altLang="en-US" sz="1500" u="sng">
                <a:latin typeface="Times New Roman" panose="02020603050405020304" charset="0"/>
                <a:cs typeface="Times New Roman" panose="02020603050405020304" charset="0"/>
              </a:rPr>
              <a:t> </a:t>
            </a:r>
            <a:r>
              <a:rPr lang="en-US" altLang="en-GB" sz="1500" u="sng">
                <a:latin typeface="Times New Roman" panose="02020603050405020304" charset="0"/>
                <a:cs typeface="Times New Roman" panose="02020603050405020304" charset="0"/>
              </a:rPr>
              <a:t>Transistor Sizing and Simulation Setup:</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Optimized transistor ratios (pull-up, pull-down, access) for stable read/write operations.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Performed simulations in Cadence Virtuoso ADE L – Waveform Calculator (Spectre Simulation) to measure read/write delay and power consumption (static and dynamic).</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 4.  </a:t>
            </a:r>
            <a:r>
              <a:rPr lang="en-US" altLang="en-GB" sz="1500" u="sng">
                <a:latin typeface="Times New Roman" panose="02020603050405020304" charset="0"/>
                <a:cs typeface="Times New Roman" panose="02020603050405020304" charset="0"/>
                <a:sym typeface="+mn-ea"/>
              </a:rPr>
              <a:t>Layout Design and Verification: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Created layouts for all three technology nodes.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Verified layouts through DRC and LVS checks.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Conducted Parasitic Extraction (PEX) for accurate post-layout simulations.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5.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Performance Evaluation:</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Evaluated area, power dissipation, and propagation delay from extracted layouts.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Compared results across 180nm, 90nm, and 45nm to assess improvements due to scaling.</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6.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Result Analysis: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Found that with smaller technology nodes, area reduces, speed improves, but leakage current and </a:t>
            </a:r>
            <a:r>
              <a:rPr lang="en-US" altLang="en-GB" sz="1500">
                <a:latin typeface="Times New Roman" panose="02020603050405020304" charset="0"/>
                <a:cs typeface="Times New Roman" panose="02020603050405020304" charset="0"/>
                <a:sym typeface="+mn-ea"/>
              </a:rPr>
              <a:t>power consumption</a:t>
            </a:r>
            <a:r>
              <a:rPr lang="en-US" altLang="en-GB" sz="1500">
                <a:latin typeface="Times New Roman" panose="02020603050405020304" charset="0"/>
                <a:cs typeface="Times New Roman" panose="02020603050405020304" charset="0"/>
                <a:sym typeface="+mn-ea"/>
              </a:rPr>
              <a:t> increases.</a:t>
            </a:r>
            <a:endParaRPr lang="en-US" altLang="en-GB" sz="1500">
              <a:latin typeface="Times New Roman" panose="02020603050405020304" charset="0"/>
              <a:cs typeface="Times New Roman" panose="02020603050405020304" charset="0"/>
            </a:endParaRPr>
          </a:p>
          <a:p>
            <a:endParaRPr lang="en-US" altLang="en-GB" sz="11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800" b="1" dirty="0">
                <a:latin typeface="Times New Roman" panose="02020603050405020304" charset="0"/>
                <a:cs typeface="Times New Roman" panose="02020603050405020304" charset="0"/>
              </a:rPr>
              <a:t>M</a:t>
            </a:r>
            <a:r>
              <a:rPr lang="en-US" altLang="en-GB" sz="2800" b="1" dirty="0">
                <a:latin typeface="Times New Roman" panose="02020603050405020304" charset="0"/>
                <a:cs typeface="Times New Roman" panose="02020603050405020304" charset="0"/>
              </a:rPr>
              <a:t>athematical and </a:t>
            </a:r>
            <a:r>
              <a:rPr lang="en-IN" altLang="en-US" sz="2800" b="1" dirty="0">
                <a:latin typeface="Times New Roman" panose="02020603050405020304" charset="0"/>
                <a:cs typeface="Times New Roman" panose="02020603050405020304" charset="0"/>
              </a:rPr>
              <a:t>P</a:t>
            </a:r>
            <a:r>
              <a:rPr lang="en-US" altLang="en-GB" sz="2800" b="1" dirty="0">
                <a:latin typeface="Times New Roman" panose="02020603050405020304" charset="0"/>
                <a:cs typeface="Times New Roman" panose="02020603050405020304" charset="0"/>
              </a:rPr>
              <a:t>hysical model of a system</a:t>
            </a:r>
            <a:endParaRPr lang="en-US" altLang="en-GB" sz="2800" b="1" dirty="0">
              <a:latin typeface="Times New Roman" panose="02020603050405020304" charset="0"/>
              <a:cs typeface="Times New Roman" panose="02020603050405020304" charset="0"/>
            </a:endParaRPr>
          </a:p>
        </p:txBody>
      </p:sp>
      <p:sp>
        <p:nvSpPr>
          <p:cNvPr id="2" name="Text Box 1"/>
          <p:cNvSpPr txBox="1"/>
          <p:nvPr/>
        </p:nvSpPr>
        <p:spPr>
          <a:xfrm>
            <a:off x="442595" y="989330"/>
            <a:ext cx="9398000" cy="5671820"/>
          </a:xfrm>
          <a:prstGeom prst="rect">
            <a:avLst/>
          </a:prstGeom>
        </p:spPr>
        <p:txBody>
          <a:bodyPr wrap="square">
            <a:noAutofit/>
          </a:bodyPr>
          <a:p>
            <a:pPr>
              <a:spcAft>
                <a:spcPct val="60000"/>
              </a:spcAft>
            </a:pPr>
            <a:r>
              <a:rPr sz="1600" b="1">
                <a:latin typeface="Times New Roman" panose="02020603050405020304" charset="0"/>
                <a:cs typeface="Times New Roman" panose="02020603050405020304" charset="0"/>
              </a:rPr>
              <a:t>1. Mathematical Model</a:t>
            </a:r>
            <a:r>
              <a:rPr lang="en-IN" sz="1600" b="1">
                <a:latin typeface="Times New Roman" panose="02020603050405020304" charset="0"/>
                <a:cs typeface="Times New Roman" panose="02020603050405020304" charset="0"/>
              </a:rPr>
              <a:t>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Power Consumption</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Dynamic power</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a:t>
            </a:r>
            <a:r>
              <a:rPr sz="1600" baseline="-25000">
                <a:latin typeface="Times New Roman" panose="02020603050405020304" charset="0"/>
                <a:cs typeface="Times New Roman" panose="02020603050405020304" charset="0"/>
              </a:rPr>
              <a:t>dyn</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α </a:t>
            </a:r>
            <a:r>
              <a:rPr lang="en-US"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C</a:t>
            </a:r>
            <a:r>
              <a:rPr sz="1600" baseline="-25000">
                <a:latin typeface="Times New Roman" panose="02020603050405020304" charset="0"/>
                <a:cs typeface="Times New Roman" panose="02020603050405020304" charset="0"/>
              </a:rPr>
              <a:t>L</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 </a:t>
            </a:r>
            <a:r>
              <a:rPr lang="en-IN" sz="1600" baseline="30000">
                <a:latin typeface="Times New Roman" panose="02020603050405020304" charset="0"/>
                <a:cs typeface="Times New Roman" panose="02020603050405020304" charset="0"/>
              </a:rPr>
              <a:t>2</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Static power </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(leakage):P</a:t>
            </a:r>
            <a:r>
              <a:rPr sz="1600" baseline="-25000">
                <a:latin typeface="Times New Roman" panose="02020603050405020304" charset="0"/>
                <a:cs typeface="Times New Roman" panose="02020603050405020304" charset="0"/>
              </a:rPr>
              <a:t>static</a:t>
            </a:r>
            <a:r>
              <a:rPr sz="1600">
                <a:latin typeface="Times New Roman" panose="02020603050405020304" charset="0"/>
                <a:cs typeface="Times New Roman" panose="02020603050405020304" charset="0"/>
              </a:rPr>
              <a:t>=I</a:t>
            </a:r>
            <a:r>
              <a:rPr sz="1600" baseline="-25000">
                <a:latin typeface="Times New Roman" panose="02020603050405020304" charset="0"/>
                <a:cs typeface="Times New Roman" panose="02020603050405020304" charset="0"/>
              </a:rPr>
              <a:t>leak</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P</a:t>
            </a:r>
            <a:endParaRPr sz="1600">
              <a:latin typeface="Times New Roman" panose="02020603050405020304" charset="0"/>
              <a:cs typeface="Times New Roman" panose="02020603050405020304" charset="0"/>
            </a:endParaRPr>
          </a:p>
          <a:p>
            <a:pPr lvl="1" indent="0">
              <a:buFont typeface="Arial" panose="020B0604020202020204"/>
              <a:buNone/>
            </a:pP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Delay (Read/Write delay)</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Dynamic power</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Pdyn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α CL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VDD2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Static power </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(leakage):Pstatic=Ileak</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VDDP</a:t>
            </a:r>
            <a:endParaRPr sz="1600">
              <a:latin typeface="Times New Roman" panose="02020603050405020304" charset="0"/>
              <a:cs typeface="Times New Roman" panose="02020603050405020304" charset="0"/>
              <a:sym typeface="+mn-ea"/>
            </a:endParaRPr>
          </a:p>
          <a:p>
            <a:pPr lvl="1" indent="0">
              <a:buFont typeface="Arial" panose="020B0604020202020204"/>
              <a:buNone/>
            </a:pPr>
            <a:endParaRPr sz="1600">
              <a:latin typeface="Times New Roman" panose="02020603050405020304" charset="0"/>
              <a:cs typeface="Times New Roman" panose="02020603050405020304" charset="0"/>
              <a:sym typeface="+mn-ea"/>
            </a:endParaRPr>
          </a:p>
          <a:p>
            <a:pPr>
              <a:spcAft>
                <a:spcPct val="60000"/>
              </a:spcAft>
            </a:pPr>
            <a:r>
              <a:rPr sz="1600" b="1">
                <a:latin typeface="Times New Roman" panose="02020603050405020304" charset="0"/>
                <a:cs typeface="Times New Roman" panose="02020603050405020304" charset="0"/>
                <a:sym typeface="+mn-ea"/>
              </a:rPr>
              <a:t>2. Physical Model</a:t>
            </a:r>
            <a:r>
              <a:rPr lang="en-IN" sz="1600" b="1">
                <a:latin typeface="Times New Roman" panose="02020603050405020304" charset="0"/>
                <a:cs typeface="Times New Roman" panose="02020603050405020304" charset="0"/>
                <a:sym typeface="+mn-ea"/>
              </a:rPr>
              <a:t> :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sym typeface="+mn-ea"/>
              </a:rPr>
              <a:t>MOSFET equations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Linear region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 </a:t>
            </a:r>
            <a:r>
              <a:rPr lang="en-IN" sz="1600" baseline="300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endParaRPr sz="1600">
              <a:latin typeface="Times New Roman" panose="02020603050405020304" charset="0"/>
              <a:cs typeface="Times New Roman" panose="02020603050405020304" charset="0"/>
              <a:sym typeface="+mn-ea"/>
            </a:endParaRPr>
          </a:p>
          <a:p>
            <a:pPr lvl="1">
              <a:buFont typeface="Arial" panose="020B0604020202020204"/>
              <a:buChar char="◦"/>
            </a:pP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Saturation region</a:t>
            </a:r>
            <a:r>
              <a:rPr lang="en-IN" sz="1600">
                <a:latin typeface="Times New Roman" panose="02020603050405020304" charset="0"/>
                <a:cs typeface="Times New Roman" panose="02020603050405020304" charset="0"/>
                <a:sym typeface="+mn-ea"/>
              </a:rPr>
              <a:t> :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=1</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a:t>
            </a:r>
            <a:r>
              <a:rPr sz="1600" baseline="30000">
                <a:latin typeface="Times New Roman" panose="02020603050405020304" charset="0"/>
                <a:cs typeface="Times New Roman" panose="02020603050405020304" charset="0"/>
                <a:sym typeface="+mn-ea"/>
              </a:rPr>
              <a:t>2</a:t>
            </a:r>
            <a:endParaRPr sz="1600" baseline="300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Physical parameters to consider:</a:t>
            </a: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Threshold voltage V</a:t>
            </a:r>
            <a:r>
              <a:rPr sz="1600" baseline="-25000">
                <a:latin typeface="Times New Roman" panose="02020603050405020304" charset="0"/>
                <a:cs typeface="Times New Roman" panose="02020603050405020304" charset="0"/>
                <a:sym typeface="+mn-ea"/>
              </a:rPr>
              <a:t>th</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Oxide thickness t</a:t>
            </a:r>
            <a:r>
              <a:rPr sz="1600" baseline="-25000">
                <a:latin typeface="Times New Roman" panose="02020603050405020304" charset="0"/>
                <a:cs typeface="Times New Roman" panose="02020603050405020304" charset="0"/>
                <a:sym typeface="+mn-ea"/>
              </a:rPr>
              <a:t>ox</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Mobility μ</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Scaling of W/L</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3321050" y="121348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Technology Selection</a:t>
            </a:r>
            <a:endParaRPr lang="en-GB" altLang="en-US" sz="2000" b="1">
              <a:solidFill>
                <a:schemeClr val="tx1"/>
              </a:solidFill>
              <a:latin typeface="Times New Roman" panose="02020603050405020304" charset="0"/>
              <a:cs typeface="Times New Roman" panose="02020603050405020304" charset="0"/>
            </a:endParaRPr>
          </a:p>
        </p:txBody>
      </p:sp>
      <p:sp>
        <p:nvSpPr>
          <p:cNvPr id="9" name="Rectangles 8"/>
          <p:cNvSpPr/>
          <p:nvPr/>
        </p:nvSpPr>
        <p:spPr>
          <a:xfrm>
            <a:off x="3321050" y="19507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Schematic Design</a:t>
            </a:r>
            <a:endParaRPr lang="en-GB" altLang="en-US" sz="2000" b="1">
              <a:solidFill>
                <a:schemeClr val="tx1"/>
              </a:solidFill>
              <a:latin typeface="Times New Roman" panose="02020603050405020304" charset="0"/>
              <a:cs typeface="Times New Roman" panose="02020603050405020304" charset="0"/>
            </a:endParaRPr>
          </a:p>
        </p:txBody>
      </p:sp>
      <p:sp>
        <p:nvSpPr>
          <p:cNvPr id="10" name="Rectangles 9"/>
          <p:cNvSpPr/>
          <p:nvPr/>
        </p:nvSpPr>
        <p:spPr>
          <a:xfrm>
            <a:off x="3321050" y="51130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Result &amp; Analysis</a:t>
            </a:r>
            <a:endParaRPr lang="en-GB" altLang="en-US" sz="2000" b="1">
              <a:solidFill>
                <a:schemeClr val="tx1"/>
              </a:solidFill>
              <a:latin typeface="Times New Roman" panose="02020603050405020304" charset="0"/>
              <a:cs typeface="Times New Roman" panose="02020603050405020304" charset="0"/>
            </a:endParaRPr>
          </a:p>
        </p:txBody>
      </p:sp>
      <p:sp>
        <p:nvSpPr>
          <p:cNvPr id="11" name="Rectangles 10"/>
          <p:cNvSpPr/>
          <p:nvPr/>
        </p:nvSpPr>
        <p:spPr>
          <a:xfrm>
            <a:off x="3321050" y="268795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Simulation</a:t>
            </a:r>
            <a:endParaRPr lang="en-GB" altLang="en-US" sz="2000" b="1">
              <a:solidFill>
                <a:schemeClr val="tx1"/>
              </a:solidFill>
              <a:latin typeface="Times New Roman" panose="02020603050405020304" charset="0"/>
              <a:cs typeface="Times New Roman" panose="02020603050405020304" charset="0"/>
            </a:endParaRPr>
          </a:p>
        </p:txBody>
      </p:sp>
      <p:sp>
        <p:nvSpPr>
          <p:cNvPr id="12" name="Rectangles 11"/>
          <p:cNvSpPr/>
          <p:nvPr/>
        </p:nvSpPr>
        <p:spPr>
          <a:xfrm>
            <a:off x="3321050" y="430466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Testing &amp; Verification</a:t>
            </a:r>
            <a:endParaRPr lang="en-GB" altLang="en-US" sz="2000" b="1">
              <a:solidFill>
                <a:schemeClr val="tx1"/>
              </a:solidFill>
              <a:latin typeface="Times New Roman" panose="02020603050405020304" charset="0"/>
              <a:cs typeface="Times New Roman" panose="02020603050405020304" charset="0"/>
            </a:endParaRPr>
          </a:p>
        </p:txBody>
      </p:sp>
      <p:sp>
        <p:nvSpPr>
          <p:cNvPr id="13" name="Rectangles 12"/>
          <p:cNvSpPr/>
          <p:nvPr/>
        </p:nvSpPr>
        <p:spPr>
          <a:xfrm>
            <a:off x="3321050" y="349631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Layout Designing</a:t>
            </a:r>
            <a:endParaRPr lang="en-GB" altLang="en-US" sz="2000" b="1">
              <a:solidFill>
                <a:schemeClr val="tx1"/>
              </a:solidFill>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Functional Block Diagram</a:t>
            </a:r>
            <a:endParaRPr lang="en-GB" altLang="en-US" sz="2800" b="1">
              <a:latin typeface="Times New Roman" panose="02020603050405020304" charset="0"/>
              <a:cs typeface="Times New Roman" panose="02020603050405020304" charset="0"/>
            </a:endParaRPr>
          </a:p>
        </p:txBody>
      </p:sp>
      <p:cxnSp>
        <p:nvCxnSpPr>
          <p:cNvPr id="16" name="Straight Arrow Connector 15"/>
          <p:cNvCxnSpPr/>
          <p:nvPr/>
        </p:nvCxnSpPr>
        <p:spPr>
          <a:xfrm>
            <a:off x="5116830" y="178498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5116830" y="487299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Straight Arrow Connector 17"/>
          <p:cNvCxnSpPr/>
          <p:nvPr/>
        </p:nvCxnSpPr>
        <p:spPr>
          <a:xfrm>
            <a:off x="5116830" y="249872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5116830" y="325628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5116830" y="406463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Circuit  Diagram</a:t>
            </a:r>
            <a:endParaRPr lang="en-GB" altLang="en-US" sz="2800" b="1">
              <a:latin typeface="Times New Roman" panose="02020603050405020304" charset="0"/>
              <a:cs typeface="Times New Roman" panose="02020603050405020304" charset="0"/>
            </a:endParaRPr>
          </a:p>
        </p:txBody>
      </p:sp>
      <p:pic>
        <p:nvPicPr>
          <p:cNvPr id="3" name="Picture 2" descr="Screenshot 2025-11-09 123743"/>
          <p:cNvPicPr>
            <a:picLocks noChangeAspect="1"/>
          </p:cNvPicPr>
          <p:nvPr/>
        </p:nvPicPr>
        <p:blipFill>
          <a:blip r:embed="rId2"/>
          <a:stretch>
            <a:fillRect/>
          </a:stretch>
        </p:blipFill>
        <p:spPr>
          <a:xfrm>
            <a:off x="361315" y="1383665"/>
            <a:ext cx="5191760" cy="4390390"/>
          </a:xfrm>
          <a:prstGeom prst="rect">
            <a:avLst/>
          </a:prstGeom>
        </p:spPr>
      </p:pic>
      <p:pic>
        <p:nvPicPr>
          <p:cNvPr id="2" name="Picture 1"/>
          <p:cNvPicPr/>
          <p:nvPr/>
        </p:nvPicPr>
        <p:blipFill>
          <a:blip r:embed="rId3"/>
          <a:srcRect l="33206" t="30131" r="29613" b="10800"/>
          <a:stretch>
            <a:fillRect/>
          </a:stretch>
        </p:blipFill>
        <p:spPr>
          <a:xfrm>
            <a:off x="6240145" y="939165"/>
            <a:ext cx="5265420" cy="5227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7" name="Text Box 6"/>
          <p:cNvSpPr txBox="1"/>
          <p:nvPr/>
        </p:nvSpPr>
        <p:spPr>
          <a:xfrm>
            <a:off x="474345" y="191135"/>
            <a:ext cx="7115810" cy="460375"/>
          </a:xfrm>
          <a:prstGeom prst="rect">
            <a:avLst/>
          </a:prstGeom>
          <a:noFill/>
        </p:spPr>
        <p:txBody>
          <a:bodyPr wrap="square" rtlCol="0">
            <a:spAutoFit/>
          </a:bodyPr>
          <a:p>
            <a:r>
              <a:rPr lang="en-US" altLang="en-GB" sz="2400" b="1">
                <a:latin typeface="Times New Roman" panose="02020603050405020304" charset="0"/>
                <a:cs typeface="Times New Roman" panose="02020603050405020304" charset="0"/>
              </a:rPr>
              <a:t>Transient Analysis at 180,90 &amp;45 nM technology</a:t>
            </a:r>
            <a:endParaRPr lang="en-US" altLang="en-GB" sz="2400" b="1">
              <a:latin typeface="Times New Roman" panose="02020603050405020304" charset="0"/>
              <a:cs typeface="Times New Roman" panose="02020603050405020304" charset="0"/>
            </a:endParaRPr>
          </a:p>
        </p:txBody>
      </p:sp>
      <p:pic>
        <p:nvPicPr>
          <p:cNvPr id="2" name="Picture 1"/>
          <p:cNvPicPr/>
          <p:nvPr/>
        </p:nvPicPr>
        <p:blipFill>
          <a:blip r:embed="rId2"/>
          <a:stretch>
            <a:fillRect/>
          </a:stretch>
        </p:blipFill>
        <p:spPr>
          <a:xfrm>
            <a:off x="474345" y="808355"/>
            <a:ext cx="5179060" cy="2920365"/>
          </a:xfrm>
          <a:prstGeom prst="rect">
            <a:avLst/>
          </a:prstGeom>
        </p:spPr>
      </p:pic>
      <p:pic>
        <p:nvPicPr>
          <p:cNvPr id="3" name="Picture 2"/>
          <p:cNvPicPr/>
          <p:nvPr/>
        </p:nvPicPr>
        <p:blipFill>
          <a:blip r:embed="rId3"/>
          <a:srcRect l="12657" r="24770"/>
          <a:stretch>
            <a:fillRect/>
          </a:stretch>
        </p:blipFill>
        <p:spPr>
          <a:xfrm>
            <a:off x="5814695" y="808355"/>
            <a:ext cx="5691505" cy="2920365"/>
          </a:xfrm>
          <a:prstGeom prst="rect">
            <a:avLst/>
          </a:prstGeom>
        </p:spPr>
      </p:pic>
      <p:pic>
        <p:nvPicPr>
          <p:cNvPr id="5" name="Picture 4"/>
          <p:cNvPicPr/>
          <p:nvPr/>
        </p:nvPicPr>
        <p:blipFill>
          <a:blip r:embed="rId4"/>
          <a:stretch>
            <a:fillRect/>
          </a:stretch>
        </p:blipFill>
        <p:spPr>
          <a:xfrm>
            <a:off x="3019425" y="3828415"/>
            <a:ext cx="6007735" cy="2884170"/>
          </a:xfrm>
          <a:prstGeom prst="rect">
            <a:avLst/>
          </a:prstGeom>
        </p:spPr>
      </p:pic>
      <p:sp>
        <p:nvSpPr>
          <p:cNvPr id="6" name="Text Box 5"/>
          <p:cNvSpPr txBox="1"/>
          <p:nvPr/>
        </p:nvSpPr>
        <p:spPr>
          <a:xfrm>
            <a:off x="474345" y="382841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68655" y="623125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45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a:t>
            </a:r>
            <a:endParaRPr lang="en-US" altLang="en-GB" b="1">
              <a:latin typeface="Times New Roman" panose="02020603050405020304" charset="0"/>
              <a:cs typeface="Times New Roman" panose="02020603050405020304" charset="0"/>
            </a:endParaRPr>
          </a:p>
        </p:txBody>
      </p:sp>
      <p:sp>
        <p:nvSpPr>
          <p:cNvPr id="9" name="Text Box 8"/>
          <p:cNvSpPr txBox="1"/>
          <p:nvPr/>
        </p:nvSpPr>
        <p:spPr>
          <a:xfrm>
            <a:off x="7166610" y="3885565"/>
            <a:ext cx="4064000" cy="368300"/>
          </a:xfrm>
          <a:prstGeom prst="rect">
            <a:avLst/>
          </a:prstGeom>
          <a:noFill/>
        </p:spPr>
        <p:txBody>
          <a:bodyPr wrap="square" rtlCol="0">
            <a:spAutoFit/>
          </a:bodyPr>
          <a:p>
            <a:pPr algn="r"/>
            <a:r>
              <a:rPr lang="en-US" altLang="en-GB" b="1">
                <a:latin typeface="Times New Roman" panose="02020603050405020304" charset="0"/>
                <a:cs typeface="Times New Roman" panose="02020603050405020304" charset="0"/>
              </a:rPr>
              <a:t>90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849630" y="191135"/>
            <a:ext cx="6048375" cy="521970"/>
          </a:xfrm>
          <a:prstGeom prst="rect">
            <a:avLst/>
          </a:prstGeom>
          <a:noFill/>
        </p:spPr>
        <p:txBody>
          <a:bodyPr wrap="square" rtlCol="0">
            <a:spAutoFit/>
          </a:bodyPr>
          <a:p>
            <a:r>
              <a:rPr lang="en-US" sz="2800" b="1">
                <a:latin typeface="Times New Roman" panose="02020603050405020304" charset="0"/>
                <a:cs typeface="Times New Roman" panose="02020603050405020304" charset="0"/>
              </a:rPr>
              <a:t>Layout Design of 180nM and 90nM :</a:t>
            </a:r>
            <a:endParaRPr lang="en-US" sz="28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3" name="Picture 2"/>
          <p:cNvPicPr/>
          <p:nvPr/>
        </p:nvPicPr>
        <p:blipFill>
          <a:blip r:embed="rId2"/>
          <a:srcRect l="35434" t="31701" r="27685" b="20620"/>
          <a:stretch>
            <a:fillRect/>
          </a:stretch>
        </p:blipFill>
        <p:spPr>
          <a:xfrm rot="5400000">
            <a:off x="5843905" y="1512570"/>
            <a:ext cx="5190490" cy="4138295"/>
          </a:xfrm>
          <a:prstGeom prst="rect">
            <a:avLst/>
          </a:prstGeom>
        </p:spPr>
      </p:pic>
      <p:pic>
        <p:nvPicPr>
          <p:cNvPr id="4" name="Picture 3"/>
          <p:cNvPicPr/>
          <p:nvPr/>
        </p:nvPicPr>
        <p:blipFill>
          <a:blip r:embed="rId3"/>
          <a:srcRect l="22707" t="17662" r="21244" b="14641"/>
          <a:stretch>
            <a:fillRect/>
          </a:stretch>
        </p:blipFill>
        <p:spPr>
          <a:xfrm rot="5400000">
            <a:off x="360680" y="1475740"/>
            <a:ext cx="5189855" cy="4211955"/>
          </a:xfrm>
          <a:prstGeom prst="rect">
            <a:avLst/>
          </a:prstGeom>
        </p:spPr>
      </p:pic>
      <p:sp>
        <p:nvSpPr>
          <p:cNvPr id="6" name="Text Box 5"/>
          <p:cNvSpPr txBox="1"/>
          <p:nvPr/>
        </p:nvSpPr>
        <p:spPr>
          <a:xfrm>
            <a:off x="84963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37032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90 nM technology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20700" y="191135"/>
            <a:ext cx="662051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Parasitic Extraction of 180nM and 90nM :</a:t>
            </a:r>
            <a:endParaRPr lang="en-US" sz="26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2" name="Picture 1"/>
          <p:cNvPicPr/>
          <p:nvPr/>
        </p:nvPicPr>
        <p:blipFill>
          <a:blip r:embed="rId2"/>
          <a:srcRect l="22971" t="18273" r="33054" b="27880"/>
          <a:stretch>
            <a:fillRect/>
          </a:stretch>
        </p:blipFill>
        <p:spPr>
          <a:xfrm>
            <a:off x="626745" y="834390"/>
            <a:ext cx="5672455" cy="3416935"/>
          </a:xfrm>
          <a:prstGeom prst="rect">
            <a:avLst/>
          </a:prstGeom>
        </p:spPr>
      </p:pic>
      <p:pic>
        <p:nvPicPr>
          <p:cNvPr id="3" name="Picture 2"/>
          <p:cNvPicPr/>
          <p:nvPr/>
        </p:nvPicPr>
        <p:blipFill>
          <a:blip r:embed="rId3"/>
          <a:srcRect l="33294" t="21484" r="28848" b="12977"/>
          <a:stretch>
            <a:fillRect/>
          </a:stretch>
        </p:blipFill>
        <p:spPr>
          <a:xfrm>
            <a:off x="6917690" y="847725"/>
            <a:ext cx="3077210" cy="3416300"/>
          </a:xfrm>
          <a:prstGeom prst="rect">
            <a:avLst/>
          </a:prstGeom>
        </p:spPr>
      </p:pic>
      <p:pic>
        <p:nvPicPr>
          <p:cNvPr id="4" name="Picture 3"/>
          <p:cNvPicPr/>
          <p:nvPr/>
        </p:nvPicPr>
        <p:blipFill>
          <a:blip r:embed="rId4"/>
          <a:srcRect l="15339" t="16849" r="130" b="3125"/>
          <a:stretch>
            <a:fillRect/>
          </a:stretch>
        </p:blipFill>
        <p:spPr>
          <a:xfrm>
            <a:off x="626745" y="4403090"/>
            <a:ext cx="2935605" cy="2331085"/>
          </a:xfrm>
          <a:prstGeom prst="rect">
            <a:avLst/>
          </a:prstGeom>
        </p:spPr>
      </p:pic>
      <p:pic>
        <p:nvPicPr>
          <p:cNvPr id="5" name="Picture 4"/>
          <p:cNvPicPr/>
          <p:nvPr/>
        </p:nvPicPr>
        <p:blipFill>
          <a:blip r:embed="rId5"/>
          <a:srcRect l="15449" t="16120" r="1107" b="3125"/>
          <a:stretch>
            <a:fillRect/>
          </a:stretch>
        </p:blipFill>
        <p:spPr>
          <a:xfrm>
            <a:off x="6917690" y="4455160"/>
            <a:ext cx="3076575" cy="2279015"/>
          </a:xfrm>
          <a:prstGeom prst="rect">
            <a:avLst/>
          </a:prstGeom>
        </p:spPr>
      </p:pic>
      <p:sp>
        <p:nvSpPr>
          <p:cNvPr id="6" name="Text Box 5"/>
          <p:cNvSpPr txBox="1"/>
          <p:nvPr/>
        </p:nvSpPr>
        <p:spPr>
          <a:xfrm>
            <a:off x="759460" y="4571365"/>
            <a:ext cx="4064000" cy="368300"/>
          </a:xfrm>
          <a:prstGeom prst="rect">
            <a:avLst/>
          </a:prstGeom>
          <a:noFill/>
        </p:spPr>
        <p:txBody>
          <a:bodyPr wrap="square" rtlCol="0">
            <a:spAutoFit/>
          </a:bodyPr>
          <a:p>
            <a:r>
              <a:rPr lang="en-US" altLang="en-GB">
                <a:solidFill>
                  <a:schemeClr val="bg1"/>
                </a:solidFill>
              </a:rPr>
              <a:t>Parasitic Capacitors</a:t>
            </a:r>
            <a:endParaRPr lang="en-US" altLang="en-GB">
              <a:solidFill>
                <a:schemeClr val="bg1"/>
              </a:solidFill>
            </a:endParaRPr>
          </a:p>
        </p:txBody>
      </p:sp>
      <p:sp>
        <p:nvSpPr>
          <p:cNvPr id="8" name="Text Box 7"/>
          <p:cNvSpPr txBox="1"/>
          <p:nvPr/>
        </p:nvSpPr>
        <p:spPr>
          <a:xfrm>
            <a:off x="7038975" y="4571365"/>
            <a:ext cx="4064000" cy="368300"/>
          </a:xfrm>
          <a:prstGeom prst="rect">
            <a:avLst/>
          </a:prstGeom>
          <a:noFill/>
        </p:spPr>
        <p:txBody>
          <a:bodyPr wrap="square" rtlCol="0">
            <a:spAutoFit/>
          </a:bodyPr>
          <a:p>
            <a:r>
              <a:rPr lang="en-US" altLang="en-GB">
                <a:solidFill>
                  <a:schemeClr val="bg1"/>
                </a:solidFill>
              </a:rPr>
              <a:t>Parasitic Resistors</a:t>
            </a:r>
            <a:endParaRPr lang="en-US" altLang="en-GB">
              <a:solidFill>
                <a:schemeClr val="bg1"/>
              </a:solidFill>
            </a:endParaRPr>
          </a:p>
        </p:txBody>
      </p:sp>
      <p:sp>
        <p:nvSpPr>
          <p:cNvPr id="9" name="Text Box 8"/>
          <p:cNvSpPr txBox="1"/>
          <p:nvPr/>
        </p:nvSpPr>
        <p:spPr>
          <a:xfrm>
            <a:off x="8611235" y="922020"/>
            <a:ext cx="4064000" cy="368300"/>
          </a:xfrm>
          <a:prstGeom prst="rect">
            <a:avLst/>
          </a:prstGeom>
          <a:noFill/>
        </p:spPr>
        <p:txBody>
          <a:bodyPr wrap="square" rtlCol="0">
            <a:spAutoFit/>
          </a:bodyPr>
          <a:p>
            <a:r>
              <a:rPr lang="en-US" altLang="en-GB">
                <a:solidFill>
                  <a:schemeClr val="bg1"/>
                </a:solidFill>
              </a:rPr>
              <a:t>AV Extracted </a:t>
            </a:r>
            <a:endParaRPr lang="en-US" altLang="en-GB">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838200" y="10160"/>
            <a:ext cx="11121390" cy="10020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2400" b="1">
                <a:latin typeface="Times New Roman" panose="02020603050405020304" charset="0"/>
                <a:cs typeface="Times New Roman" panose="02020603050405020304" charset="0"/>
              </a:rPr>
              <a:t>Write Delay and Power Comparison of 6T SRAM Across Technology Nodes :</a:t>
            </a:r>
            <a:endParaRPr lang="en-US" altLang="en-GB" sz="2400" b="1">
              <a:latin typeface="Times New Roman" panose="02020603050405020304" charset="0"/>
              <a:cs typeface="Times New Roman" panose="02020603050405020304" charset="0"/>
            </a:endParaRPr>
          </a:p>
        </p:txBody>
      </p:sp>
      <p:sp>
        <p:nvSpPr>
          <p:cNvPr id="6" name="Text Box 5"/>
          <p:cNvSpPr txBox="1"/>
          <p:nvPr/>
        </p:nvSpPr>
        <p:spPr>
          <a:xfrm>
            <a:off x="838200" y="935355"/>
            <a:ext cx="4064000" cy="368300"/>
          </a:xfrm>
          <a:prstGeom prst="rect">
            <a:avLst/>
          </a:prstGeom>
          <a:noFill/>
        </p:spPr>
        <p:txBody>
          <a:bodyPr wrap="square" rtlCol="0">
            <a:spAutoFit/>
          </a:bodyPr>
          <a:p>
            <a:pPr marL="342900" indent="-342900">
              <a:buFont typeface="Arial" panose="020B0604020202020204" pitchFamily="34" charset="0"/>
              <a:buAutoNum type="arabicPeriod"/>
            </a:pPr>
            <a:r>
              <a:rPr lang="en-US" altLang="en-GB" b="1" u="sng">
                <a:latin typeface="Times New Roman" panose="02020603050405020304" charset="0"/>
                <a:cs typeface="Times New Roman" panose="02020603050405020304" charset="0"/>
              </a:rPr>
              <a:t>180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bg1"/>
                          </a:solidFill>
                          <a:latin typeface="Times New Roman" panose="02020603050405020304" charset="0"/>
                          <a:cs typeface="Times New Roman" panose="02020603050405020304" charset="0"/>
                        </a:rPr>
                        <a:t>VDD</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Measurement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    Literature Paper Values </a:t>
                      </a:r>
                      <a:endParaRPr lang="en-IN" altLang="en-GB">
                        <a:solidFill>
                          <a:schemeClr val="bg1"/>
                        </a:solidFill>
                        <a:latin typeface="Times New Roman" panose="02020603050405020304" charset="0"/>
                        <a:cs typeface="Times New Roman" panose="02020603050405020304" charset="0"/>
                      </a:endParaRPr>
                    </a:p>
                    <a:p>
                      <a:pPr algn="ctr">
                        <a:buNone/>
                      </a:pPr>
                      <a:r>
                        <a:rPr lang="en-IN" altLang="en-GB">
                          <a:solidFill>
                            <a:schemeClr val="bg1"/>
                          </a:solidFill>
                          <a:latin typeface="Times New Roman" panose="02020603050405020304" charset="0"/>
                          <a:cs typeface="Times New Roman" panose="02020603050405020304" charset="0"/>
                        </a:rPr>
                        <a:t>         ( Ideal Values )</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solidFill>
                            <a:schemeClr val="bg1"/>
                          </a:solidFill>
                          <a:latin typeface="Times New Roman" panose="02020603050405020304" charset="0"/>
                          <a:cs typeface="Times New Roman" panose="02020603050405020304" charset="0"/>
                        </a:rPr>
                        <a:t>Practical Values</a:t>
                      </a:r>
                      <a:endParaRPr lang="en-IN" altLang="en-GB">
                        <a:solidFill>
                          <a:schemeClr val="bg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0.255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0.240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US" altLang="en-GB"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0.500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0.410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Rising to Falling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1→0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0.166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0.180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Falling to Rising</a:t>
                      </a:r>
                      <a:r>
                        <a:rPr lang="en-IN" sz="1400">
                          <a:solidFill>
                            <a:schemeClr val="tx1"/>
                          </a:solidFill>
                          <a:latin typeface="Times New Roman" panose="02020603050405020304" charset="0"/>
                          <a:cs typeface="Times New Roman" panose="02020603050405020304" charset="0"/>
                        </a:rPr>
                        <a:t> </a:t>
                      </a:r>
                      <a:r>
                        <a:rPr sz="1400">
                          <a:solidFill>
                            <a:schemeClr val="tx1"/>
                          </a:solidFill>
                          <a:latin typeface="Times New Roman" panose="02020603050405020304" charset="0"/>
                          <a:cs typeface="Times New Roman" panose="02020603050405020304" charset="0"/>
                        </a:rPr>
                        <a:t>Delay</a:t>
                      </a:r>
                      <a:endParaRPr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0→1 </a:t>
                      </a:r>
                      <a:endParaRPr lang="en-GB" altLang="en-US"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0.358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0.340 ns</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1.2V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0.599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solidFill>
                            <a:schemeClr val="tx1"/>
                          </a:solidFill>
                          <a:latin typeface="Times New Roman" panose="02020603050405020304" charset="0"/>
                          <a:cs typeface="Times New Roman" panose="02020603050405020304" charset="0"/>
                        </a:rPr>
                        <a:t>1.</a:t>
                      </a:r>
                      <a:r>
                        <a:rPr lang="en-IN" sz="1400">
                          <a:solidFill>
                            <a:schemeClr val="tx1"/>
                          </a:solidFill>
                          <a:latin typeface="Times New Roman" panose="02020603050405020304" charset="0"/>
                          <a:cs typeface="Times New Roman" panose="02020603050405020304" charset="0"/>
                        </a:rPr>
                        <a:t>2</a:t>
                      </a:r>
                      <a:r>
                        <a:rPr sz="1400">
                          <a:solidFill>
                            <a:schemeClr val="tx1"/>
                          </a:solidFill>
                          <a:latin typeface="Times New Roman" panose="02020603050405020304" charset="0"/>
                          <a:cs typeface="Times New Roman" panose="02020603050405020304" charset="0"/>
                        </a:rPr>
                        <a:t>V</a:t>
                      </a:r>
                      <a:endParaRPr sz="1400">
                        <a:solidFill>
                          <a:schemeClr val="tx1"/>
                        </a:solidFill>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solidFill>
                            <a:schemeClr val="tx1"/>
                          </a:solidFill>
                          <a:latin typeface="Times New Roman" panose="02020603050405020304" charset="0"/>
                          <a:cs typeface="Times New Roman" panose="02020603050405020304" charset="0"/>
                        </a:rPr>
                        <a:t>Avg Power at</a:t>
                      </a:r>
                      <a:r>
                        <a:rPr lang="en-IN" sz="1400">
                          <a:solidFill>
                            <a:schemeClr val="tx1"/>
                          </a:solidFill>
                          <a:latin typeface="Times New Roman" panose="02020603050405020304" charset="0"/>
                          <a:cs typeface="Times New Roman" panose="02020603050405020304" charset="0"/>
                        </a:rPr>
                        <a:t> Qbar</a:t>
                      </a:r>
                      <a:endParaRPr lang="en-IN" sz="1400">
                        <a:solidFill>
                          <a:schemeClr val="tx1"/>
                        </a:solidFill>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solidFill>
                            <a:schemeClr val="tx1"/>
                          </a:solidFill>
                          <a:latin typeface="Times New Roman" panose="02020603050405020304" charset="0"/>
                          <a:cs typeface="Times New Roman" panose="02020603050405020304" charset="0"/>
                        </a:rPr>
                        <a:t>0.598 mW</a:t>
                      </a:r>
                      <a:endParaRPr lang="en-IN" altLang="en-GB" sz="1400">
                        <a:solidFill>
                          <a:schemeClr val="tx1"/>
                        </a:solidFill>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799465" y="655320"/>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2.</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90 nM Technology Node :</a:t>
            </a:r>
            <a:endParaRPr lang="en-US" altLang="en-GB" b="1" u="sng">
              <a:latin typeface="Times New Roman" panose="02020603050405020304" charset="0"/>
              <a:cs typeface="Times New Roman" panose="02020603050405020304" charset="0"/>
            </a:endParaRPr>
          </a:p>
        </p:txBody>
      </p:sp>
      <p:graphicFrame>
        <p:nvGraphicFramePr>
          <p:cNvPr id="2" name="Table 1"/>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0.0912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0.098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0.1403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0.100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0.625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0.403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791210" y="655320"/>
            <a:ext cx="411099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3.</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 45</a:t>
            </a:r>
            <a:r>
              <a:rPr lang="en-US" altLang="en-GB" b="1" u="sng">
                <a:latin typeface="Times New Roman" panose="02020603050405020304" charset="0"/>
                <a:cs typeface="Times New Roman" panose="02020603050405020304" charset="0"/>
              </a:rPr>
              <a:t>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latin typeface="Times New Roman" panose="02020603050405020304" charset="0"/>
                          <a:cs typeface="Times New Roman" panose="02020603050405020304" charset="0"/>
                        </a:rPr>
                        <a:t>VDD</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Measurement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    Literature Paper Values </a:t>
                      </a:r>
                      <a:endParaRPr lang="en-IN" altLang="en-GB">
                        <a:latin typeface="Times New Roman" panose="02020603050405020304" charset="0"/>
                        <a:cs typeface="Times New Roman" panose="02020603050405020304" charset="0"/>
                      </a:endParaRPr>
                    </a:p>
                    <a:p>
                      <a:pPr algn="ctr">
                        <a:buNone/>
                      </a:pPr>
                      <a:r>
                        <a:rPr lang="en-IN" altLang="en-GB">
                          <a:latin typeface="Times New Roman" panose="02020603050405020304" charset="0"/>
                          <a:cs typeface="Times New Roman" panose="02020603050405020304" charset="0"/>
                        </a:rPr>
                        <a:t>         ( Ideal Values )</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a:latin typeface="Times New Roman" panose="02020603050405020304" charset="0"/>
                          <a:cs typeface="Times New Roman" panose="02020603050405020304" charset="0"/>
                        </a:rPr>
                        <a:t>Practical Values</a:t>
                      </a:r>
                      <a:endParaRPr lang="en-IN" altLang="en-GB">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0.062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0.019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1.0V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Falling to Rising</a:t>
                      </a:r>
                      <a:r>
                        <a:rPr lang="en-IN" altLang="en-US"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lang="en-US" altLang="en-GB" sz="1400">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latin typeface="Times New Roman" panose="02020603050405020304" charset="0"/>
                          <a:cs typeface="Times New Roman" panose="02020603050405020304" charset="0"/>
                        </a:rPr>
                        <a:t>0</a:t>
                      </a:r>
                      <a:r>
                        <a:rPr lang="en-US" altLang="en-US" sz="1400">
                          <a:latin typeface="Times New Roman" panose="02020603050405020304" charset="0"/>
                          <a:cs typeface="Times New Roman" panose="02020603050405020304" charset="0"/>
                        </a:rPr>
                        <a:t>→</a:t>
                      </a:r>
                      <a:r>
                        <a:rPr lang="en-US" altLang="en-GB" sz="1400">
                          <a:latin typeface="Times New Roman" panose="02020603050405020304" charset="0"/>
                          <a:cs typeface="Times New Roman" panose="02020603050405020304" charset="0"/>
                        </a:rPr>
                        <a:t>1 </a:t>
                      </a:r>
                      <a:endParaRPr lang="en-US" altLang="en-GB"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0.082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78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Rising to Falling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1→0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0.0378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0.011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9215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Falling to Rising</a:t>
                      </a:r>
                      <a:r>
                        <a:rPr lang="en-IN" sz="1400">
                          <a:latin typeface="Times New Roman" panose="02020603050405020304" charset="0"/>
                          <a:cs typeface="Times New Roman" panose="02020603050405020304" charset="0"/>
                        </a:rPr>
                        <a:t> </a:t>
                      </a:r>
                      <a:r>
                        <a:rPr sz="1400">
                          <a:latin typeface="Times New Roman" panose="02020603050405020304" charset="0"/>
                          <a:cs typeface="Times New Roman" panose="02020603050405020304" charset="0"/>
                        </a:rPr>
                        <a:t>Delay</a:t>
                      </a:r>
                      <a:endParaRPr sz="1400">
                        <a:latin typeface="Times New Roman" panose="02020603050405020304" charset="0"/>
                        <a:cs typeface="Times New Roman" panose="02020603050405020304" charset="0"/>
                      </a:endParaRPr>
                    </a:p>
                    <a:p>
                      <a:pPr algn="ctr">
                        <a:lnSpc>
                          <a:spcPct val="114000"/>
                        </a:lnSpc>
                        <a:spcBef>
                          <a:spcPct val="0"/>
                        </a:spcBef>
                        <a:spcAft>
                          <a:spcPts val="1000"/>
                        </a:spcAft>
                      </a:pPr>
                      <a:r>
                        <a:rPr sz="1400">
                          <a:latin typeface="Times New Roman" panose="02020603050405020304" charset="0"/>
                          <a:cs typeface="Times New Roman" panose="02020603050405020304" charset="0"/>
                        </a:rPr>
                        <a:t>0→1 </a:t>
                      </a:r>
                      <a:endParaRPr lang="en-GB" altLang="en-US"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0.0477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0.020 ns</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925">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1.2V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0.586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15290">
                <a:tc>
                  <a:txBody>
                    <a:bodyPr/>
                    <a:p>
                      <a:pPr algn="ctr">
                        <a:lnSpc>
                          <a:spcPct val="114000"/>
                        </a:lnSpc>
                        <a:spcBef>
                          <a:spcPct val="0"/>
                        </a:spcBef>
                        <a:spcAft>
                          <a:spcPts val="1000"/>
                        </a:spcAft>
                      </a:pPr>
                      <a:r>
                        <a:rPr sz="1400">
                          <a:latin typeface="Times New Roman" panose="02020603050405020304" charset="0"/>
                          <a:cs typeface="Times New Roman" panose="02020603050405020304" charset="0"/>
                        </a:rPr>
                        <a:t>1.</a:t>
                      </a:r>
                      <a:r>
                        <a:rPr lang="en-IN" sz="1400">
                          <a:latin typeface="Times New Roman" panose="02020603050405020304" charset="0"/>
                          <a:cs typeface="Times New Roman" panose="02020603050405020304" charset="0"/>
                        </a:rPr>
                        <a:t>2</a:t>
                      </a:r>
                      <a:r>
                        <a:rPr sz="1400">
                          <a:latin typeface="Times New Roman" panose="02020603050405020304" charset="0"/>
                          <a:cs typeface="Times New Roman" panose="02020603050405020304" charset="0"/>
                        </a:rPr>
                        <a:t>V</a:t>
                      </a:r>
                      <a:endParaRPr sz="1400">
                        <a:latin typeface="Times New Roman" panose="02020603050405020304" charset="0"/>
                        <a:cs typeface="Times New Roman" panose="02020603050405020304" charset="0"/>
                      </a:endParaRPr>
                    </a:p>
                  </a:txBody>
                  <a:tcPr marL="68580" marR="68580" marT="0" marB="0" anchor="t"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sz="1400">
                          <a:latin typeface="Times New Roman" panose="02020603050405020304" charset="0"/>
                          <a:cs typeface="Times New Roman" panose="02020603050405020304" charset="0"/>
                        </a:rPr>
                        <a:t>Avg Power at</a:t>
                      </a:r>
                      <a:r>
                        <a:rPr lang="en-IN" sz="1400">
                          <a:latin typeface="Times New Roman" panose="02020603050405020304" charset="0"/>
                          <a:cs typeface="Times New Roman" panose="02020603050405020304" charset="0"/>
                        </a:rPr>
                        <a:t> Qbar</a:t>
                      </a:r>
                      <a:endParaRPr lang="en-IN" sz="1400">
                        <a:latin typeface="Times New Roman" panose="02020603050405020304" charset="0"/>
                        <a:cs typeface="Times New Roman" panose="02020603050405020304" charset="0"/>
                      </a:endParaRPr>
                    </a:p>
                  </a:txBody>
                  <a:tcPr anchor="ctr" anchorCtr="0">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GB" sz="1400">
                          <a:latin typeface="Times New Roman" panose="02020603050405020304" charset="0"/>
                          <a:cs typeface="Times New Roman" panose="02020603050405020304" charset="0"/>
                        </a:rPr>
                        <a:t>0.610 mW</a:t>
                      </a:r>
                      <a:endParaRPr lang="en-IN" altLang="en-GB" sz="14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Limitations &amp; Sources of Error</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algn="just">
              <a:lnSpc>
                <a:spcPct val="90000"/>
              </a:lnSpc>
            </a:pPr>
            <a:r>
              <a:rPr lang="en-US" altLang="en-US" sz="2000">
                <a:latin typeface="Times New Roman" panose="02020603050405020304" charset="0"/>
                <a:cs typeface="Times New Roman" panose="02020603050405020304" charset="0"/>
              </a:rPr>
              <a:t>Limitations: Reduced noise margin and increased leakage at smaller technology nodes.</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Sources of error: Process variation, simulation tool limitations, and parasitic effects in layout.</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Limitation: Temperature dependence of stability in SRAM operation.</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Error source: Human errors in schematic or layout creation leading to incorrect results.</a:t>
            </a:r>
            <a:endParaRPr lang="en-US" altLang="en-US" sz="20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Conclusion</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The project successfully demonstrates that technology scaling plays a vital role in improving SRAM efficiency. The 45 nm technology offers better performance in terms of speed and power consumption, making it ideal for low-power and high-speed applications. The 90 nm node provides a balanced trade-off between stability and power, while 180 nm offers higher noise immunity with larger area and delay. Thus, optimized transistor sizing and design techniques are essential to ensure reliable and energy-efficient SRAM operation in advanced VLSI systems.</a:t>
            </a: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320*127"/>
  <p:tag name="TABLE_ENDDRAG_RECT" val="326*255*320*127"/>
</p:tagLst>
</file>

<file path=ppt/tags/tag6.xml><?xml version="1.0" encoding="utf-8"?>
<p:tagLst xmlns:p="http://schemas.openxmlformats.org/presentationml/2006/main">
  <p:tag name="TABLE_ENDDRAG_ORIGIN_RECT" val="889*428"/>
  <p:tag name="TABLE_ENDDRAG_RECT" val="33*49*889*428"/>
</p:tagLst>
</file>

<file path=ppt/tags/tag7.xml><?xml version="1.0" encoding="utf-8"?>
<p:tagLst xmlns:p="http://schemas.openxmlformats.org/presentationml/2006/main">
  <p:tag name="TABLE_ENDDRAG_ORIGIN_RECT" val="945*477"/>
  <p:tag name="TABLE_ENDDRAG_RECT" val="8*56*945*477"/>
</p:tagLst>
</file>

<file path=ppt/tags/tag8.xml><?xml version="1.0" encoding="utf-8"?>
<p:tagLst xmlns:p="http://schemas.openxmlformats.org/presentationml/2006/main">
  <p:tag name="TABLE_ENDDRAG_ORIGIN_RECT" val="922*462"/>
  <p:tag name="TABLE_ENDDRAG_RECT" val="12*62*922*462"/>
</p:tagLst>
</file>

<file path=ppt/tags/tag9.xml><?xml version="1.0" encoding="utf-8"?>
<p:tagLst xmlns:p="http://schemas.openxmlformats.org/presentationml/2006/main">
  <p:tag name="TABLE_ENDDRAG_ORIGIN_RECT" val="671*338"/>
  <p:tag name="TABLE_ENDDRAG_RECT" val="98*135*671*338"/>
</p:tagLst>
</file>

<file path=ppt/tags/tag10.xml><?xml version="1.0" encoding="utf-8"?>
<p:tagLst xmlns:p="http://schemas.openxmlformats.org/presentationml/2006/main">
  <p:tag name="TABLE_ENDDRAG_ORIGIN_RECT" val="671*338"/>
  <p:tag name="TABLE_ENDDRAG_RECT" val="98*135*671*338"/>
</p:tagLst>
</file>

<file path=ppt/tags/tag11.xml><?xml version="1.0" encoding="utf-8"?>
<p:tagLst xmlns:p="http://schemas.openxmlformats.org/presentationml/2006/main">
  <p:tag name="TABLE_ENDDRAG_ORIGIN_RECT" val="671*338"/>
  <p:tag name="TABLE_ENDDRAG_RECT" val="98*135*671*3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9221</Words>
  <Application>WPS Presentation</Application>
  <PresentationFormat>Widescreen</PresentationFormat>
  <Paragraphs>561</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Times New Roman</vt:lpstr>
      <vt:lpstr>Arial</vt:lpstr>
      <vt:lpstr>Calibri</vt:lpstr>
      <vt:lpstr>Microsoft YaHei</vt:lpstr>
      <vt:lpstr>Arial Unicode MS</vt:lpstr>
      <vt:lpstr>Calibri Light</vt:lpstr>
      <vt:lpstr>ＭＳ 明朝</vt:lpstr>
      <vt:lpstr>Segoe Print</vt:lpstr>
      <vt:lpstr>Office Theme</vt:lpstr>
      <vt:lpstr>PowerPoint 演示文稿</vt:lpstr>
      <vt:lpstr>Problem Statement</vt:lpstr>
      <vt:lpstr>Introduction</vt:lpstr>
      <vt:lpstr>Why Choose 6T SRAM?</vt:lpstr>
      <vt:lpstr>PowerPoint 演示文稿</vt:lpstr>
      <vt:lpstr>PowerPoint 演示文稿</vt:lpstr>
      <vt:lpstr>PowerPoint 演示文稿</vt:lpstr>
      <vt:lpstr>PowerPoint 演示文稿</vt:lpstr>
      <vt:lpstr>Methodology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Limitations &amp; Sources of Error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Aditya Max</cp:lastModifiedBy>
  <cp:revision>43</cp:revision>
  <dcterms:created xsi:type="dcterms:W3CDTF">2025-04-15T05:15:00Z</dcterms:created>
  <dcterms:modified xsi:type="dcterms:W3CDTF">2025-12-02T12:58:51Z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7DE8D8FB6CC2494895E26693D851842B_12</vt:lpwstr>
  </property>
  <property fmtid="{D5CDD505-2E9C-101B-9397-08002B2CF9AE}" pid="3" name="KSOProductBuildVer">
    <vt:lpwstr>2057-12.2.0.21183</vt:lpwstr>
  </property>
</Properties>
</file>